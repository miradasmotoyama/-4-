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01｜なぜ業界研究をするのか" id="{42b6487d-a5c1-a217-2c79-376b0ca0e5ef}">
          <p14:sldIdLst>
            <p14:sldId id="256"/>
            <p14:sldId id="257"/>
            <p14:sldId id="258"/>
            <p14:sldId id="259"/>
            <p14:sldId id="260"/>
            <p14:sldId id="261"/>
            <p14:sldId id="262"/>
            <p14:sldId id="263"/>
          </p14:sldIdLst>
        </p14:section>
        <p14:section name="CHAPTER 02｜なぜ業界全体から研究するのか" id="{ba702268-7ef5-d089-8b09-4f6ee1f08879}">
          <p14:sldIdLst>
            <p14:sldId id="264"/>
            <p14:sldId id="265"/>
            <p14:sldId id="266"/>
            <p14:sldId id="267"/>
          </p14:sldIdLst>
        </p14:section>
        <p14:section name="CHAPTER 03｜金属業界の全体像を理解する" id="{23f3c5c8-0640-7fe5-1f69-4adebc3b06ef}">
          <p14:sldIdLst>
            <p14:sldId id="268"/>
            <p14:sldId id="269"/>
            <p14:sldId id="270"/>
            <p14:sldId id="271"/>
            <p14:sldId id="272"/>
            <p14:sldId id="273"/>
            <p14:sldId id="274"/>
            <p14:sldId id="275"/>
            <p14:sldId id="276"/>
            <p14:sldId id="277"/>
          </p14:sldIdLst>
        </p14:section>
        <p14:section name="CHAPTER 04｜3つのニュースから未来を考える" id="{e38f699c-24d3-be13-122e-2ff21186652f}">
          <p14:sldIdLst>
            <p14:sldId id="278"/>
            <p14:sldId id="279"/>
            <p14:sldId id="280"/>
            <p14:sldId id="281"/>
            <p14:sldId id="282"/>
            <p14:sldId id="283"/>
            <p14:sldId id="284"/>
            <p14:sldId id="285"/>
            <p14:sldId id="286"/>
            <p14:sldId id="287"/>
          </p14:sldIdLst>
        </p14:section>
        <p14:section name="CHAPTER 05｜金属業界の魅力を発見する" id="{d8223bdc-57cc-75c3-e838-718945b97c69}">
          <p14:sldIdLst>
            <p14:sldId id="288"/>
            <p14:sldId id="289"/>
          </p14:sldIdLst>
        </p14:section>
        <p14:section name="CHAPTER 06｜メインGD：金属業界の魅力をどう伝える？" id="{a5d36557-403b-8cbd-74a7-675d4afdc0dd}">
          <p14:sldIdLst>
            <p14:sldId id="290"/>
            <p14:sldId id="291"/>
            <p14:sldId id="292"/>
            <p14:sldId id="293"/>
          </p14:sldIdLst>
        </p14:section>
        <p14:section name="CHAPTER 07｜業界研究の活かし方・まとめ" id="{3fb2e4de-a694-0a9e-4a11-d5abbaf47f10}">
          <p14:sldIdLst>
            <p14:sldId id="294"/>
            <p14:sldId id="295"/>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営業利益の伸び率</c:v>
                </c:pt>
              </c:strCache>
            </c:strRef>
          </c:tx>
          <c:spPr>
            <a:solidFill>
              <a:srgbClr val="067F82"/>
            </a:solidFill>
            <a:effectLst/>
          </c:spPr>
          <c:invertIfNegative val="0"/>
          <c:dLbls>
            <c:numFmt formatCode="+0&quot;%&quot;;-0&quot;%&quot;" sourceLinked="0"/>
            <c:txPr>
              <a:bodyPr/>
              <a:lstStyle/>
              <a:p>
                <a:pPr>
                  <a:defRPr b="1" i="0" strike="noStrike" sz="1800" u="none">
                    <a:solidFill>
                      <a:srgbClr val="12243A"/>
                    </a:solidFill>
                    <a:latin typeface="Noto Sans CJK JP"/>
                  </a:defRPr>
                </a:pPr>
              </a:p>
            </c:txPr>
            <c:showLegendKey val="0"/>
            <c:showVal val="1"/>
            <c:showCatName val="0"/>
            <c:showSerName val="0"/>
            <c:showPercent val="0"/>
            <c:showBubbleSize val="0"/>
            <c:showLeaderLines val="0"/>
          </c:dLbls>
          <c:dPt>
            <c:idx val="0"/>
            <c:invertIfNegative val="0"/>
            <c:bubble3D val="0"/>
            <c:spPr>
              <a:solidFill>
                <a:srgbClr val="067F82"/>
              </a:solidFill>
              <a:effectLst/>
            </c:spPr>
          </c:dPt>
          <c:dPt>
            <c:idx val="1"/>
            <c:invertIfNegative val="0"/>
            <c:bubble3D val="0"/>
            <c:spPr>
              <a:solidFill>
                <a:srgbClr val="5B6B7C"/>
              </a:solidFill>
              <a:effectLst/>
            </c:spPr>
          </c:dPt>
          <c:cat>
            <c:multiLvlStrRef>
              <c:f>Sheet1!$A$2:$A$3</c:f>
              <c:multiLvlStrCache>
                <c:ptCount val="2"/>
                <c:lvl>
                  <c:pt idx="0">
                    <c:v>企業A</c:v>
                  </c:pt>
                  <c:pt idx="1">
                    <c:v>業界全体</c:v>
                  </c:pt>
                </c:lvl>
              </c:multiLvlStrCache>
            </c:multiLvlStrRef>
          </c:cat>
          <c:val>
            <c:numRef>
              <c:f>Sheet1!$B$2:$B$3</c:f>
              <c:numCache>
                <c:formatCode>General</c:formatCode>
                <c:ptCount val="2"/>
                <c:pt idx="0">
                  <c:v>20</c:v>
                </c:pt>
                <c:pt idx="1">
                  <c:v>50</c:v>
                </c:pt>
              </c:numCache>
            </c:numRef>
          </c:val>
        </c:ser>
        <c:dLbls>
          <c:numFmt formatCode="+0&quot;%&quot;;-0&quot;%&quot;" sourceLinked="0"/>
          <c:txPr>
            <a:bodyPr/>
            <a:lstStyle/>
            <a:p>
              <a:pPr>
                <a:defRPr b="1" i="0" strike="noStrike" sz="1800" u="none">
                  <a:solidFill>
                    <a:srgbClr val="12243A"/>
                  </a:solidFill>
                  <a:latin typeface="Noto Sans CJK JP"/>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26384A"/>
                </a:solidFill>
                <a:latin typeface="Noto Sans CJK JP"/>
              </a:defRPr>
            </a:pPr>
            <a:endParaRPr lang="en-US"/>
          </a:p>
        </c:txPr>
        <c:crossAx val="2094734552"/>
        <c:crosses val="autoZero"/>
        <c:auto val="1"/>
        <c:lblAlgn val="ctr"/>
        <c:noMultiLvlLbl val="1"/>
      </c:catAx>
      <c:valAx>
        <c:axId val="2094734552"/>
        <c:scaling>
          <c:orientation val="minMax"/>
          <c:max val="70"/>
          <c:min val="-4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営業利益の伸び率</c:v>
                </c:pt>
              </c:strCache>
            </c:strRef>
          </c:tx>
          <c:spPr>
            <a:solidFill>
              <a:srgbClr val="067F82"/>
            </a:solidFill>
            <a:effectLst/>
          </c:spPr>
          <c:invertIfNegative val="0"/>
          <c:dLbls>
            <c:numFmt formatCode="+0&quot;%&quot;;-0&quot;%&quot;" sourceLinked="0"/>
            <c:txPr>
              <a:bodyPr/>
              <a:lstStyle/>
              <a:p>
                <a:pPr>
                  <a:defRPr b="1" i="0" strike="noStrike" sz="1800" u="none">
                    <a:solidFill>
                      <a:srgbClr val="12243A"/>
                    </a:solidFill>
                    <a:latin typeface="Noto Sans CJK JP"/>
                  </a:defRPr>
                </a:pPr>
              </a:p>
            </c:txPr>
            <c:showLegendKey val="0"/>
            <c:showVal val="1"/>
            <c:showCatName val="0"/>
            <c:showSerName val="0"/>
            <c:showPercent val="0"/>
            <c:showBubbleSize val="0"/>
            <c:showLeaderLines val="0"/>
          </c:dLbls>
          <c:dPt>
            <c:idx val="0"/>
            <c:invertIfNegative val="0"/>
            <c:bubble3D val="0"/>
            <c:spPr>
              <a:solidFill>
                <a:srgbClr val="067F82"/>
              </a:solidFill>
              <a:effectLst/>
            </c:spPr>
          </c:dPt>
          <c:dPt>
            <c:idx val="1"/>
            <c:invertIfNegative val="0"/>
            <c:bubble3D val="0"/>
            <c:spPr>
              <a:solidFill>
                <a:srgbClr val="5B6B7C"/>
              </a:solidFill>
              <a:effectLst/>
            </c:spPr>
          </c:dPt>
          <c:cat>
            <c:multiLvlStrRef>
              <c:f>Sheet1!$A$2:$A$3</c:f>
              <c:multiLvlStrCache>
                <c:ptCount val="2"/>
                <c:lvl>
                  <c:pt idx="0">
                    <c:v>企業A</c:v>
                  </c:pt>
                  <c:pt idx="1">
                    <c:v>業界全体</c:v>
                  </c:pt>
                </c:lvl>
              </c:multiLvlStrCache>
            </c:multiLvlStrRef>
          </c:cat>
          <c:val>
            <c:numRef>
              <c:f>Sheet1!$B$2:$B$3</c:f>
              <c:numCache>
                <c:formatCode>General</c:formatCode>
                <c:ptCount val="2"/>
                <c:pt idx="0">
                  <c:v>20</c:v>
                </c:pt>
                <c:pt idx="1">
                  <c:v>-20</c:v>
                </c:pt>
              </c:numCache>
            </c:numRef>
          </c:val>
        </c:ser>
        <c:dLbls>
          <c:numFmt formatCode="+0&quot;%&quot;;-0&quot;%&quot;" sourceLinked="0"/>
          <c:txPr>
            <a:bodyPr/>
            <a:lstStyle/>
            <a:p>
              <a:pPr>
                <a:defRPr b="1" i="0" strike="noStrike" sz="1800" u="none">
                  <a:solidFill>
                    <a:srgbClr val="12243A"/>
                  </a:solidFill>
                  <a:latin typeface="Noto Sans CJK JP"/>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26384A"/>
                </a:solidFill>
                <a:latin typeface="Noto Sans CJK JP"/>
              </a:defRPr>
            </a:pPr>
            <a:endParaRPr lang="en-US"/>
          </a:p>
        </c:txPr>
        <c:crossAx val="2094734552"/>
        <c:crosses val="autoZero"/>
        <c:auto val="1"/>
        <c:lblAlgn val="ctr"/>
        <c:noMultiLvlLbl val="1"/>
      </c:catAx>
      <c:valAx>
        <c:axId val="2094734552"/>
        <c:scaling>
          <c:orientation val="minMax"/>
          <c:max val="70"/>
          <c:min val="-4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2027年 鉄鋼需要（前年比・予測）</c:v>
                </c:pt>
              </c:strCache>
            </c:strRef>
          </c:tx>
          <c:spPr>
            <a:solidFill>
              <a:srgbClr val="C8483D"/>
            </a:solidFill>
            <a:effectLst/>
          </c:spPr>
          <c:invertIfNegative val="0"/>
          <c:dLbls>
            <c:numFmt formatCode="+0.0&quot;%&quot;;-0.0&quot;%&quot;" sourceLinked="0"/>
            <c:txPr>
              <a:bodyPr/>
              <a:lstStyle/>
              <a:p>
                <a:pPr>
                  <a:defRPr b="1" i="0" strike="noStrike" sz="2000" u="none">
                    <a:solidFill>
                      <a:srgbClr val="12243A"/>
                    </a:solidFill>
                    <a:latin typeface="Noto Sans CJK JP"/>
                  </a:defRPr>
                </a:pPr>
              </a:p>
            </c:txPr>
            <c:showLegendKey val="0"/>
            <c:showVal val="1"/>
            <c:showCatName val="0"/>
            <c:showSerName val="0"/>
            <c:showPercent val="0"/>
            <c:showBubbleSize val="0"/>
            <c:showLeaderLines val="0"/>
          </c:dLbls>
          <c:dPt>
            <c:idx val="0"/>
            <c:invertIfNegative val="0"/>
            <c:bubble3D val="0"/>
            <c:spPr>
              <a:solidFill>
                <a:srgbClr val="C8483D"/>
              </a:solidFill>
              <a:effectLst/>
            </c:spPr>
          </c:dPt>
          <c:dPt>
            <c:idx val="1"/>
            <c:invertIfNegative val="0"/>
            <c:bubble3D val="0"/>
            <c:spPr>
              <a:solidFill>
                <a:srgbClr val="5B6B7C"/>
              </a:solidFill>
              <a:effectLst/>
            </c:spPr>
          </c:dPt>
          <c:dPt>
            <c:idx val="2"/>
            <c:invertIfNegative val="0"/>
            <c:bubble3D val="0"/>
            <c:spPr>
              <a:solidFill>
                <a:srgbClr val="067F82"/>
              </a:solidFill>
              <a:effectLst/>
            </c:spPr>
          </c:dPt>
          <c:dPt>
            <c:idx val="3"/>
            <c:invertIfNegative val="0"/>
            <c:bubble3D val="0"/>
            <c:spPr>
              <a:solidFill>
                <a:srgbClr val="EEA348"/>
              </a:solidFill>
              <a:effectLst/>
            </c:spPr>
          </c:dPt>
          <c:cat>
            <c:multiLvlStrRef>
              <c:f>Sheet1!$A$2:$A$5</c:f>
              <c:multiLvlStrCache>
                <c:ptCount val="4"/>
                <c:lvl>
                  <c:pt idx="0">
                    <c:v>中国</c:v>
                  </c:pt>
                  <c:pt idx="1">
                    <c:v>世界</c:v>
                  </c:pt>
                  <c:pt idx="2">
                    <c:v>日本</c:v>
                  </c:pt>
                  <c:pt idx="3">
                    <c:v>インド</c:v>
                  </c:pt>
                </c:lvl>
              </c:multiLvlStrCache>
            </c:multiLvlStrRef>
          </c:cat>
          <c:val>
            <c:numRef>
              <c:f>Sheet1!$B$2:$B$5</c:f>
              <c:numCache>
                <c:formatCode>General</c:formatCode>
                <c:ptCount val="4"/>
                <c:pt idx="0">
                  <c:v>-1</c:v>
                </c:pt>
                <c:pt idx="1">
                  <c:v>1.7</c:v>
                </c:pt>
                <c:pt idx="2">
                  <c:v>1.7</c:v>
                </c:pt>
                <c:pt idx="3">
                  <c:v>8</c:v>
                </c:pt>
              </c:numCache>
            </c:numRef>
          </c:val>
        </c:ser>
        <c:dLbls>
          <c:numFmt formatCode="+0.0&quot;%&quot;;-0.0&quot;%&quot;" sourceLinked="0"/>
          <c:txPr>
            <a:bodyPr/>
            <a:lstStyle/>
            <a:p>
              <a:pPr>
                <a:defRPr b="1" i="0" strike="noStrike" sz="2000" u="none">
                  <a:solidFill>
                    <a:srgbClr val="12243A"/>
                  </a:solidFill>
                  <a:latin typeface="Noto Sans CJK JP"/>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2243A"/>
                </a:solidFill>
                <a:latin typeface="Noto Sans CJK JP"/>
              </a:defRPr>
            </a:pPr>
            <a:endParaRPr lang="en-US"/>
          </a:p>
        </c:txPr>
        <c:crossAx val="2094734552"/>
        <c:crosses val="autoZero"/>
        <c:auto val="1"/>
        <c:lblAlgn val="ctr"/>
        <c:noMultiLvlLbl val="1"/>
      </c:catAx>
      <c:valAx>
        <c:axId val="2094734552"/>
        <c:scaling>
          <c:orientation val="minMax"/>
          <c:max val="10.5"/>
          <c:min val="-3"/>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01｜あなたは、どれだけの業界を知っていますか？
【時間】1分　【役割】知らない業界の入り口を開くタイトル。
【講師原稿】
今日のテーマは金属業界です。ただし、金属メーカーの社名をたくさん暗記することが目的ではありません。世の中には、自分が知らないだけで面白い仕事や企業がたくさんあります。業界全体の仕組みを見て、企業同士の違いを知り、ニュースから未来を考える。最後には、金属業界を知らない人に、どうやってその面白さを伝えるかも考えます。金属業界に詳しくない人ほど、今日知ることが増えるはずです。専門知識の有無に関係なく参加してください。
【伝える結論】会社名の暗記ではなく、知らない業界を知って比較・判断する方法を学ぶ。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02｜あなたが今、興味のある業界は何ですか？
【時間】2分　【役割】参加者が自分の思い込みと接点を見つめる導入。
【講師原稿】
ここで簡単に考えてみてください。食品、商社、金融、IT、メーカー、医薬品、広告など、今興味のある業界はありますか。まず1〜3個、頭の中で挙げてみてください。選んだ理由は、商品をよく使うから、テレビで見たから、家族が働いているから、年収が高そうだから、といったことでも構いません。実は、この『思い浮かびやすさ』と『本当に自分に合っているか』は別の話です。今すぐ志望業界を決めるのではなく、自分がどのような情報に触れてきたかを意識してください。
【伝える結論】答えを評価せず、知らなかった分野がまだ残っていることに気づく。
【注意】発言は希望者1〜2人だけ。リストを書き込ませず短時間で。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03｜東証33業種で、世の中の企業を眺めてみる
【時間】2分　【役割】業界には想像以上に幅広い分類があることを見せる。
【講師原稿】
上場企業を整理する方法の一つに、東証33業種という分類があります。食料品、銀行業、情報・通信業、化学、機械など、たくさんの種類があります。金属に関係する会社でも、鉄鋼、非鉄金属、金属製品、そして商社が入る卸売業などに分かれます。ここで大切なのは、33種類を覚えることではありません。自分が会社名を思い浮かべられる業種はいくつあるだろう、という点です。名前だけ知っている業種と、どんな会社があるか説明できる業種を分けると、自分の知識の偏りが見えてきます。
【伝える結論】東証33業種は市場向け分類で、就活の業界分類や「金属産業全体」と完全には一致しない。
【出典】JPX/J-Quants 業種一覧 https://jpx-jquants.com/ja/spec/eq-master/sector33code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04｜知っている企業＝興味のある企業？
【時間】2分　【役割】日常で触れる頻度と、仕事の魅力は別物であると説明。
【講師原稿】
食品メーカーや化粧品メーカーの名前は、店頭や広告で毎日目にします。アプリやゲームを作る会社も、自分が使っているので名前を知っています。一方で、スマホの材料を作る会社、工場の設備を納める会社、鉄鋼や部品を取引する会社は、普段の生活では名前を見にくい。だから知らない会社が多くなります。でも、名前を聞いたことがない会社が、魅力のない会社だという意味ではありません。単に、会社を知るきっかけが少ないということです。
【伝える結論】BtoB企業は生活者に名前が見えにくいだけで、価値が小さいわけではない。
【注意】BtoBとBtoCの価値に優劣を付けない。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05｜「コンサルが気になる」の中身は何だろう？
【時間】2分　【役割】業界名ではなく惹かれる理由を分解する。
【講師原稿】
『コンサルに興味があります』という人がいたとします。その理由は、課題を解決したいからかもしれません。その場合、ITや広告、人材などでも課題解決ができます。企業経営に近い仕事がしたいからなら、商社や金融、事業会社の企画部門も候補になります。大切なのは、業界の名前そのものより、そこで何ができることに惹かれているのかを考えることです。興味がある業界を変えなさいという話ではありません。惹かれる理由を明確にすると、他の業界にも視野を広げられるという話です。
【伝える結論】興味の理由を言葉にすれば、同じ欲求を満たす別の仕事が見えてくる。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06｜同じ総合商社志望でも、惹かれる理由は違う
【時間】2分　【役割】1つの看板の背後にある複数の動機を示す。
【講師原稿】
総合商社が気になる理由として、『海外で仕事がしたい』『大きなビジネスを動かしたい』『事業投資に関わりたい』『多くの人を巻き込みたい』などが考えられます。もし海外で働くことが中心なら、海外比率の高いメーカーや物流企業も候補になります。大きな事業を作りたいなら、インフラや素材メーカーも面白いかもしれません。同じ『総合商社が好き』でも、興味の中身が違うと、比較するべき企業が変わります。だから、たくさんの業界を知ることは自分を知ることにもつながります。
【伝える結論】「〇〇業界志望」を理由まで分解すると、会社選びの幅が広がる。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07｜金属業界を就職先として検討した学生は？
【時間】2分　【役割】知らない分野に目を向ける導入として調査を示す。
【講師原稿】
2026年4月に実施されたマイナビの調査では、『鉄鋼・金属・鉱業』を就職先として検討したことがある学生は10.1％でした。約10人に1人という数字です。これは『好きだと答えた人』の割合ではなく、『就職先として検討した経験がある人』の割合ですから、混同しないでください。金属業界の知名度をこの数字だけで断定することもできません。ただ、就職候補に最初から入っていない学生が多いことを示す材料にはなります。この業界にも、まだ気づいていない魅力があるかもしれません。
【伝える結論】「興味がある学生10.1％」ではない。測定しているのは就職先として検討した経験。
【注意】【要確認】10.1％の数値は制作時に一次資料で確認できていません。投影前にマイナビの調査ページで数値・設問を確認してください（出典・未確認事項.md）。
【出典】マイナビ 2027年卒 大学生業界イメージ調査 https://career-research.mynavi.jp/reserch/20260519_111032/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08｜知らないから、まだ興味を持つ機会がなかった
【時間】2分　【役割】第1章の結論を印象づける。
【講師原稿】
今日みなさんに持ち帰ってほしい一つ目のメッセージは、知らないことと、興味がないことは違うということです。金属業界には、社会を支える素材、世界規模のビジネス、先端の技術開発、環境問題への挑戦など、いくつもの入り口があります。知れば必ず好きになる、ということではありません。しかし、知らないままでは選択肢にも入りません。ですから、今日は『自分に合うかどうか』の結論を急がず、一度中身を知ることから始めましょう。
【伝える結論】興味がないと判断する前に、業界の中身を一度知ろう。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09｜営業利益＋20％は、すごいこと？
【時間】3分　【役割】同じ企業の数字でも業界比較で印象が変わることを体験。
【講師原稿】
ある会社の営業利益が前年より20％増えたと聞いたら、どう思いますか。成長している、すごい、という印象があるかもしれません。では、その会社が属する業界全体は50％増益していたらどうでしょう。その会社の増益率は業界平均より低く、全体の追い風があった可能性も考えます。反対に、業界全体が20％減益の中で、その会社だけ20％増益していたら、特別な強みや戦略があるのかもしれません。つまり一つの数字の意味は、比較対象を置くことで変わります。ただし本当の分析では、前年の利益水準、一時的な特別利益、会社ごとの事業構成なども確認する必要があります。
【伝える結論】個社だけでなく業界の追い風・逆風と並べることで、数字の意味が見えてくる。
【注意】架空数値。利益水準や一時要因を省略していることを補足する。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10｜企業は単独では存在しない
【時間】2分　【役割】経営指標の外側に、影響する関係者がいると把握させる。
【講師原稿】
会社は単独で利益を生み出しているわけではありません。何かを仕入れ、製品やサービスを作り、顧客に販売しています。競合が値下げすれば影響を受けることもあります。原材料価格や法律、海外経済の変化も事業に関係します。例えば自動車向けに鉄を売る会社は、自動車メーカーの生産が減ると注文も減り得ます。逆に品質が評価されれば受注が増えるかもしれません。企業の売上や利益を見る際、その数字の外側に何があったのかを見ることが必要なのです。
【伝える結論】企業分析は自社の数字だけでなく、周囲の変化の把握が重要。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11｜地図を見てから、目的地を深掘りする
【時間】3分　【役割】業界研究を行う順番を固定。
【講師原稿】
知らない街に出かけるとき、最初に地図を見ると位置関係が分かります。企業研究でも同じです。最初に業界全体を見て、どんな会社が関わっているか把握する。次に、誰が何を作り、誰に届けているかを見る。すると個別企業が、どの工程を担当し、どこで価値を生み、競合と何が違うのかが分かってきます。最後に利益を動かす数字、つまりKPIを見て、ニュースとつなげます。いきなり決算資料の数字を覚えるより、順番に考えた方が理解しやすいはずです。
【伝える結論】KPIは重要業績評価指標で、業界・企業によって異なる。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12｜どの業界にも使える7つの問い
【時間】2分　【役割】再利用する研究フレームを持ち帰る。
【講師原稿】
今日使う七つの問いを紹介します。一つ目は社会への価値。二つ目は登場する企業。三つ目は顧客。四つ目は利益の仕組み。五つ目は企業ごとの強み。六つ目はニュースの影響。そして七つ目は、自分がどこに興味を持ったかです。この順番を繰り返すと、食品でもITでも化学でも金融でも、業界研究を進めやすくなります。最後の『自分は何に惹かれるか』が重要です。調査した内容を、自分自身の選択肢に変えるためです。
【伝える結論】金属業界だけではなく、食品・IT・医薬品など全業界に応用できる。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13｜そもそも金属業界とは？
【時間】2分　【役割】金属の確保から供給・再資源化までを俯瞰。
【講師原稿】
ここからは金属業界そのものを学びます。まず全体像を押さえましょう。金属業界は、地中の資源や使用済み製品などから金属を確保して、社会で使える素材や部品に変え、必要な人や会社へ届ける産業です。鉱山会社、製鉄会社、アルミ加工メーカー、特殊な金属を扱うメーカー、商社、リサイクル会社などが関わります。多くの会社が消費者に直接売るのではなく、ほかの企業に素材を供給するBtoBの仕事をしています。これから学ぶのは、金属を作る原理よりもまず、社会のどこで使われ、誰がどの役割を持ち、どう利益を出すかという大きな流れです。
【伝える結論】金属業界は製鉄所だけではなく、技術・商流・リサイクルまでを含む。
【注意】この章は問いを挟まず、説明から始める。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14｜金属は社会のどこで使われる？
【時間】3分　【役割】産業の存在意義を身近な物へ接続。
【講師原稿】
街の高層ビルや橋を支える鉄骨、車の車体やエンジン周辺の材料、鉄道のレール、送電線の銅やアルミ、スマートフォン内部の微細な配線。これらはすべて金属材料が重要な役割を担っています。金属の魅力は、単に硬いことではありません。必要な強度、軽さ、電気の通しやすさ、熱への耐性、さびにくさなど、求められる性能に合わせて選べる点にあります。完成品のブランド名はよく知っていても、その性能を実現する材料の会社は知らないかもしれません。金属産業は、ほかの産業の製品性能を下支えする仕事とも言えます。
【伝える結論】金属が目立つのではなく、完成品の性能を支えている。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15｜金属の種類によって、得意なことが違う
【時間】3分　【役割】用途に応じて材料が選ばれることを教える。
【講師原稿】
鉄鋼は強度、加工のしやすさ、価格のバランスがよく、建物や自動車などで広く使われます。アルミは鉄に比べて軽く、缶や輸送機器などに使われます。銅は電気をよく通すので電線や電子機器に重要です。ニッケルはステンレスなどの合金や一部の電池材料に使われ、チタンは軽さに対する強さや耐食性が求められる分野で使われます。しかし『アルミの方が鉄より優秀』とは言えません。製品に必要な性能、加工方法、価格、入手しやすさによって最適な材料は変わります。金属企業の技術力は、この使い分けを高度に実現できることにも表れます。
【伝える結論】単純な優劣ではなく、必要な機能とコストの兼ね合いで使い分ける。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16｜高炉と電炉：鉄の作り方は違う
【時間】3分　【役割】鉄を作る2つの主なルートと非鉄の違いを説明。
【講師原稿】
鉄を作る代表的な方法には、高炉と転炉を組み合わせる方法と、電炉で主に鉄スクラップを溶かす方法があります。高炉では鉄鉱石から酸素を取り除く還元という工程が必要です。還元された鉄をさらに調整して鋼にします。電炉では主にスクラップを溶かして成分を調整します。どちらにも大きな設備とエネルギーが必要ですが、使う原料やコストの仕組みが違います。銅は鉱石の種類に応じた製錬・精製を行い、アルミはボーキサイトからアルミナを経て電解製錬で作られます。製造工程が違うからこそ、電力や原料の価格が利益に与える影響も違ってきます。
【伝える結論】複数の製造方法があること、その違いがコストや環境対応につながることを理解する。
【注意】細かな炉の構造を説明しすぎない。工法ごとの比較に絞る。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17｜金属が社会に届くまでのサプライチェーン
【時間】4分　【役割】鉱山から再生までの企業分担を一本の流れにする。
【講師原稿】
ここに、金属が社会に届くまでの流れを並べました。最初は鉄鉱石や銅鉱石を確保する資源開発。次が、鉱石から金属を取り出す製鉄や製錬。そこから鋼板、アルミ板、銅線、特殊な材料など、用途に合う形と品質に加工します。製品は商社を通じたり直接取引されたりして、自動車・建設・電機メーカーなどへ届きます。例えば自動車メーカーが材料の品質を細かく指定するため、素材メーカーは安定して同じ性能を作ることが求められます。また金属は回収・再生して再び原料に戻せます。つまり一直線に使い捨てる産業ではありません。誰がどこで付加価値を生んでいるかが見えてくると、会社の存在意義が分かります。
【伝える結論】一つの鋼材にも、多くの企業が役割と付加価値を分担している。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18｜主要企業をサプライチェーンに配置してみよう
【時間】3分　【役割】企業名を工程・機能に結びつける。
【講師原稿】
企業名をサプライチェーンに重ねると、業界の姿が具体的になります。日本製鉄やJFEスチールは大規模な鉄鋼製造を担います。共英製鋼や東京製鐵では電炉とスクラップ活用を特徴とする事業があります。住友金属鉱山は資源・製錬・材料など、複数の工程に関わります。UACJはアルミの圧延や加工に強みがあります。阪和興業のような商社は、調達や供給の機能で価値を生みます。ここで覚えてほしいのは会社名の暗記ではなく、『名前を聞いたらどの工程の会社か調べる』という見方です。一社が複数の役割を持つ点も大切です。
【伝える結論】個別企業を調べるときは、まず何をどの工程で作り、誰に売るかを見る。
【注意】商標画像は使わず社名テキストで表現。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19｜金属業界は世界とつながっている
【時間】3分　【役割】国内産業でも海外の変化が利益を動かすと理解。
【講師原稿】
日本の鉄鋼メーカーは、重要な原材料の鉄鉱石や原料炭を海外から調達しています。一方で、日本製の鋼材や高機能金属材料は、海外の企業や工場でも使われています。原材料が海外で高くなれば、国内生産の費用が増えるかもしれません。円安・円高で輸入費用や輸出売上の円換算も変わります。さらに、海外で需要が落ち込んだり、関税のルールが変わったりすると、企業の販売戦略が影響を受けます。金属業界は『国内の工場だけを見ると理解できない』産業です。この点は後半の海外ニュースで深く考えます。
【伝える結論】金属業界を見るには国内工場だけでなく、国際的なサプライチェーンを見る。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20｜同じ金属業界でも、儲け方は違う
【時間】3分　【役割】事業の役割と利益を生む要素を結びつける。
【講師原稿】
鉱山では、採掘して売れる金属の量や市況価格が利益に大きく関わります。製鉄会社では、鋼材を販売した売上から鉄鉱石・原料炭・人件費・設備費などを引いて利益が残ります。加工会社では、材料を顧客が使える形にする加工技術や品質管理が付加価値になります。商社は、金属を仕入れて販売するだけでなく、必要な量を必要な時期に供給するための物流・在庫・加工機能が価値になります。たとえばアルミ加工のUACJは、地金価格に加工賃を加える価格の考え方を説明しています。地金価格が上がると売上の数字が上がっても、利益が同じだけ増えるとは限りません。
【伝える結論】ビジネスモデルが違う企業は、同じ金属価格のニュースでも受ける影響が違う。
【出典】UACJ FAQ https://www.uacj.co.jp/ir/faq.html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21｜売上が増えても、利益が減ることがある
【時間】3分　【役割】利益の構造を架空の数字で見せる。
【講師原稿】
たとえば、ある架空の鉄鋼メーカーで、売上が100億円から110億円に増えたとします。売上は10％増加しました。ところが、スクラップなどの原材料費が60億円から72億円に増え、その他費用は変わらなかったとします。すると利益は5億円から3億円に減ってしまいます。販売価格が上がったとしても、原料費の上昇を十分に価格へ反映できなければ、儲けは減ることがあるのです。企業分析では『売上が増えた』という見出しだけでは判断せず、どの数字がどう動いたかを調べます。これをニュースに当てはめられると、業界研究が一気に面白くなります。
【伝える結論】値上げ・増収だけでは経営状態を判断できない。
【注意】「架空の計算例」と明記。単位は億円。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22｜金属業界の企業を見る3つの視点
【時間】3分　【役割】30分の知識を3つに要約し、ニュースへ接続。
【講師原稿】
ここまでの内容を三つにまとめます。一つ目は何の金属や製品を扱うか。二つ目はサプライチェーンのどこでどんな価値を生むか。三つ目は何が変わると利益が増えたり減ったりするかです。例えば同じ金属価格のニュースでも、資源を掘る会社、鉄スクラップから鋼材を作る会社、加工賃で価値を生む会社では、利益への影響が違います。ここまで分かれば、個別企業を詳しく見るための準備が整いました。次は実際に起きている三つのニュースを材料にして、さきほどの考え方を使ってみます。
【伝える結論】ニュースを読むための基礎準備が整った。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23｜ニュース① 同じ会社で「値上げ」と「値下げ」
【時間】3分　【役割】製品ごとに異なる価格改定という事実を示す。理由はまだ説明しない。
【講師原稿】
金属業界の最近のニュースを三つ紹介します。まず一つ目は製品価格です。日本製鉄は、一部の薄板4品種について、2026年10月引き受け分から1トン当たり5,000円の追加値上げを決めました。一方、別のニュースでは、国内店売り向けの一部ステンレス鋼板を、同じ10月契約分で1トン当たり5,000円値下げしたと報じられています。『同じ会社なのに、同じ時期に価格が上がる製品と下がる製品がある』という事実がポイントです。今は原因を説明しません。後ほど、何が違うからこうなったのかを班で考えます。
【伝える結論】ニュースの事実だけ共有し、原因の説明はSlide 27へ。
【注意】【要確認】二次報道では、日本製鉄の10月契約の値上げは「全板製品・鋼管・軽量形鋼で5,000円/トン」とされており、「一部の薄板4品種」という対象範囲と一致しない可能性があります。ステンレス値下げ報道は制作時に確認できていません。投影前に出典記事で確認してください。
【出典】日刊産業新聞 2026/9/30 https://www.japanmetal.com/news-t20260930150921.html ／ 日刊産業新聞 2026/10/9 https://www.japanmetal.com/news-t20261009151059.html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24｜ニュース② グリーン水素で還元鉄を試作
【時間】2分　【役割】製鉄の脱炭素技術が進む現実の研究成果を紹介。
【講師原稿】
二つ目は技術開発のニュースです。2026年7月31日、NEDOやJFEスチールなどのグループが、グリーン水素を使って還元鉄を試作することに成功したと発表しました。還元鉄というのは、酸化鉄から酸素を取り除いた鉄です。従来は炭素を使う工程が大きな役割を担っていますが、水素を使うことでCO₂の排出削減を目指しています。今回は小型試験設備での成果です。研究や試験の成功が、すぐ商業化や利益の増加を意味するわけではありません。後ほど、経営者になったつもりで投資を考えます。
【伝える結論】今回の成果は試作であり、商業生産の確立ではない。解説はSlide 29で実施。
【注意】【要確認】「約1トン」の製造量は制作時に確認できていません。投影前にNEDO発表で確認してください。画像はイメージ図（実在設備ではない）。
【出典】NEDO 2026/7/31 https://www.nedo.go.jp/news/press/AA5_101957.html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25｜ニュース③ 中国・インド・日本で需要は違う
【時間】3分　【役割】世界市場に成長差があることを最新見通しで紹介。
【講師原稿】
三つ目は世界市場です。世界鉄鋼協会が2026年10月12日に発表した予測では、2027年の鉄鋼需要は中国で前年比マイナス1.0％、インドでプラス8.0％、日本でプラス1.7％、世界全体でもプラス1.7％と見込まれています。この数字は2027年に確定した実績ではなく、2026年10月時点の予測です。中国とインドでは需要の動きがかなり違います。日本の鉄鋼メーカーは、こうした世界の変化と向き合わなければなりません。このグラフを覚えるよりも、『需要が増える場所が変わると、企業の戦略はどう変わるか』に注目してください。
【伝える結論】数字が示すのは鉄鋼需要であって、金属産業全体の実績・企業利益ではない。
【出典】worldsteel 2026/10/12 https://worldsteel.org/media/press-releases/2026/worldsteel-short-range-outlook-october-2026/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26｜ミニGD① なぜ同じ会社で価格の動きが違う？
【時間】4分　【役割】ニュース①に対して、複数の原因仮説を立てさせる。
【講師原稿】
まず一つ目のニュースです。同じ日本製鉄で、なぜ一部の製品は値上げ、一部の製品は値下げになったのでしょうか。全部の理由を正しく当てる必要はありません。何が違えば、価格の動きが違ってもおかしくないかを考えてください。例えば、使う原料が違うのではないか。販売先の需要が違うのではないか。製品の価格の決め方が違うのではないか。自分の仮説を一つ持ってから、班で話してください。『ほかに確認したい情報』まで出せたら、とてもよい分析です。
【伝える結論】すぐ正解を出すのではなく、確かめたい情報を増やす。
【想定回答例（制作側の補足。講師原稿ファイル未着のため）】原料が違う（鉄鉱石・原料炭 vs ニッケル・クロムなどの合金原料）／為替の影響の受け方が違う／販売先の需要が違う（自動車向け vs 店売り）／価格の決め方・契約期間が違う。追加で確認したい情報：各製品の原料構成、為替の動き、販売先の在庫状況。
【注意】答え・背景を先出ししない。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27｜解説① 金属価格を動かすのは何か？
【時間】2分　【役割】Slide 26の意見を整理し、ニュースの理由を解説。
【講師原稿】
今の意見を整理しましょう。薄板の追加値上げについては、原料炭の価格上昇や労務費、物流費などの上昇が報道されています。一方、一部ステンレス鋼板の値下げでは、円高による合金原料の調達費の低下などが背景とされています。どちらも『金属製品』ですが、使う原材料や価格の決め方が違います。重要なのは、同じ企業の製品でも一つのニュースで全部は説明できないことです。さらに価格を上げられても、原材料費などがそれ以上に増えれば利益は減ることがあります。業界研究で儲け方を知っておくと、このニュースの読み方が変わります。
【伝える結論】同じ金属メーカーでも製品や原価構造により改定の方向が異なる。
【注意】【要確認】値上げ理由（原料炭・物流費・人件費の上昇）は二次報道で確認済み。ステンレス値下げの理由（円高による合金原料の調達価格下落）は制作時に未確認。
【出典】日刊産業新聞 2026/9/30 https://www.japanmetal.com/news-t20260930150921.html ／ 日刊産業新聞 2026/10/9 https://www.japanmetal.com/news-t20261009151059.html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28｜ミニGD② 脱炭素へ先行投資する？
【時間】5分　【役割】環境対応の長期価値と現在の収益を比較する。
【講師原稿】
次はみなさんが鉄鋼メーカーの経営者だったと考えてください。脱炭素設備に大きく先行投資するA案と、まず既存設備の利益を確保するB案です。どちらか一つを最初に選んでください。ただし、選択した理由が大切です。環境対応を急がなければ将来、販売できないかもしれません。一方、設備に巨額の費用をかけても、買い手が高い価格を払ってくれる保証はありません。政府の補助金が出る場合、競合が先行する場合、顧客が低排出の材料を強く求める場合など、条件が変わるとどう判断するか考えてください。
【伝える結論】A・Bの正解を決めるのでなく、判断が変わる条件を具体的に挙げる。
【想定回答例（制作側の補足。講師原稿ファイル未着のため）】Aを選ぶ条件：政府の補助金が大きい／競合が先行している／顧客が低排出の鋼材に高い価格を払う／排出規制が強まる。Bを選ぶ条件：水素価格が高いまま／量産技術が未確立／投資回収の見通しが立たない。
【注意】補助条件（補助金・水素価格・顧客プレミアム）は講師が順次口頭提示。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29｜解説② 脱炭素投資はコストにも競争力にもなる
【時間】2分　【役割】短期と長期を両立させる経営判断だとまとめる。
【講師原稿】
ここは、Aが正解、Bが間違いという問題ではありません。従来の製鉄では鉄鉱石から酸素を取り除く工程で炭素を使い、CO₂が発生します。水素による還元が実現すれば排出削減につながる可能性があります。ただし、水素を大量に安く調達できるか、品質を安定させられるか、設備投資を回収できるかという課題があります。一方で、顧客が低排出の素材を求めるようになれば、先行した技術が競争力になるかもしれません。経営は短期の利益と、将来生き残るための投資を両方考える仕事だということが分かります。
【伝える結論】NEDOの成果は試作段階。今後の事業化には技術・コスト面の課題がある。
【出典】NEDO 2026/7/31 https://www.nedo.go.jp/news/press/AA5_101957.html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30｜ミニGD③ 日本の金属企業は何で戦う？
【時間】4分　【役割】世界の鉄鋼需要の違いを踏まえて経営戦略を選ぶ。
【講師原稿】
最後は海外です。中国では2027年の鉄鋼需要の減少が予測され、インドでは高い成長率が見込まれています。日本企業が今後力を入れる戦略を考えてください。成長する地域で工場や販売網を強化するか。高品質な製品で差別化するか。脱炭素などの技術へ投資するか。まず一つを中心戦略として選びます。選んだ理由と、同時に生じるリスクを班で整理してください。『インドで需要が増える＝日本から輸出すれば必ず儲かる』とは言えない点にも注意してください。
【伝える結論】市場の成長率だけでなく、自社の強みとリスクを組み合わせて考える。
【想定回答例（制作側の補足。講師原稿ファイル未着のため）】A 海外展開：根拠＝インドの需要増／リスク＝現地メーカーとの競争・関税。B 高機能材料：根拠＝品質で価格競争を避けられる／リスク＝開発費・顧客の評価に時間。C 環境・新技術：根拠＝規制強化と低排出需要／リスク＝巨額投資と採算。
【出典】worldsteel 2026/10/12 https://worldsteel.org/media/press-releases/2026/worldsteel-short-range-outlook-october-2026/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31｜解説③ 世界の需要増加と企業の利益は別
【時間】3分　【役割】海外戦略ごとの機会と課題を比較。
【講師原稿】
世界鉄鋼協会は2027年のインドの鉄鋼需要を前年比8.0％増、中国を1.0％減、日本を1.7％増と予測しています。しかしインドの需要が増えても、現地に競争力のあるメーカーがあり、関税・物流費・品質要求などもあるので、日本企業の利益が自動的に増えるわけではありません。日本から輸出する、現地に生産拠点を持つ、現地企業と提携するという方法でも、費用とリスクは違います。また、高品質な特殊鋼や半導体向けの材料では、価格だけではない競争を目指せます。日本企業の未来を考えるには、どの市場が成長するかと、自社がそこでどう利益を上げるかをセットで考える必要があります。
【伝える結論】需要予測と会社の収益を同一視しない。各企業の製品・拠点・顧客を調べる。
【出典】worldsteel 2026/10/12 https://worldsteel.org/media/press-releases/2026/worldsteel-short-range-outlook-october-2026/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32｜3つのニュースが教えてくれたこと
【時間】2分　【役割】ニュース①〜③を違う視点へ対応づける。
【講師原稿】
三つのニュースを振り返ります。一つ目は、製品価格が変わったとき、売上と費用を両方見る必要があるという話でした。二つ目は、今の利益と将来への投資をどう両立させるかという経営判断でした。三つ目は、世界の需要が変わったとき、自社の競争力をどこで使うかという経営戦略でした。金属業界という一つの業界だけでも、数字、技術、世界市場という違う面白さがあります。次は、この中から人に伝えたい魅力を見つけていきます。
【伝える結論】金属業界の魅力を語る材料がそろった。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33｜金属業界の面白さは、どこにある？
【時間】3分　【役割】理解した内容を魅力へ変換。
【講師原稿】
ここまでで、金属業界にどんな面白さを感じましたか。巨大な製鉄所だけが魅力ではありません。暮らしに欠かせない素材を届けること、非常に細かい品質を作り込むこと、世界の資源と市場をつなぐこと、CO₂削減の難しい技術に挑むこと。さらに同じ素材でも企業によって儲け方が違うことも、投資やビジネスの観点からは面白い点です。人によって関心は違って当然です。ここでは、自分が魅力に感じた点を一つ、頭の中で選んでみてください。『金属産業全体が安定・高待遇』というような一般化はせず、具体的な企業や仕事の事実と結びつけることが大切です。
【伝える結論】参加者が何を魅力と感じるかは異なる。個別企業の待遇や安定を一般化しない。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34｜魅力があることと、伝わることは違う
【時間】2分　【役割】実際の伝え方を設計するGDへの橋渡し。
【講師原稿】
どんなに社会に重要な仕事でも、知らなければ興味を持つきっかけがありません。『金属業界は世界を支えています』と一言言っても、実感が湧かない人もいます。スマホの中に使われている金属を実際に示したり、工場で巨大な鋼板が作られるところを見たり、研究者が苦労して材料を開発した話を聞いたりすれば、同じ内容でも受け取り方が変わるかもしれません。人に興味を持ってもらうには、誰に、何を、どう見せるかが重要です。では、私たちならどんな体験を企画するでしょうか。
【伝える結論】産業の魅力は同じでも、相手に合わせた入口が必要。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35｜メインGD｜金属業界を知らない大学生に、どうすれば「もっと知りたい！」と思ってもらえる？
【時間】2分　【役割】研究会最大のアウトプットのテーマ。
【講師原稿】
みなさんは今から、金属業界の面白さを学生に伝える企画チームです。対象は、金属業界をよく知らない大学生。目標はその人を金属企業に就職させることではありません。話を聞いた後に『ちょっと面白そう』『この会社を調べてみたい』『工場に行ってみたい』と思ってもらうことです。まず誰に届けるのかを決めてください。次に、今日学んだことから魅力を選び、どう伝えるかを考えてください。SNSでも、工場見学でも、実際の企業調査でも、かるたでも構いません。企画の名前だけでなく、参加者が何を体験するかまで考えることがゴールです。
【伝える結論】媒体選択ではなく、興味が生まれる体験を設計する。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36｜14分で企画をつくる｜GD進行
【時間】14分　【役割】議論時間を管理し、具体化を促す。
【講師原稿】
ここから14分、班ごとに企画を作ります。最初に対象を決め、次に伝えたい魅力を選び、方法を決めたうえで、実際の参加者が何を見て・何を考えて・どう興味を持つかまで具体化してください。【3分経過】ターゲットが決まらなければ大学1年生に仮決めして進めましょう。【6分経過】魅力が出たら、伝え方を選びましょう。SNSなら冒頭5秒、工場見学なら何を見るかまで。【10分経過】あと4分です。参加前と参加後の変化を言葉にしてください。【13分経過】残り1分、企画名・対象・魅力・体験・期待する変化の5点をまとめましょう。【巡回質問】意見が出ない班には『3つのニュースで一番驚いたのは？』、企画が抽象的な班には『金属ならではの面白さがどこに表れる？』と聞きます。
【伝える結論】形式だけにせず「参加者が何を見て何をするのか」まで決める。
【想定回答例（制作側の補足。講師原稿ファイル未着のため）】企画例：『スマホ分解ラボ』対象＝文系1年生／魅力＝身近な製品を支える素材／体験＝スマホの部品を見て使われている金属を当てる／参加後＝素材メーカーを1社調べたくなる。
【注意】残り時間を司会が口頭通知する。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37｜企画発表｜伝えるのは5つだけ
【時間】2分　【役割】発表を端的にし、比較できるようにする。
【講師原稿】
それでは発表します。時間は各班およそ1分です。企画のタイトル、誰に届けるか、どんな魅力を伝えるか、具体的な体験、そして参加後にどうなってほしいかの5点だけを話してください。きれいな発表よりも、企画が具体的であることを重視します。聞く側の人も『自分がその対象者だったら参加したいか』『何が面白そうか』を考えながら聞いてください。発表後に一つだけ、改善するとしたらどこかを全体で確認します。
【伝える結論】誰が聞いても企画の内容が思い浮かぶ、具体的な説明をする。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38｜発表と全体共有｜どの企画に興味を持った？
【時間】5分　【役割】発表を相互に比較し、関心の違いを発見。
【講師原稿】
まずA班から発表をお願いします。各班およそ1分で、企画名・対象・魅力・具体的な体験・参加後の変化を紹介してください。聞く側は『自分なら参加したいか』『何が面白いと感じたか』を考えながら聞きます。すべての発表後に、同じ金属業界でも、身近な製品を入口にする班と技術・社会貢献を入口にする班など、伝える価値と方法が異なる点を整理します。企画の派手さより、対象者との適合、内容の具体性、興味の変化を重視します。
【伝える結論】全員に刺さる表現ではなく、対象に合った表現を選ぶ大切さを学ぶ。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39｜業界研究の7つの問いに戻ってみよう
【時間】2分　【役割】今日の学びをどの業界にも使えるものへ戻す。
【講師原稿】
ここで最初の話に戻ります。今日、金属業界について、何を社会に提供しているか、どんな会社が関わっているか、誰が顧客か、どこで利益を生むか、競争力は何か、ニュースで何が変わるかを見ました。最後は、みなさん自身が何に魅力を感じたかです。これは金属業界だけの研究方法ではありません。次回、食品でも金融でもITでも、同じ7つの問いで考えることができます。気になる会社を調べる前に、まず業界の地図を持つ。これを今後も繰り返してほしいと思います。
【伝える結論】第1回だけの知識で終わらせず、研究方法を持ち帰る。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40｜気になる企業から「興味の軸」を探そう
【時間】3分　【役割】個社の好き嫌いと深い興味を結びつける方法を紹介。ワーク実施はしない。
【講師原稿】
業界研究は、自分の興味を知る方法にもなります。例えば別の日に、直感的に気になる企業を5社挙げてみてください。トヨタ、ソニー、三菱商事、日本製鉄、任天堂など、最初は理由がばらばらでも構いません。それぞれの会社の何に惹かれるのかを少しずつ言葉にしていくと、『世界を相手に仕事をする』『技術で価値を生む』『社会を支える』『人に喜んでもらう』など、自分の興味の軸が見えてくるかもしれません。そうすると、まだ知らなかった業界の会社も選択肢に入ります。今日はこのワークを実施しませんが、今後、自分で企業研究をするときの方法としてぜひ使ってください。
【伝える結論】業界を知ることは、自分がどんな仕事に惹かれるか知ることでもある。
【注意】実際の5社分析は行わず、方法の提示のみ。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41｜まとめ｜調べるから、興味が生まれる。
【時間】2分　【役割】研究会のメッセージを残して終了。
【講師原稿】
今日、金属業界について知らなかったことは見つかりましたか。会社の名前、金属の特徴、サプライチェーン、お金の流れ、そしてニュースの背景。知識を増やす中で、面白いと思う部分が一つでもあれば、それが今日の成果です。大切なのは、今回だけで終わらせないことです。ほかの業界を見るときも、全体を知り、企業を比べ、ニュースとつなぎ、何に魅力を感じたかを考えてみてください。興味があるから調べるだけじゃない。調べるから、興味が生まれる。次回も、知らない業界に出会いましょう。ありがとうございました。
【伝える結論】興味の入り口を広げ、今後も自分で調べ続けるきっかけにする。
【注意】最後は余白を取り、メッセージを最大の要素にする。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6E7F8F"/>
                </a:solidFill>
                <a:latin typeface="Noto Sans CJK JP" pitchFamily="34" charset="0"/>
                <a:ea typeface="Noto Sans CJK JP" pitchFamily="34" charset="-122"/>
                <a:cs typeface="Noto Sans CJK JP" pitchFamily="34" charset="-120"/>
              </a:rPr>
              <a:t>第1回 ミラキン業界研究会｜金属業界</a:t>
            </a:r>
            <a:endParaRPr lang="en-US" sz="11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ORK">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6E7F8F"/>
                </a:solidFill>
                <a:latin typeface="Noto Sans CJK JP" pitchFamily="34" charset="0"/>
                <a:ea typeface="Noto Sans CJK JP" pitchFamily="34" charset="-122"/>
                <a:cs typeface="Noto Sans CJK JP" pitchFamily="34" charset="-120"/>
              </a:rPr>
              <a:t>第1回 ミラキン業界研究会｜金属業界</a:t>
            </a:r>
            <a:endParaRPr lang="en-US" sz="11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A9C4CF"/>
                </a:solidFill>
                <a:latin typeface="Noto Sans CJK JP" pitchFamily="34" charset="0"/>
                <a:ea typeface="Noto Sans CJK JP" pitchFamily="34" charset="-122"/>
                <a:cs typeface="Noto Sans CJK JP" pitchFamily="34" charset="-120"/>
              </a:rPr>
              <a:t>第1回 ミラキン業界研究会｜金属業界</a:t>
            </a:r>
            <a:endParaRPr lang="en-US" sz="11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A9C4CF"/>
                </a:solidFill>
                <a:latin typeface="Noto Sans CJK JP"/>
                <a:ea typeface="Noto Sans CJK JP"/>
                <a:cs typeface="Noto Sans CJK JP"/>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788920"/>
            <a:ext cx="5212080" cy="914400"/>
          </a:xfrm>
          <a:prstGeom prst="rect">
            <a:avLst/>
          </a:prstGeom>
          <a:noFill/>
          <a:ln/>
        </p:spPr>
        <p:txBody>
          <a:bodyPr wrap="square" rtlCol="0"/>
          <a:lstStyle>
            <a:lvl1pPr algn="l" indent="0" marL="0">
              <a:buNone/>
              <a:defRPr lang="en-US" sz="2400" dirty="0">
                <a:solidFill>
                  <a:schemeClr val="bg1"/>
                </a:solidFill>
              </a:defRPr>
            </a:lvl1pPr>
          </a:lstStyle>
          <a:p>
            <a:pPr algn="l" indent="0" marL="0">
              <a:buNone/>
            </a:pPr>
            <a:endParaRPr lang="en-US" sz="2400" dirty="0"/>
          </a:p>
        </p:txBody>
      </p:sp>
      <p:sp>
        <p:nvSpPr>
          <p:cNvPr id="3" name="Text 0"/>
          <p:cNvSpPr/>
          <p:nvPr/>
        </p:nvSpPr>
        <p:spPr>
          <a:xfrm>
            <a:off x="548640" y="6400800"/>
            <a:ext cx="5120640" cy="274320"/>
          </a:xfrm>
          <a:prstGeom prst="rect">
            <a:avLst/>
          </a:prstGeom>
          <a:noFill/>
          <a:ln/>
        </p:spPr>
        <p:txBody>
          <a:bodyPr wrap="square" lIns="0" tIns="0" rIns="0" bIns="0" rtlCol="0" anchor="ctr"/>
          <a:lstStyle/>
          <a:p>
            <a:pPr indent="0" marL="0">
              <a:buNone/>
            </a:pPr>
            <a:r>
              <a:rPr lang="en-US" sz="1100" dirty="0">
                <a:solidFill>
                  <a:srgbClr val="A9C4CF"/>
                </a:solidFill>
                <a:latin typeface="Noto Sans CJK JP" pitchFamily="34" charset="0"/>
                <a:ea typeface="Noto Sans CJK JP" pitchFamily="34" charset="-122"/>
                <a:cs typeface="Noto Sans CJK JP" pitchFamily="34" charset="-120"/>
              </a:rPr>
              <a:t>第1回 ミラキン業界研究会｜金属業界</a:t>
            </a:r>
            <a:endParaRPr lang="en-US" sz="11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RO_GD">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669280" cy="292608"/>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868680"/>
            <a:ext cx="5577840" cy="178308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4" name="Text 0"/>
          <p:cNvSpPr/>
          <p:nvPr/>
        </p:nvSpPr>
        <p:spPr>
          <a:xfrm>
            <a:off x="548640" y="6400800"/>
            <a:ext cx="4846320" cy="274320"/>
          </a:xfrm>
          <a:prstGeom prst="rect">
            <a:avLst/>
          </a:prstGeom>
          <a:noFill/>
          <a:ln/>
        </p:spPr>
        <p:txBody>
          <a:bodyPr wrap="square" lIns="0" tIns="0" rIns="0" bIns="0" rtlCol="0" anchor="ctr"/>
          <a:lstStyle/>
          <a:p>
            <a:pPr indent="0" marL="0">
              <a:buNone/>
            </a:pPr>
            <a:r>
              <a:rPr lang="en-US" sz="1100" dirty="0">
                <a:solidFill>
                  <a:srgbClr val="A9C4CF"/>
                </a:solidFill>
                <a:latin typeface="Noto Sans CJK JP" pitchFamily="34" charset="0"/>
                <a:ea typeface="Noto Sans CJK JP" pitchFamily="34" charset="-122"/>
                <a:cs typeface="Noto Sans CJK JP" pitchFamily="34" charset="-120"/>
              </a:rPr>
              <a:t>第1回 ミラキン業界研究会｜金属業界</a:t>
            </a:r>
            <a:endParaRPr lang="en-US" sz="1100" dirty="0"/>
          </a:p>
        </p:txBody>
      </p:sp>
      <p:sp>
        <p:nvSpPr>
          <p:cNvPr id="25" name="Slide Number Placeholder 0"/>
          <p:cNvSpPr>
            <a:spLocks noGrp="1"/>
          </p:cNvSpPr>
          <p:nvPr>
            <p:ph type="sldNum" sz="quarter" idx="4294967295"/>
          </p:nvPr>
        </p:nvSpPr>
        <p:spPr>
          <a:xfrm>
            <a:off x="5486400"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A9C4CF"/>
                </a:solidFill>
                <a:latin typeface="Noto Sans CJK JP"/>
                <a:ea typeface="Noto Sans CJK JP"/>
                <a:cs typeface="Noto Sans CJK JP"/>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RO_END">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852160" cy="292608"/>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874520"/>
            <a:ext cx="603504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4" name="Text 0"/>
          <p:cNvSpPr/>
          <p:nvPr/>
        </p:nvSpPr>
        <p:spPr>
          <a:xfrm>
            <a:off x="548640" y="6400800"/>
            <a:ext cx="5120640" cy="274320"/>
          </a:xfrm>
          <a:prstGeom prst="rect">
            <a:avLst/>
          </a:prstGeom>
          <a:noFill/>
          <a:ln/>
        </p:spPr>
        <p:txBody>
          <a:bodyPr wrap="square" lIns="0" tIns="0" rIns="0" bIns="0" rtlCol="0" anchor="ctr"/>
          <a:lstStyle/>
          <a:p>
            <a:pPr indent="0" marL="0">
              <a:buNone/>
            </a:pPr>
            <a:r>
              <a:rPr lang="en-US" sz="1100" dirty="0">
                <a:solidFill>
                  <a:srgbClr val="A9C4CF"/>
                </a:solidFill>
                <a:latin typeface="Noto Sans CJK JP" pitchFamily="34" charset="0"/>
                <a:ea typeface="Noto Sans CJK JP" pitchFamily="34" charset="-122"/>
                <a:cs typeface="Noto Sans CJK JP" pitchFamily="34" charset="-120"/>
              </a:rPr>
              <a:t>第1回 ミラキン業界研究会｜金属業界</a:t>
            </a:r>
            <a:endParaRPr lang="en-US" sz="1100" dirty="0"/>
          </a:p>
        </p:txBody>
      </p:sp>
      <p:sp>
        <p:nvSpPr>
          <p:cNvPr id="25" name="Slide Number Placeholder 0"/>
          <p:cNvSpPr>
            <a:spLocks noGrp="1"/>
          </p:cNvSpPr>
          <p:nvPr>
            <p:ph type="sldNum" sz="quarter" idx="4294967295"/>
          </p:nvPr>
        </p:nvSpPr>
        <p:spPr>
          <a:xfrm>
            <a:off x="6035040"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A9C4CF"/>
                </a:solidFill>
                <a:latin typeface="Noto Sans CJK JP"/>
                <a:ea typeface="Noto Sans CJK JP"/>
                <a:cs typeface="Noto Sans CJK JP"/>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5.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2.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3.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2.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3.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3.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2.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2.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6.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2.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2.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7.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788920"/>
            <a:ext cx="5212080" cy="914400"/>
          </a:xfrm>
          <a:prstGeom prst="rect">
            <a:avLst/>
          </a:prstGeom>
          <a:noFill/>
          <a:ln/>
        </p:spPr>
        <p:txBody>
          <a:bodyPr wrap="square" lIns="0" tIns="0" rIns="0" bIns="0" rtlCol="0" anchor="t"/>
          <a:lstStyle/>
          <a:p>
            <a:pPr algn="l" indent="0" marL="0">
              <a:buNone/>
            </a:pPr>
            <a:r>
              <a:rPr lang="en-US" sz="2400" dirty="0">
                <a:solidFill>
                  <a:schemeClr val="bg1"/>
                </a:solidFill>
              </a:rPr>
              <a:t>あなたは、どれだけの業界を</a:t>
            </a:r>
            <a:endParaRPr lang="en-US" sz="2400" dirty="0"/>
          </a:p>
          <a:p>
            <a:pPr algn="l" indent="0" marL="0">
              <a:buNone/>
            </a:pPr>
            <a:r>
              <a:rPr lang="en-US" sz="2400" dirty="0">
                <a:solidFill>
                  <a:schemeClr val="bg1"/>
                </a:solidFill>
              </a:rPr>
              <a:t>知っていますか？</a:t>
            </a:r>
            <a:endParaRPr lang="en-US" sz="2400" dirty="0"/>
          </a:p>
        </p:txBody>
      </p:sp>
      <p:sp>
        <p:nvSpPr>
          <p:cNvPr id="4" name="Text 1"/>
          <p:cNvSpPr txBox="1"/>
          <p:nvPr/>
        </p:nvSpPr>
        <p:spPr>
          <a:xfrm>
            <a:off x="640080" y="822960"/>
            <a:ext cx="5212080" cy="411480"/>
          </a:xfrm>
          <a:prstGeom prst="rect">
            <a:avLst/>
          </a:prstGeom>
          <a:noFill/>
          <a:ln/>
        </p:spPr>
        <p:txBody>
          <a:bodyPr wrap="square" lIns="0" tIns="0" rIns="0" bIns="0" rtlCol="0" anchor="t"/>
          <a:lstStyle/>
          <a:p>
            <a:pPr indent="0" marL="0">
              <a:buNone/>
            </a:pPr>
            <a:r>
              <a:rPr lang="ja-JP" altLang="en-US" sz="2000" b="1" dirty="0">
                <a:solidFill>
                  <a:schemeClr val="accent2"/>
                </a:solidFill>
              </a:rPr>
              <a:t>第1回｜ミラキン業界研究会</a:t>
            </a:r>
            <a:endParaRPr lang="ja-JP" sz="2000" dirty="0"/>
          </a:p>
        </p:txBody>
      </p:sp>
      <p:sp>
        <p:nvSpPr>
          <p:cNvPr id="5" name="Text 2"/>
          <p:cNvSpPr txBox="1"/>
          <p:nvPr/>
        </p:nvSpPr>
        <p:spPr>
          <a:xfrm>
            <a:off x="640080" y="1280160"/>
            <a:ext cx="5303520" cy="1325880"/>
          </a:xfrm>
          <a:prstGeom prst="rect">
            <a:avLst/>
          </a:prstGeom>
          <a:noFill/>
          <a:ln/>
        </p:spPr>
        <p:txBody>
          <a:bodyPr wrap="square" lIns="0" tIns="0" rIns="0" bIns="0" rtlCol="0" anchor="ctr"/>
          <a:lstStyle/>
          <a:p>
            <a:pPr indent="0" marL="0">
              <a:buNone/>
            </a:pPr>
            <a:r>
              <a:rPr lang="ja-JP" altLang="en-US" sz="8000" b="1" dirty="0">
                <a:solidFill>
                  <a:schemeClr val="bg1"/>
                </a:solidFill>
              </a:rPr>
              <a:t>金属業界</a:t>
            </a:r>
            <a:endParaRPr lang="ja-JP" sz="8000" dirty="0"/>
          </a:p>
        </p:txBody>
      </p:sp>
      <p:sp>
        <p:nvSpPr>
          <p:cNvPr id="6" name="Shape 3"/>
          <p:cNvSpPr/>
          <p:nvPr/>
        </p:nvSpPr>
        <p:spPr>
          <a:xfrm>
            <a:off x="640080" y="4069080"/>
            <a:ext cx="2468880" cy="603504"/>
          </a:xfrm>
          <a:prstGeom prst="roundRect">
            <a:avLst>
              <a:gd name="adj" fmla="val 50000"/>
            </a:avLst>
          </a:prstGeom>
          <a:solidFill>
            <a:schemeClr val="tx2"/>
          </a:solidFill>
          <a:ln w="19050">
            <a:solidFill>
              <a:schemeClr val="accent2"/>
            </a:solidFill>
            <a:prstDash val="solid"/>
          </a:ln>
        </p:spPr>
      </p:sp>
      <p:sp>
        <p:nvSpPr>
          <p:cNvPr id="7" name="Text 4"/>
          <p:cNvSpPr txBox="1"/>
          <p:nvPr/>
        </p:nvSpPr>
        <p:spPr>
          <a:xfrm>
            <a:off x="804672" y="4069080"/>
            <a:ext cx="2286000" cy="603504"/>
          </a:xfrm>
          <a:prstGeom prst="rect">
            <a:avLst/>
          </a:prstGeom>
          <a:noFill/>
          <a:ln/>
        </p:spPr>
        <p:txBody>
          <a:bodyPr wrap="square" lIns="0" tIns="0" rIns="0" bIns="0" rtlCol="0" anchor="ctr"/>
          <a:lstStyle/>
          <a:p>
            <a:pPr indent="0" marL="0">
              <a:buNone/>
            </a:pPr>
            <a:r>
              <a:rPr lang="ja-JP" altLang="en-US" sz="1500" b="1" dirty="0">
                <a:solidFill>
                  <a:schemeClr val="accent3"/>
                </a:solidFill>
              </a:rPr>
              <a:t>01 </a:t>
            </a:r>
            <a:pPr indent="0" marL="0">
              <a:buNone/>
            </a:pPr>
            <a:r>
              <a:rPr lang="ja-JP" altLang="en-US" sz="1700" b="1" dirty="0">
                <a:solidFill>
                  <a:schemeClr val="bg1"/>
                </a:solidFill>
              </a:rPr>
              <a:t>企業を知る</a:t>
            </a:r>
            <a:endParaRPr lang="ja-JP" sz="1700" dirty="0"/>
          </a:p>
        </p:txBody>
      </p:sp>
      <p:sp>
        <p:nvSpPr>
          <p:cNvPr id="8" name="Shape 5"/>
          <p:cNvSpPr/>
          <p:nvPr/>
        </p:nvSpPr>
        <p:spPr>
          <a:xfrm>
            <a:off x="3291840" y="4069080"/>
            <a:ext cx="2468880" cy="603504"/>
          </a:xfrm>
          <a:prstGeom prst="roundRect">
            <a:avLst>
              <a:gd name="adj" fmla="val 50000"/>
            </a:avLst>
          </a:prstGeom>
          <a:solidFill>
            <a:schemeClr val="tx2"/>
          </a:solidFill>
          <a:ln w="19050">
            <a:solidFill>
              <a:schemeClr val="accent2"/>
            </a:solidFill>
            <a:prstDash val="solid"/>
          </a:ln>
        </p:spPr>
      </p:sp>
      <p:sp>
        <p:nvSpPr>
          <p:cNvPr id="9" name="Text 6"/>
          <p:cNvSpPr txBox="1"/>
          <p:nvPr/>
        </p:nvSpPr>
        <p:spPr>
          <a:xfrm>
            <a:off x="3456432" y="4069080"/>
            <a:ext cx="2286000" cy="603504"/>
          </a:xfrm>
          <a:prstGeom prst="rect">
            <a:avLst/>
          </a:prstGeom>
          <a:noFill/>
          <a:ln/>
        </p:spPr>
        <p:txBody>
          <a:bodyPr wrap="square" lIns="0" tIns="0" rIns="0" bIns="0" rtlCol="0" anchor="ctr"/>
          <a:lstStyle/>
          <a:p>
            <a:pPr indent="0" marL="0">
              <a:buNone/>
            </a:pPr>
            <a:r>
              <a:rPr lang="ja-JP" altLang="en-US" sz="1500" b="1" dirty="0">
                <a:solidFill>
                  <a:schemeClr val="accent3"/>
                </a:solidFill>
              </a:rPr>
              <a:t>02 </a:t>
            </a:r>
            <a:pPr indent="0" marL="0">
              <a:buNone/>
            </a:pPr>
            <a:r>
              <a:rPr lang="ja-JP" altLang="en-US" sz="1700" b="1" dirty="0">
                <a:solidFill>
                  <a:schemeClr val="bg1"/>
                </a:solidFill>
              </a:rPr>
              <a:t>業界を知る</a:t>
            </a:r>
            <a:endParaRPr lang="ja-JP" sz="1700" dirty="0"/>
          </a:p>
        </p:txBody>
      </p:sp>
      <p:sp>
        <p:nvSpPr>
          <p:cNvPr id="10" name="Shape 7"/>
          <p:cNvSpPr/>
          <p:nvPr/>
        </p:nvSpPr>
        <p:spPr>
          <a:xfrm>
            <a:off x="640080" y="4846320"/>
            <a:ext cx="2468880" cy="603504"/>
          </a:xfrm>
          <a:prstGeom prst="roundRect">
            <a:avLst>
              <a:gd name="adj" fmla="val 50000"/>
            </a:avLst>
          </a:prstGeom>
          <a:solidFill>
            <a:schemeClr val="tx2"/>
          </a:solidFill>
          <a:ln w="19050">
            <a:solidFill>
              <a:schemeClr val="accent2"/>
            </a:solidFill>
            <a:prstDash val="solid"/>
          </a:ln>
        </p:spPr>
      </p:sp>
      <p:sp>
        <p:nvSpPr>
          <p:cNvPr id="11" name="Text 8"/>
          <p:cNvSpPr txBox="1"/>
          <p:nvPr/>
        </p:nvSpPr>
        <p:spPr>
          <a:xfrm>
            <a:off x="804672" y="4846320"/>
            <a:ext cx="2286000" cy="603504"/>
          </a:xfrm>
          <a:prstGeom prst="rect">
            <a:avLst/>
          </a:prstGeom>
          <a:noFill/>
          <a:ln/>
        </p:spPr>
        <p:txBody>
          <a:bodyPr wrap="square" lIns="0" tIns="0" rIns="0" bIns="0" rtlCol="0" anchor="ctr"/>
          <a:lstStyle/>
          <a:p>
            <a:pPr indent="0" marL="0">
              <a:buNone/>
            </a:pPr>
            <a:r>
              <a:rPr lang="ja-JP" altLang="en-US" sz="1500" b="1" dirty="0">
                <a:solidFill>
                  <a:schemeClr val="accent3"/>
                </a:solidFill>
              </a:rPr>
              <a:t>03 </a:t>
            </a:r>
            <a:pPr indent="0" marL="0">
              <a:buNone/>
            </a:pPr>
            <a:r>
              <a:rPr lang="ja-JP" altLang="en-US" sz="1700" b="1" dirty="0">
                <a:solidFill>
                  <a:schemeClr val="bg1"/>
                </a:solidFill>
              </a:rPr>
              <a:t>お金の流れを知る</a:t>
            </a:r>
            <a:endParaRPr lang="ja-JP" sz="1700" dirty="0"/>
          </a:p>
        </p:txBody>
      </p:sp>
      <p:sp>
        <p:nvSpPr>
          <p:cNvPr id="12" name="Shape 9"/>
          <p:cNvSpPr/>
          <p:nvPr/>
        </p:nvSpPr>
        <p:spPr>
          <a:xfrm>
            <a:off x="3291840" y="4846320"/>
            <a:ext cx="2468880" cy="603504"/>
          </a:xfrm>
          <a:prstGeom prst="roundRect">
            <a:avLst>
              <a:gd name="adj" fmla="val 50000"/>
            </a:avLst>
          </a:prstGeom>
          <a:solidFill>
            <a:schemeClr val="tx2"/>
          </a:solidFill>
          <a:ln w="19050">
            <a:solidFill>
              <a:schemeClr val="accent2"/>
            </a:solidFill>
            <a:prstDash val="solid"/>
          </a:ln>
        </p:spPr>
      </p:sp>
      <p:sp>
        <p:nvSpPr>
          <p:cNvPr id="13" name="Text 10"/>
          <p:cNvSpPr txBox="1"/>
          <p:nvPr/>
        </p:nvSpPr>
        <p:spPr>
          <a:xfrm>
            <a:off x="3456432" y="4846320"/>
            <a:ext cx="2286000" cy="603504"/>
          </a:xfrm>
          <a:prstGeom prst="rect">
            <a:avLst/>
          </a:prstGeom>
          <a:noFill/>
          <a:ln/>
        </p:spPr>
        <p:txBody>
          <a:bodyPr wrap="square" lIns="0" tIns="0" rIns="0" bIns="0" rtlCol="0" anchor="ctr"/>
          <a:lstStyle/>
          <a:p>
            <a:pPr indent="0" marL="0">
              <a:buNone/>
            </a:pPr>
            <a:r>
              <a:rPr lang="ja-JP" altLang="en-US" sz="1500" b="1" dirty="0">
                <a:solidFill>
                  <a:schemeClr val="accent3"/>
                </a:solidFill>
              </a:rPr>
              <a:t>04 </a:t>
            </a:r>
            <a:pPr indent="0" marL="0">
              <a:buNone/>
            </a:pPr>
            <a:r>
              <a:rPr lang="ja-JP" altLang="en-US" sz="1700" b="1" dirty="0">
                <a:solidFill>
                  <a:schemeClr val="bg1"/>
                </a:solidFill>
              </a:rPr>
              <a:t>未来を考える</a:t>
            </a:r>
            <a:endParaRPr lang="ja-JP" sz="1700" dirty="0"/>
          </a:p>
        </p:txBody>
      </p:sp>
      <p:pic>
        <p:nvPicPr>
          <p:cNvPr id="14" name="Image 0" descr="イメージ図（一般的なイラスト。実在企業の設備ではありません）">    </p:cNvPr>
          <p:cNvPicPr>
            <a:picLocks noChangeAspect="1"/>
          </p:cNvPicPr>
          <p:nvPr/>
        </p:nvPicPr>
        <p:blipFill>
          <a:blip r:embed="rId1"/>
          <a:stretch>
            <a:fillRect/>
          </a:stretch>
        </p:blipFill>
        <p:spPr>
          <a:xfrm>
            <a:off x="6172200" y="0"/>
            <a:ext cx="2971800" cy="3392424"/>
          </a:xfrm>
          <a:prstGeom prst="rect">
            <a:avLst/>
          </a:prstGeom>
        </p:spPr>
      </p:pic>
      <p:pic>
        <p:nvPicPr>
          <p:cNvPr id="15" name="Image 1" descr="イメージ図（一般的なイラスト。実在企業の設備ではありません）">    </p:cNvPr>
          <p:cNvPicPr>
            <a:picLocks noChangeAspect="1"/>
          </p:cNvPicPr>
          <p:nvPr/>
        </p:nvPicPr>
        <p:blipFill>
          <a:blip r:embed="rId2"/>
          <a:stretch>
            <a:fillRect/>
          </a:stretch>
        </p:blipFill>
        <p:spPr>
          <a:xfrm>
            <a:off x="9226296" y="0"/>
            <a:ext cx="2971800" cy="3392424"/>
          </a:xfrm>
          <a:prstGeom prst="rect">
            <a:avLst/>
          </a:prstGeom>
        </p:spPr>
      </p:pic>
      <p:pic>
        <p:nvPicPr>
          <p:cNvPr id="16" name="Image 2" descr="イメージ図（一般的なイラスト。実在企業の設備ではありません）">    </p:cNvPr>
          <p:cNvPicPr>
            <a:picLocks noChangeAspect="1"/>
          </p:cNvPicPr>
          <p:nvPr/>
        </p:nvPicPr>
        <p:blipFill>
          <a:blip r:embed="rId3"/>
          <a:stretch>
            <a:fillRect/>
          </a:stretch>
        </p:blipFill>
        <p:spPr>
          <a:xfrm>
            <a:off x="6172200" y="3465576"/>
            <a:ext cx="2971800" cy="3392424"/>
          </a:xfrm>
          <a:prstGeom prst="rect">
            <a:avLst/>
          </a:prstGeom>
        </p:spPr>
      </p:pic>
      <p:pic>
        <p:nvPicPr>
          <p:cNvPr id="17" name="Image 3" descr="イメージ図（一般的なイラスト。実在企業の設備ではありません）">    </p:cNvPr>
          <p:cNvPicPr>
            <a:picLocks noChangeAspect="1"/>
          </p:cNvPicPr>
          <p:nvPr/>
        </p:nvPicPr>
        <p:blipFill>
          <a:blip r:embed="rId4"/>
          <a:stretch>
            <a:fillRect/>
          </a:stretch>
        </p:blipFill>
        <p:spPr>
          <a:xfrm>
            <a:off x="9226296" y="3465576"/>
            <a:ext cx="2971800" cy="33924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01｜なぜ業界研究をするのか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あなたが今、興味のある業界は何ですか？</a:t>
            </a:r>
            <a:endParaRPr lang="en-US" sz="3000" dirty="0"/>
          </a:p>
        </p:txBody>
      </p:sp>
      <p:sp>
        <p:nvSpPr>
          <p:cNvPr id="5" name="Shape 2"/>
          <p:cNvSpPr/>
          <p:nvPr/>
        </p:nvSpPr>
        <p:spPr>
          <a:xfrm>
            <a:off x="685800" y="1828800"/>
            <a:ext cx="731520" cy="731520"/>
          </a:xfrm>
          <a:prstGeom prst="ellipse">
            <a:avLst/>
          </a:prstGeom>
          <a:solidFill>
            <a:schemeClr val="bg2"/>
          </a:solidFill>
          <a:ln/>
        </p:spPr>
      </p:sp>
      <p:pic>
        <p:nvPicPr>
          <p:cNvPr id="6" name="Image 0" descr="TbToolsKitchen2">    </p:cNvPr>
          <p:cNvPicPr>
            <a:picLocks noChangeAspect="1"/>
          </p:cNvPicPr>
          <p:nvPr/>
        </p:nvPicPr>
        <p:blipFill>
          <a:blip r:embed="rId1"/>
          <a:stretch>
            <a:fillRect/>
          </a:stretch>
        </p:blipFill>
        <p:spPr>
          <a:xfrm>
            <a:off x="846734" y="1989734"/>
            <a:ext cx="409651" cy="409651"/>
          </a:xfrm>
          <a:prstGeom prst="rect">
            <a:avLst/>
          </a:prstGeom>
        </p:spPr>
      </p:pic>
      <p:sp>
        <p:nvSpPr>
          <p:cNvPr id="7" name="Text 3"/>
          <p:cNvSpPr txBox="1"/>
          <p:nvPr/>
        </p:nvSpPr>
        <p:spPr>
          <a:xfrm>
            <a:off x="457200" y="2633472"/>
            <a:ext cx="1188720" cy="365760"/>
          </a:xfrm>
          <a:prstGeom prst="rect">
            <a:avLst/>
          </a:prstGeom>
          <a:noFill/>
          <a:ln/>
        </p:spPr>
        <p:txBody>
          <a:bodyPr wrap="square" lIns="0" tIns="0" rIns="0" bIns="0" rtlCol="0" anchor="t"/>
          <a:lstStyle/>
          <a:p>
            <a:pPr algn="ctr" indent="0" marL="0">
              <a:buNone/>
            </a:pPr>
            <a:r>
              <a:rPr lang="ja-JP" altLang="en-US" sz="1600" b="1" dirty="0">
                <a:solidFill>
                  <a:schemeClr val="tx2"/>
                </a:solidFill>
              </a:rPr>
              <a:t>食品</a:t>
            </a:r>
            <a:endParaRPr lang="ja-JP" sz="1600" dirty="0"/>
          </a:p>
        </p:txBody>
      </p:sp>
      <p:sp>
        <p:nvSpPr>
          <p:cNvPr id="8" name="Shape 4"/>
          <p:cNvSpPr/>
          <p:nvPr/>
        </p:nvSpPr>
        <p:spPr>
          <a:xfrm>
            <a:off x="1783080" y="1828800"/>
            <a:ext cx="731520" cy="731520"/>
          </a:xfrm>
          <a:prstGeom prst="ellipse">
            <a:avLst/>
          </a:prstGeom>
          <a:solidFill>
            <a:schemeClr val="bg2"/>
          </a:solidFill>
          <a:ln/>
        </p:spPr>
      </p:sp>
      <p:pic>
        <p:nvPicPr>
          <p:cNvPr id="9" name="Image 1" descr="TbDeviceLaptop">    </p:cNvPr>
          <p:cNvPicPr>
            <a:picLocks noChangeAspect="1"/>
          </p:cNvPicPr>
          <p:nvPr/>
        </p:nvPicPr>
        <p:blipFill>
          <a:blip r:embed="rId2"/>
          <a:stretch>
            <a:fillRect/>
          </a:stretch>
        </p:blipFill>
        <p:spPr>
          <a:xfrm>
            <a:off x="1944014" y="1989734"/>
            <a:ext cx="409651" cy="409651"/>
          </a:xfrm>
          <a:prstGeom prst="rect">
            <a:avLst/>
          </a:prstGeom>
        </p:spPr>
      </p:pic>
      <p:sp>
        <p:nvSpPr>
          <p:cNvPr id="10" name="Text 5"/>
          <p:cNvSpPr txBox="1"/>
          <p:nvPr/>
        </p:nvSpPr>
        <p:spPr>
          <a:xfrm>
            <a:off x="1554480" y="2633472"/>
            <a:ext cx="1188720" cy="365760"/>
          </a:xfrm>
          <a:prstGeom prst="rect">
            <a:avLst/>
          </a:prstGeom>
          <a:noFill/>
          <a:ln/>
        </p:spPr>
        <p:txBody>
          <a:bodyPr wrap="square" lIns="0" tIns="0" rIns="0" bIns="0" rtlCol="0" anchor="t"/>
          <a:lstStyle/>
          <a:p>
            <a:pPr algn="ctr" indent="0" marL="0">
              <a:buNone/>
            </a:pPr>
            <a:r>
              <a:rPr lang="ja-JP" altLang="en-US" sz="1600" b="1" dirty="0">
                <a:solidFill>
                  <a:schemeClr val="tx2"/>
                </a:solidFill>
              </a:rPr>
              <a:t>IT</a:t>
            </a:r>
            <a:endParaRPr lang="ja-JP" sz="1600" dirty="0"/>
          </a:p>
        </p:txBody>
      </p:sp>
      <p:sp>
        <p:nvSpPr>
          <p:cNvPr id="11" name="Shape 6"/>
          <p:cNvSpPr/>
          <p:nvPr/>
        </p:nvSpPr>
        <p:spPr>
          <a:xfrm>
            <a:off x="685800" y="3246120"/>
            <a:ext cx="731520" cy="731520"/>
          </a:xfrm>
          <a:prstGeom prst="ellipse">
            <a:avLst/>
          </a:prstGeom>
          <a:solidFill>
            <a:schemeClr val="bg2"/>
          </a:solidFill>
          <a:ln/>
        </p:spPr>
      </p:sp>
      <p:pic>
        <p:nvPicPr>
          <p:cNvPr id="12" name="Image 2" descr="TbStethoscope">    </p:cNvPr>
          <p:cNvPicPr>
            <a:picLocks noChangeAspect="1"/>
          </p:cNvPicPr>
          <p:nvPr/>
        </p:nvPicPr>
        <p:blipFill>
          <a:blip r:embed="rId3"/>
          <a:stretch>
            <a:fillRect/>
          </a:stretch>
        </p:blipFill>
        <p:spPr>
          <a:xfrm>
            <a:off x="846734" y="3407054"/>
            <a:ext cx="409651" cy="409651"/>
          </a:xfrm>
          <a:prstGeom prst="rect">
            <a:avLst/>
          </a:prstGeom>
        </p:spPr>
      </p:pic>
      <p:sp>
        <p:nvSpPr>
          <p:cNvPr id="13" name="Text 7"/>
          <p:cNvSpPr txBox="1"/>
          <p:nvPr/>
        </p:nvSpPr>
        <p:spPr>
          <a:xfrm>
            <a:off x="457200" y="4050792"/>
            <a:ext cx="1188720" cy="365760"/>
          </a:xfrm>
          <a:prstGeom prst="rect">
            <a:avLst/>
          </a:prstGeom>
          <a:noFill/>
          <a:ln/>
        </p:spPr>
        <p:txBody>
          <a:bodyPr wrap="square" lIns="0" tIns="0" rIns="0" bIns="0" rtlCol="0" anchor="t"/>
          <a:lstStyle/>
          <a:p>
            <a:pPr algn="ctr" indent="0" marL="0">
              <a:buNone/>
            </a:pPr>
            <a:r>
              <a:rPr lang="ja-JP" altLang="en-US" sz="1600" b="1" dirty="0">
                <a:solidFill>
                  <a:schemeClr val="tx2"/>
                </a:solidFill>
              </a:rPr>
              <a:t>医療</a:t>
            </a:r>
            <a:endParaRPr lang="ja-JP" sz="1600" dirty="0"/>
          </a:p>
        </p:txBody>
      </p:sp>
      <p:sp>
        <p:nvSpPr>
          <p:cNvPr id="14" name="Shape 8"/>
          <p:cNvSpPr/>
          <p:nvPr/>
        </p:nvSpPr>
        <p:spPr>
          <a:xfrm>
            <a:off x="1783080" y="3246120"/>
            <a:ext cx="731520" cy="731520"/>
          </a:xfrm>
          <a:prstGeom prst="ellipse">
            <a:avLst/>
          </a:prstGeom>
          <a:solidFill>
            <a:schemeClr val="bg2"/>
          </a:solidFill>
          <a:ln/>
        </p:spPr>
      </p:sp>
      <p:pic>
        <p:nvPicPr>
          <p:cNvPr id="15" name="Image 3" descr="TbBuildingBank">    </p:cNvPr>
          <p:cNvPicPr>
            <a:picLocks noChangeAspect="1"/>
          </p:cNvPicPr>
          <p:nvPr/>
        </p:nvPicPr>
        <p:blipFill>
          <a:blip r:embed="rId4"/>
          <a:stretch>
            <a:fillRect/>
          </a:stretch>
        </p:blipFill>
        <p:spPr>
          <a:xfrm>
            <a:off x="1944014" y="3407054"/>
            <a:ext cx="409651" cy="409651"/>
          </a:xfrm>
          <a:prstGeom prst="rect">
            <a:avLst/>
          </a:prstGeom>
        </p:spPr>
      </p:pic>
      <p:sp>
        <p:nvSpPr>
          <p:cNvPr id="16" name="Text 9"/>
          <p:cNvSpPr txBox="1"/>
          <p:nvPr/>
        </p:nvSpPr>
        <p:spPr>
          <a:xfrm>
            <a:off x="1554480" y="4050792"/>
            <a:ext cx="1188720" cy="365760"/>
          </a:xfrm>
          <a:prstGeom prst="rect">
            <a:avLst/>
          </a:prstGeom>
          <a:noFill/>
          <a:ln/>
        </p:spPr>
        <p:txBody>
          <a:bodyPr wrap="square" lIns="0" tIns="0" rIns="0" bIns="0" rtlCol="0" anchor="t"/>
          <a:lstStyle/>
          <a:p>
            <a:pPr algn="ctr" indent="0" marL="0">
              <a:buNone/>
            </a:pPr>
            <a:r>
              <a:rPr lang="ja-JP" altLang="en-US" sz="1600" b="1" dirty="0">
                <a:solidFill>
                  <a:schemeClr val="tx2"/>
                </a:solidFill>
              </a:rPr>
              <a:t>金融</a:t>
            </a:r>
            <a:endParaRPr lang="ja-JP" sz="1600" dirty="0"/>
          </a:p>
        </p:txBody>
      </p:sp>
      <p:sp>
        <p:nvSpPr>
          <p:cNvPr id="17" name="Shape 10"/>
          <p:cNvSpPr/>
          <p:nvPr/>
        </p:nvSpPr>
        <p:spPr>
          <a:xfrm>
            <a:off x="9765792" y="1828800"/>
            <a:ext cx="731520" cy="731520"/>
          </a:xfrm>
          <a:prstGeom prst="ellipse">
            <a:avLst/>
          </a:prstGeom>
          <a:solidFill>
            <a:schemeClr val="bg2"/>
          </a:solidFill>
          <a:ln/>
        </p:spPr>
      </p:sp>
      <p:pic>
        <p:nvPicPr>
          <p:cNvPr id="18" name="Image 4" descr="TbWorld">    </p:cNvPr>
          <p:cNvPicPr>
            <a:picLocks noChangeAspect="1"/>
          </p:cNvPicPr>
          <p:nvPr/>
        </p:nvPicPr>
        <p:blipFill>
          <a:blip r:embed="rId5"/>
          <a:stretch>
            <a:fillRect/>
          </a:stretch>
        </p:blipFill>
        <p:spPr>
          <a:xfrm>
            <a:off x="9926726" y="1989734"/>
            <a:ext cx="409651" cy="409651"/>
          </a:xfrm>
          <a:prstGeom prst="rect">
            <a:avLst/>
          </a:prstGeom>
        </p:spPr>
      </p:pic>
      <p:sp>
        <p:nvSpPr>
          <p:cNvPr id="19" name="Text 11"/>
          <p:cNvSpPr txBox="1"/>
          <p:nvPr/>
        </p:nvSpPr>
        <p:spPr>
          <a:xfrm>
            <a:off x="9537192" y="2633472"/>
            <a:ext cx="1188720" cy="365760"/>
          </a:xfrm>
          <a:prstGeom prst="rect">
            <a:avLst/>
          </a:prstGeom>
          <a:noFill/>
          <a:ln/>
        </p:spPr>
        <p:txBody>
          <a:bodyPr wrap="square" lIns="0" tIns="0" rIns="0" bIns="0" rtlCol="0" anchor="t"/>
          <a:lstStyle/>
          <a:p>
            <a:pPr algn="ctr" indent="0" marL="0">
              <a:buNone/>
            </a:pPr>
            <a:r>
              <a:rPr lang="ja-JP" altLang="en-US" sz="1600" b="1" dirty="0">
                <a:solidFill>
                  <a:schemeClr val="tx2"/>
                </a:solidFill>
              </a:rPr>
              <a:t>商社</a:t>
            </a:r>
            <a:endParaRPr lang="ja-JP" sz="1600" dirty="0"/>
          </a:p>
        </p:txBody>
      </p:sp>
      <p:sp>
        <p:nvSpPr>
          <p:cNvPr id="20" name="Shape 12"/>
          <p:cNvSpPr/>
          <p:nvPr/>
        </p:nvSpPr>
        <p:spPr>
          <a:xfrm>
            <a:off x="10863072" y="1828800"/>
            <a:ext cx="731520" cy="731520"/>
          </a:xfrm>
          <a:prstGeom prst="ellipse">
            <a:avLst/>
          </a:prstGeom>
          <a:solidFill>
            <a:schemeClr val="bg2"/>
          </a:solidFill>
          <a:ln/>
        </p:spPr>
      </p:sp>
      <p:pic>
        <p:nvPicPr>
          <p:cNvPr id="21" name="Image 5" descr="TbBuildingFactory2">    </p:cNvPr>
          <p:cNvPicPr>
            <a:picLocks noChangeAspect="1"/>
          </p:cNvPicPr>
          <p:nvPr/>
        </p:nvPicPr>
        <p:blipFill>
          <a:blip r:embed="rId6"/>
          <a:stretch>
            <a:fillRect/>
          </a:stretch>
        </p:blipFill>
        <p:spPr>
          <a:xfrm>
            <a:off x="11024006" y="1989734"/>
            <a:ext cx="409651" cy="409651"/>
          </a:xfrm>
          <a:prstGeom prst="rect">
            <a:avLst/>
          </a:prstGeom>
        </p:spPr>
      </p:pic>
      <p:sp>
        <p:nvSpPr>
          <p:cNvPr id="22" name="Text 13"/>
          <p:cNvSpPr txBox="1"/>
          <p:nvPr/>
        </p:nvSpPr>
        <p:spPr>
          <a:xfrm>
            <a:off x="10634472" y="2633472"/>
            <a:ext cx="1188720" cy="365760"/>
          </a:xfrm>
          <a:prstGeom prst="rect">
            <a:avLst/>
          </a:prstGeom>
          <a:noFill/>
          <a:ln/>
        </p:spPr>
        <p:txBody>
          <a:bodyPr wrap="square" lIns="0" tIns="0" rIns="0" bIns="0" rtlCol="0" anchor="t"/>
          <a:lstStyle/>
          <a:p>
            <a:pPr algn="ctr" indent="0" marL="0">
              <a:buNone/>
            </a:pPr>
            <a:r>
              <a:rPr lang="ja-JP" altLang="en-US" sz="1600" b="1" dirty="0">
                <a:solidFill>
                  <a:schemeClr val="tx2"/>
                </a:solidFill>
              </a:rPr>
              <a:t>メーカー</a:t>
            </a:r>
            <a:endParaRPr lang="ja-JP" sz="1600" dirty="0"/>
          </a:p>
        </p:txBody>
      </p:sp>
      <p:sp>
        <p:nvSpPr>
          <p:cNvPr id="23" name="Shape 14"/>
          <p:cNvSpPr/>
          <p:nvPr/>
        </p:nvSpPr>
        <p:spPr>
          <a:xfrm>
            <a:off x="9765792" y="3246120"/>
            <a:ext cx="731520" cy="731520"/>
          </a:xfrm>
          <a:prstGeom prst="ellipse">
            <a:avLst/>
          </a:prstGeom>
          <a:solidFill>
            <a:schemeClr val="bg2"/>
          </a:solidFill>
          <a:ln/>
        </p:spPr>
      </p:sp>
      <p:pic>
        <p:nvPicPr>
          <p:cNvPr id="24" name="Image 6" descr="TbSpeakerphone">    </p:cNvPr>
          <p:cNvPicPr>
            <a:picLocks noChangeAspect="1"/>
          </p:cNvPicPr>
          <p:nvPr/>
        </p:nvPicPr>
        <p:blipFill>
          <a:blip r:embed="rId7"/>
          <a:stretch>
            <a:fillRect/>
          </a:stretch>
        </p:blipFill>
        <p:spPr>
          <a:xfrm>
            <a:off x="9926726" y="3407054"/>
            <a:ext cx="409651" cy="409651"/>
          </a:xfrm>
          <a:prstGeom prst="rect">
            <a:avLst/>
          </a:prstGeom>
        </p:spPr>
      </p:pic>
      <p:sp>
        <p:nvSpPr>
          <p:cNvPr id="25" name="Text 15"/>
          <p:cNvSpPr txBox="1"/>
          <p:nvPr/>
        </p:nvSpPr>
        <p:spPr>
          <a:xfrm>
            <a:off x="9537192" y="4050792"/>
            <a:ext cx="1188720" cy="365760"/>
          </a:xfrm>
          <a:prstGeom prst="rect">
            <a:avLst/>
          </a:prstGeom>
          <a:noFill/>
          <a:ln/>
        </p:spPr>
        <p:txBody>
          <a:bodyPr wrap="square" lIns="0" tIns="0" rIns="0" bIns="0" rtlCol="0" anchor="t"/>
          <a:lstStyle/>
          <a:p>
            <a:pPr algn="ctr" indent="0" marL="0">
              <a:buNone/>
            </a:pPr>
            <a:r>
              <a:rPr lang="ja-JP" altLang="en-US" sz="1600" b="1" dirty="0">
                <a:solidFill>
                  <a:schemeClr val="tx2"/>
                </a:solidFill>
              </a:rPr>
              <a:t>広告</a:t>
            </a:r>
            <a:endParaRPr lang="ja-JP" sz="1600" dirty="0"/>
          </a:p>
        </p:txBody>
      </p:sp>
      <p:sp>
        <p:nvSpPr>
          <p:cNvPr id="26" name="Shape 16"/>
          <p:cNvSpPr/>
          <p:nvPr/>
        </p:nvSpPr>
        <p:spPr>
          <a:xfrm>
            <a:off x="10863072" y="3246120"/>
            <a:ext cx="731520" cy="731520"/>
          </a:xfrm>
          <a:prstGeom prst="ellipse">
            <a:avLst/>
          </a:prstGeom>
          <a:solidFill>
            <a:schemeClr val="bg2"/>
          </a:solidFill>
          <a:ln/>
        </p:spPr>
      </p:sp>
      <p:pic>
        <p:nvPicPr>
          <p:cNvPr id="27" name="Image 7" descr="TbTruck">    </p:cNvPr>
          <p:cNvPicPr>
            <a:picLocks noChangeAspect="1"/>
          </p:cNvPicPr>
          <p:nvPr/>
        </p:nvPicPr>
        <p:blipFill>
          <a:blip r:embed="rId8"/>
          <a:stretch>
            <a:fillRect/>
          </a:stretch>
        </p:blipFill>
        <p:spPr>
          <a:xfrm>
            <a:off x="11024006" y="3407054"/>
            <a:ext cx="409651" cy="409651"/>
          </a:xfrm>
          <a:prstGeom prst="rect">
            <a:avLst/>
          </a:prstGeom>
        </p:spPr>
      </p:pic>
      <p:sp>
        <p:nvSpPr>
          <p:cNvPr id="28" name="Text 17"/>
          <p:cNvSpPr txBox="1"/>
          <p:nvPr/>
        </p:nvSpPr>
        <p:spPr>
          <a:xfrm>
            <a:off x="10634472" y="4050792"/>
            <a:ext cx="1188720" cy="365760"/>
          </a:xfrm>
          <a:prstGeom prst="rect">
            <a:avLst/>
          </a:prstGeom>
          <a:noFill/>
          <a:ln/>
        </p:spPr>
        <p:txBody>
          <a:bodyPr wrap="square" lIns="0" tIns="0" rIns="0" bIns="0" rtlCol="0" anchor="t"/>
          <a:lstStyle/>
          <a:p>
            <a:pPr algn="ctr" indent="0" marL="0">
              <a:buNone/>
            </a:pPr>
            <a:r>
              <a:rPr lang="ja-JP" altLang="en-US" sz="1600" b="1" dirty="0">
                <a:solidFill>
                  <a:schemeClr val="tx2"/>
                </a:solidFill>
              </a:rPr>
              <a:t>物流</a:t>
            </a:r>
            <a:endParaRPr lang="ja-JP" sz="1600" dirty="0"/>
          </a:p>
        </p:txBody>
      </p:sp>
      <p:sp>
        <p:nvSpPr>
          <p:cNvPr id="29" name="Shape 18"/>
          <p:cNvSpPr/>
          <p:nvPr/>
        </p:nvSpPr>
        <p:spPr>
          <a:xfrm>
            <a:off x="2880360" y="1691640"/>
            <a:ext cx="6446520" cy="2651760"/>
          </a:xfrm>
          <a:prstGeom prst="roundRect">
            <a:avLst>
              <a:gd name="adj" fmla="val 6897"/>
            </a:avLst>
          </a:prstGeom>
          <a:solidFill>
            <a:schemeClr val="bg2"/>
          </a:solidFill>
          <a:ln/>
        </p:spPr>
      </p:sp>
      <p:sp>
        <p:nvSpPr>
          <p:cNvPr id="30" name="Text 19"/>
          <p:cNvSpPr txBox="1"/>
          <p:nvPr/>
        </p:nvSpPr>
        <p:spPr>
          <a:xfrm>
            <a:off x="3154680" y="1920240"/>
            <a:ext cx="5897880" cy="1234440"/>
          </a:xfrm>
          <a:prstGeom prst="rect">
            <a:avLst/>
          </a:prstGeom>
          <a:noFill/>
          <a:ln/>
        </p:spPr>
        <p:txBody>
          <a:bodyPr wrap="square" lIns="0" tIns="0" rIns="0" bIns="0" rtlCol="0" anchor="ctr"/>
          <a:lstStyle/>
          <a:p>
            <a:pPr algn="ctr" indent="0" marL="0">
              <a:buNone/>
            </a:pPr>
            <a:r>
              <a:rPr lang="ja-JP" altLang="en-US" sz="3200" b="1" dirty="0">
                <a:solidFill>
                  <a:schemeClr val="tx2"/>
                </a:solidFill>
              </a:rPr>
              <a:t>いま興味のある業界を、</a:t>
            </a:r>
            <a:endParaRPr lang="ja-JP" sz="3200" dirty="0"/>
          </a:p>
          <a:p>
            <a:pPr algn="ctr" indent="0" marL="0">
              <a:buNone/>
            </a:pPr>
            <a:r>
              <a:rPr lang="ja-JP" altLang="en-US" sz="3200" b="1" dirty="0">
                <a:solidFill>
                  <a:schemeClr val="tx2"/>
                </a:solidFill>
              </a:rPr>
              <a:t>1〜3個思い浮かべよう。</a:t>
            </a:r>
            <a:endParaRPr lang="ja-JP" sz="3200" dirty="0"/>
          </a:p>
        </p:txBody>
      </p:sp>
      <p:sp>
        <p:nvSpPr>
          <p:cNvPr id="31" name="Text 20"/>
          <p:cNvSpPr txBox="1"/>
          <p:nvPr/>
        </p:nvSpPr>
        <p:spPr>
          <a:xfrm>
            <a:off x="3154680" y="3337560"/>
            <a:ext cx="5897880" cy="548640"/>
          </a:xfrm>
          <a:prstGeom prst="rect">
            <a:avLst/>
          </a:prstGeom>
          <a:noFill/>
          <a:ln/>
        </p:spPr>
        <p:txBody>
          <a:bodyPr wrap="square" lIns="0" tIns="0" rIns="0" bIns="0" rtlCol="0" anchor="ctr"/>
          <a:lstStyle/>
          <a:p>
            <a:pPr algn="ctr" indent="0" marL="0">
              <a:buNone/>
            </a:pPr>
            <a:r>
              <a:rPr lang="ja-JP" altLang="en-US" sz="2200" b="1" dirty="0">
                <a:solidFill>
                  <a:schemeClr val="accent1"/>
                </a:solidFill>
              </a:rPr>
              <a:t>「その業界を知ったきっかけ」は何だろう？</a:t>
            </a:r>
            <a:endParaRPr lang="ja-JP" sz="2200" dirty="0"/>
          </a:p>
        </p:txBody>
      </p:sp>
      <p:sp>
        <p:nvSpPr>
          <p:cNvPr id="32" name="Text 21"/>
          <p:cNvSpPr txBox="1"/>
          <p:nvPr/>
        </p:nvSpPr>
        <p:spPr>
          <a:xfrm>
            <a:off x="2880360" y="4526280"/>
            <a:ext cx="6446520" cy="320040"/>
          </a:xfrm>
          <a:prstGeom prst="rect">
            <a:avLst/>
          </a:prstGeom>
          <a:noFill/>
          <a:ln/>
        </p:spPr>
        <p:txBody>
          <a:bodyPr wrap="square" lIns="0" tIns="0" rIns="0" bIns="0" rtlCol="0" anchor="t"/>
          <a:lstStyle/>
          <a:p>
            <a:pPr algn="ctr" indent="0" marL="0">
              <a:buNone/>
            </a:pPr>
            <a:r>
              <a:rPr lang="ja-JP" altLang="en-US" sz="1600" b="1" dirty="0">
                <a:solidFill>
                  <a:schemeClr val="accent4"/>
                </a:solidFill>
              </a:rPr>
              <a:t>きっかけの例</a:t>
            </a:r>
            <a:endParaRPr lang="ja-JP" sz="1600" dirty="0"/>
          </a:p>
        </p:txBody>
      </p:sp>
      <p:sp>
        <p:nvSpPr>
          <p:cNvPr id="33" name="Text 22"/>
          <p:cNvSpPr txBox="1"/>
          <p:nvPr/>
        </p:nvSpPr>
        <p:spPr>
          <a:xfrm>
            <a:off x="1161288" y="4937760"/>
            <a:ext cx="2377440" cy="54864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800" b="1" dirty="0">
                <a:solidFill>
                  <a:schemeClr val="tx2"/>
                </a:solidFill>
              </a:rPr>
              <a:t>商品を使った</a:t>
            </a:r>
            <a:endParaRPr lang="ja-JP" sz="1800" dirty="0"/>
          </a:p>
        </p:txBody>
      </p:sp>
      <p:sp>
        <p:nvSpPr>
          <p:cNvPr id="34" name="Text 23"/>
          <p:cNvSpPr txBox="1"/>
          <p:nvPr/>
        </p:nvSpPr>
        <p:spPr>
          <a:xfrm>
            <a:off x="3675888" y="4937760"/>
            <a:ext cx="2377440" cy="54864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800" b="1" dirty="0">
                <a:solidFill>
                  <a:schemeClr val="tx2"/>
                </a:solidFill>
              </a:rPr>
              <a:t>ニュースで見た</a:t>
            </a:r>
            <a:endParaRPr lang="ja-JP" sz="1800" dirty="0"/>
          </a:p>
        </p:txBody>
      </p:sp>
      <p:sp>
        <p:nvSpPr>
          <p:cNvPr id="35" name="Text 24"/>
          <p:cNvSpPr txBox="1"/>
          <p:nvPr/>
        </p:nvSpPr>
        <p:spPr>
          <a:xfrm>
            <a:off x="6190488" y="4937760"/>
            <a:ext cx="2377440" cy="54864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800" b="1" dirty="0">
                <a:solidFill>
                  <a:schemeClr val="tx2"/>
                </a:solidFill>
              </a:rPr>
              <a:t>家族の仕事</a:t>
            </a:r>
            <a:endParaRPr lang="ja-JP" sz="1800" dirty="0"/>
          </a:p>
        </p:txBody>
      </p:sp>
      <p:sp>
        <p:nvSpPr>
          <p:cNvPr id="36" name="Text 25"/>
          <p:cNvSpPr txBox="1"/>
          <p:nvPr/>
        </p:nvSpPr>
        <p:spPr>
          <a:xfrm>
            <a:off x="8705088" y="4937760"/>
            <a:ext cx="2377440" cy="54864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800" b="1" dirty="0">
                <a:solidFill>
                  <a:schemeClr val="tx2"/>
                </a:solidFill>
              </a:rPr>
              <a:t>働き方のイメージ…</a:t>
            </a:r>
            <a:endParaRPr lang="ja-JP" sz="18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01｜なぜ業界研究をするのか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東証33業種で、世の中の企業を眺めてみる</a:t>
            </a:r>
            <a:endParaRPr lang="en-US" sz="3000" dirty="0"/>
          </a:p>
        </p:txBody>
      </p:sp>
      <p:sp>
        <p:nvSpPr>
          <p:cNvPr id="5" name="Shape 2"/>
          <p:cNvSpPr/>
          <p:nvPr/>
        </p:nvSpPr>
        <p:spPr>
          <a:xfrm>
            <a:off x="548640" y="1691640"/>
            <a:ext cx="2551176" cy="320040"/>
          </a:xfrm>
          <a:prstGeom prst="roundRect">
            <a:avLst>
              <a:gd name="adj" fmla="val 17143"/>
            </a:avLst>
          </a:prstGeom>
          <a:solidFill>
            <a:schemeClr val="bg2"/>
          </a:solidFill>
          <a:ln/>
        </p:spPr>
      </p:sp>
      <p:sp>
        <p:nvSpPr>
          <p:cNvPr id="6" name="Text 3"/>
          <p:cNvSpPr txBox="1"/>
          <p:nvPr/>
        </p:nvSpPr>
        <p:spPr>
          <a:xfrm>
            <a:off x="676656" y="1691640"/>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水産・農林業</a:t>
            </a:r>
            <a:endParaRPr lang="ja-JP" sz="1600" dirty="0"/>
          </a:p>
        </p:txBody>
      </p:sp>
      <p:sp>
        <p:nvSpPr>
          <p:cNvPr id="7" name="Shape 4"/>
          <p:cNvSpPr/>
          <p:nvPr/>
        </p:nvSpPr>
        <p:spPr>
          <a:xfrm>
            <a:off x="548640" y="2061972"/>
            <a:ext cx="2551176" cy="320040"/>
          </a:xfrm>
          <a:prstGeom prst="roundRect">
            <a:avLst>
              <a:gd name="adj" fmla="val 17143"/>
            </a:avLst>
          </a:prstGeom>
          <a:solidFill>
            <a:schemeClr val="bg2"/>
          </a:solidFill>
          <a:ln/>
        </p:spPr>
      </p:sp>
      <p:sp>
        <p:nvSpPr>
          <p:cNvPr id="8" name="Text 5"/>
          <p:cNvSpPr txBox="1"/>
          <p:nvPr/>
        </p:nvSpPr>
        <p:spPr>
          <a:xfrm>
            <a:off x="676656" y="2061972"/>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鉱業</a:t>
            </a:r>
            <a:endParaRPr lang="ja-JP" sz="1600" dirty="0"/>
          </a:p>
        </p:txBody>
      </p:sp>
      <p:sp>
        <p:nvSpPr>
          <p:cNvPr id="9" name="Shape 6"/>
          <p:cNvSpPr/>
          <p:nvPr/>
        </p:nvSpPr>
        <p:spPr>
          <a:xfrm>
            <a:off x="548640" y="2432304"/>
            <a:ext cx="2551176" cy="320040"/>
          </a:xfrm>
          <a:prstGeom prst="roundRect">
            <a:avLst>
              <a:gd name="adj" fmla="val 17143"/>
            </a:avLst>
          </a:prstGeom>
          <a:solidFill>
            <a:schemeClr val="bg2"/>
          </a:solidFill>
          <a:ln/>
        </p:spPr>
      </p:sp>
      <p:sp>
        <p:nvSpPr>
          <p:cNvPr id="10" name="Text 7"/>
          <p:cNvSpPr txBox="1"/>
          <p:nvPr/>
        </p:nvSpPr>
        <p:spPr>
          <a:xfrm>
            <a:off x="676656" y="2432304"/>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建設業</a:t>
            </a:r>
            <a:endParaRPr lang="ja-JP" sz="1600" dirty="0"/>
          </a:p>
        </p:txBody>
      </p:sp>
      <p:sp>
        <p:nvSpPr>
          <p:cNvPr id="11" name="Shape 8"/>
          <p:cNvSpPr/>
          <p:nvPr/>
        </p:nvSpPr>
        <p:spPr>
          <a:xfrm>
            <a:off x="548640" y="2802636"/>
            <a:ext cx="2551176" cy="320040"/>
          </a:xfrm>
          <a:prstGeom prst="roundRect">
            <a:avLst>
              <a:gd name="adj" fmla="val 17143"/>
            </a:avLst>
          </a:prstGeom>
          <a:solidFill>
            <a:schemeClr val="bg2"/>
          </a:solidFill>
          <a:ln/>
        </p:spPr>
      </p:sp>
      <p:sp>
        <p:nvSpPr>
          <p:cNvPr id="12" name="Text 9"/>
          <p:cNvSpPr txBox="1"/>
          <p:nvPr/>
        </p:nvSpPr>
        <p:spPr>
          <a:xfrm>
            <a:off x="676656" y="2802636"/>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食料品</a:t>
            </a:r>
            <a:endParaRPr lang="ja-JP" sz="1600" dirty="0"/>
          </a:p>
        </p:txBody>
      </p:sp>
      <p:sp>
        <p:nvSpPr>
          <p:cNvPr id="13" name="Shape 10"/>
          <p:cNvSpPr/>
          <p:nvPr/>
        </p:nvSpPr>
        <p:spPr>
          <a:xfrm>
            <a:off x="548640" y="3172968"/>
            <a:ext cx="2551176" cy="320040"/>
          </a:xfrm>
          <a:prstGeom prst="roundRect">
            <a:avLst>
              <a:gd name="adj" fmla="val 17143"/>
            </a:avLst>
          </a:prstGeom>
          <a:solidFill>
            <a:schemeClr val="bg2"/>
          </a:solidFill>
          <a:ln/>
        </p:spPr>
      </p:sp>
      <p:sp>
        <p:nvSpPr>
          <p:cNvPr id="14" name="Text 11"/>
          <p:cNvSpPr txBox="1"/>
          <p:nvPr/>
        </p:nvSpPr>
        <p:spPr>
          <a:xfrm>
            <a:off x="676656" y="3172968"/>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繊維製品</a:t>
            </a:r>
            <a:endParaRPr lang="ja-JP" sz="1600" dirty="0"/>
          </a:p>
        </p:txBody>
      </p:sp>
      <p:sp>
        <p:nvSpPr>
          <p:cNvPr id="15" name="Shape 12"/>
          <p:cNvSpPr/>
          <p:nvPr/>
        </p:nvSpPr>
        <p:spPr>
          <a:xfrm>
            <a:off x="548640" y="3543300"/>
            <a:ext cx="2551176" cy="320040"/>
          </a:xfrm>
          <a:prstGeom prst="roundRect">
            <a:avLst>
              <a:gd name="adj" fmla="val 17143"/>
            </a:avLst>
          </a:prstGeom>
          <a:solidFill>
            <a:schemeClr val="bg2"/>
          </a:solidFill>
          <a:ln/>
        </p:spPr>
      </p:sp>
      <p:sp>
        <p:nvSpPr>
          <p:cNvPr id="16" name="Text 13"/>
          <p:cNvSpPr txBox="1"/>
          <p:nvPr/>
        </p:nvSpPr>
        <p:spPr>
          <a:xfrm>
            <a:off x="676656" y="3543300"/>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パルプ・紙</a:t>
            </a:r>
            <a:endParaRPr lang="ja-JP" sz="1600" dirty="0"/>
          </a:p>
        </p:txBody>
      </p:sp>
      <p:sp>
        <p:nvSpPr>
          <p:cNvPr id="17" name="Shape 14"/>
          <p:cNvSpPr/>
          <p:nvPr/>
        </p:nvSpPr>
        <p:spPr>
          <a:xfrm>
            <a:off x="548640" y="3913632"/>
            <a:ext cx="2551176" cy="320040"/>
          </a:xfrm>
          <a:prstGeom prst="roundRect">
            <a:avLst>
              <a:gd name="adj" fmla="val 17143"/>
            </a:avLst>
          </a:prstGeom>
          <a:solidFill>
            <a:schemeClr val="bg2"/>
          </a:solidFill>
          <a:ln/>
        </p:spPr>
      </p:sp>
      <p:sp>
        <p:nvSpPr>
          <p:cNvPr id="18" name="Text 15"/>
          <p:cNvSpPr txBox="1"/>
          <p:nvPr/>
        </p:nvSpPr>
        <p:spPr>
          <a:xfrm>
            <a:off x="676656" y="3913632"/>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化学</a:t>
            </a:r>
            <a:endParaRPr lang="ja-JP" sz="1600" dirty="0"/>
          </a:p>
        </p:txBody>
      </p:sp>
      <p:sp>
        <p:nvSpPr>
          <p:cNvPr id="19" name="Shape 16"/>
          <p:cNvSpPr/>
          <p:nvPr/>
        </p:nvSpPr>
        <p:spPr>
          <a:xfrm>
            <a:off x="548640" y="4283964"/>
            <a:ext cx="2551176" cy="320040"/>
          </a:xfrm>
          <a:prstGeom prst="roundRect">
            <a:avLst>
              <a:gd name="adj" fmla="val 17143"/>
            </a:avLst>
          </a:prstGeom>
          <a:solidFill>
            <a:schemeClr val="bg2"/>
          </a:solidFill>
          <a:ln/>
        </p:spPr>
      </p:sp>
      <p:sp>
        <p:nvSpPr>
          <p:cNvPr id="20" name="Text 17"/>
          <p:cNvSpPr txBox="1"/>
          <p:nvPr/>
        </p:nvSpPr>
        <p:spPr>
          <a:xfrm>
            <a:off x="676656" y="4283964"/>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医薬品</a:t>
            </a:r>
            <a:endParaRPr lang="ja-JP" sz="1600" dirty="0"/>
          </a:p>
        </p:txBody>
      </p:sp>
      <p:sp>
        <p:nvSpPr>
          <p:cNvPr id="21" name="Shape 18"/>
          <p:cNvSpPr/>
          <p:nvPr/>
        </p:nvSpPr>
        <p:spPr>
          <a:xfrm>
            <a:off x="548640" y="4654296"/>
            <a:ext cx="2551176" cy="320040"/>
          </a:xfrm>
          <a:prstGeom prst="roundRect">
            <a:avLst>
              <a:gd name="adj" fmla="val 17143"/>
            </a:avLst>
          </a:prstGeom>
          <a:solidFill>
            <a:schemeClr val="bg2"/>
          </a:solidFill>
          <a:ln/>
        </p:spPr>
      </p:sp>
      <p:sp>
        <p:nvSpPr>
          <p:cNvPr id="22" name="Text 19"/>
          <p:cNvSpPr txBox="1"/>
          <p:nvPr/>
        </p:nvSpPr>
        <p:spPr>
          <a:xfrm>
            <a:off x="676656" y="4654296"/>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石油・石炭製品</a:t>
            </a:r>
            <a:endParaRPr lang="ja-JP" sz="1600" dirty="0"/>
          </a:p>
        </p:txBody>
      </p:sp>
      <p:sp>
        <p:nvSpPr>
          <p:cNvPr id="23" name="Shape 20"/>
          <p:cNvSpPr/>
          <p:nvPr/>
        </p:nvSpPr>
        <p:spPr>
          <a:xfrm>
            <a:off x="548640" y="5024628"/>
            <a:ext cx="2551176" cy="320040"/>
          </a:xfrm>
          <a:prstGeom prst="roundRect">
            <a:avLst>
              <a:gd name="adj" fmla="val 17143"/>
            </a:avLst>
          </a:prstGeom>
          <a:solidFill>
            <a:schemeClr val="bg2"/>
          </a:solidFill>
          <a:ln/>
        </p:spPr>
      </p:sp>
      <p:sp>
        <p:nvSpPr>
          <p:cNvPr id="24" name="Text 21"/>
          <p:cNvSpPr txBox="1"/>
          <p:nvPr/>
        </p:nvSpPr>
        <p:spPr>
          <a:xfrm>
            <a:off x="676656" y="5024628"/>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ゴム製品</a:t>
            </a:r>
            <a:endParaRPr lang="ja-JP" sz="1600" dirty="0"/>
          </a:p>
        </p:txBody>
      </p:sp>
      <p:sp>
        <p:nvSpPr>
          <p:cNvPr id="25" name="Shape 22"/>
          <p:cNvSpPr/>
          <p:nvPr/>
        </p:nvSpPr>
        <p:spPr>
          <a:xfrm>
            <a:off x="548640" y="5394960"/>
            <a:ext cx="2551176" cy="320040"/>
          </a:xfrm>
          <a:prstGeom prst="roundRect">
            <a:avLst>
              <a:gd name="adj" fmla="val 17143"/>
            </a:avLst>
          </a:prstGeom>
          <a:solidFill>
            <a:schemeClr val="bg2"/>
          </a:solidFill>
          <a:ln/>
        </p:spPr>
      </p:sp>
      <p:sp>
        <p:nvSpPr>
          <p:cNvPr id="26" name="Text 23"/>
          <p:cNvSpPr txBox="1"/>
          <p:nvPr/>
        </p:nvSpPr>
        <p:spPr>
          <a:xfrm>
            <a:off x="676656" y="5394960"/>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ガラス・土石製品</a:t>
            </a:r>
            <a:endParaRPr lang="ja-JP" sz="1600" dirty="0"/>
          </a:p>
        </p:txBody>
      </p:sp>
      <p:sp>
        <p:nvSpPr>
          <p:cNvPr id="27" name="Shape 24"/>
          <p:cNvSpPr/>
          <p:nvPr/>
        </p:nvSpPr>
        <p:spPr>
          <a:xfrm>
            <a:off x="3209544" y="1691640"/>
            <a:ext cx="2551176" cy="320040"/>
          </a:xfrm>
          <a:prstGeom prst="roundRect">
            <a:avLst>
              <a:gd name="adj" fmla="val 17143"/>
            </a:avLst>
          </a:prstGeom>
          <a:solidFill>
            <a:schemeClr val="accent1"/>
          </a:solidFill>
          <a:ln/>
        </p:spPr>
      </p:sp>
      <p:sp>
        <p:nvSpPr>
          <p:cNvPr id="28" name="Text 25"/>
          <p:cNvSpPr txBox="1"/>
          <p:nvPr/>
        </p:nvSpPr>
        <p:spPr>
          <a:xfrm>
            <a:off x="3337560" y="1691640"/>
            <a:ext cx="2368296" cy="320040"/>
          </a:xfrm>
          <a:prstGeom prst="rect">
            <a:avLst/>
          </a:prstGeom>
          <a:noFill/>
          <a:ln/>
        </p:spPr>
        <p:txBody>
          <a:bodyPr wrap="square" lIns="0" tIns="0" rIns="0" bIns="0" rtlCol="0" anchor="ctr"/>
          <a:lstStyle/>
          <a:p>
            <a:pPr indent="0" marL="0">
              <a:buNone/>
            </a:pPr>
            <a:r>
              <a:rPr lang="ja-JP" altLang="en-US" sz="1600" b="1" dirty="0">
                <a:solidFill>
                  <a:schemeClr val="bg1"/>
                </a:solidFill>
              </a:rPr>
              <a:t>鉄鋼</a:t>
            </a:r>
            <a:endParaRPr lang="ja-JP" sz="1600" dirty="0"/>
          </a:p>
        </p:txBody>
      </p:sp>
      <p:sp>
        <p:nvSpPr>
          <p:cNvPr id="29" name="Shape 26"/>
          <p:cNvSpPr/>
          <p:nvPr/>
        </p:nvSpPr>
        <p:spPr>
          <a:xfrm>
            <a:off x="3209544" y="2061972"/>
            <a:ext cx="2551176" cy="320040"/>
          </a:xfrm>
          <a:prstGeom prst="roundRect">
            <a:avLst>
              <a:gd name="adj" fmla="val 17143"/>
            </a:avLst>
          </a:prstGeom>
          <a:solidFill>
            <a:schemeClr val="accent1"/>
          </a:solidFill>
          <a:ln/>
        </p:spPr>
      </p:sp>
      <p:sp>
        <p:nvSpPr>
          <p:cNvPr id="30" name="Text 27"/>
          <p:cNvSpPr txBox="1"/>
          <p:nvPr/>
        </p:nvSpPr>
        <p:spPr>
          <a:xfrm>
            <a:off x="3337560" y="2061972"/>
            <a:ext cx="2368296" cy="320040"/>
          </a:xfrm>
          <a:prstGeom prst="rect">
            <a:avLst/>
          </a:prstGeom>
          <a:noFill/>
          <a:ln/>
        </p:spPr>
        <p:txBody>
          <a:bodyPr wrap="square" lIns="0" tIns="0" rIns="0" bIns="0" rtlCol="0" anchor="ctr"/>
          <a:lstStyle/>
          <a:p>
            <a:pPr indent="0" marL="0">
              <a:buNone/>
            </a:pPr>
            <a:r>
              <a:rPr lang="ja-JP" altLang="en-US" sz="1600" b="1" dirty="0">
                <a:solidFill>
                  <a:schemeClr val="bg1"/>
                </a:solidFill>
              </a:rPr>
              <a:t>非鉄金属</a:t>
            </a:r>
            <a:endParaRPr lang="ja-JP" sz="1600" dirty="0"/>
          </a:p>
        </p:txBody>
      </p:sp>
      <p:sp>
        <p:nvSpPr>
          <p:cNvPr id="31" name="Shape 28"/>
          <p:cNvSpPr/>
          <p:nvPr/>
        </p:nvSpPr>
        <p:spPr>
          <a:xfrm>
            <a:off x="3209544" y="2432304"/>
            <a:ext cx="2551176" cy="320040"/>
          </a:xfrm>
          <a:prstGeom prst="roundRect">
            <a:avLst>
              <a:gd name="adj" fmla="val 17143"/>
            </a:avLst>
          </a:prstGeom>
          <a:solidFill>
            <a:schemeClr val="accent1"/>
          </a:solidFill>
          <a:ln/>
        </p:spPr>
      </p:sp>
      <p:sp>
        <p:nvSpPr>
          <p:cNvPr id="32" name="Text 29"/>
          <p:cNvSpPr txBox="1"/>
          <p:nvPr/>
        </p:nvSpPr>
        <p:spPr>
          <a:xfrm>
            <a:off x="3337560" y="2432304"/>
            <a:ext cx="2368296" cy="320040"/>
          </a:xfrm>
          <a:prstGeom prst="rect">
            <a:avLst/>
          </a:prstGeom>
          <a:noFill/>
          <a:ln/>
        </p:spPr>
        <p:txBody>
          <a:bodyPr wrap="square" lIns="0" tIns="0" rIns="0" bIns="0" rtlCol="0" anchor="ctr"/>
          <a:lstStyle/>
          <a:p>
            <a:pPr indent="0" marL="0">
              <a:buNone/>
            </a:pPr>
            <a:r>
              <a:rPr lang="ja-JP" altLang="en-US" sz="1600" b="1" dirty="0">
                <a:solidFill>
                  <a:schemeClr val="bg1"/>
                </a:solidFill>
              </a:rPr>
              <a:t>金属製品</a:t>
            </a:r>
            <a:endParaRPr lang="ja-JP" sz="1600" dirty="0"/>
          </a:p>
        </p:txBody>
      </p:sp>
      <p:sp>
        <p:nvSpPr>
          <p:cNvPr id="33" name="Shape 30"/>
          <p:cNvSpPr/>
          <p:nvPr/>
        </p:nvSpPr>
        <p:spPr>
          <a:xfrm>
            <a:off x="3209544" y="2802636"/>
            <a:ext cx="2551176" cy="320040"/>
          </a:xfrm>
          <a:prstGeom prst="roundRect">
            <a:avLst>
              <a:gd name="adj" fmla="val 17143"/>
            </a:avLst>
          </a:prstGeom>
          <a:solidFill>
            <a:schemeClr val="bg2"/>
          </a:solidFill>
          <a:ln/>
        </p:spPr>
      </p:sp>
      <p:sp>
        <p:nvSpPr>
          <p:cNvPr id="34" name="Text 31"/>
          <p:cNvSpPr txBox="1"/>
          <p:nvPr/>
        </p:nvSpPr>
        <p:spPr>
          <a:xfrm>
            <a:off x="3337560" y="2802636"/>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機械</a:t>
            </a:r>
            <a:endParaRPr lang="ja-JP" sz="1600" dirty="0"/>
          </a:p>
        </p:txBody>
      </p:sp>
      <p:sp>
        <p:nvSpPr>
          <p:cNvPr id="35" name="Shape 32"/>
          <p:cNvSpPr/>
          <p:nvPr/>
        </p:nvSpPr>
        <p:spPr>
          <a:xfrm>
            <a:off x="3209544" y="3172968"/>
            <a:ext cx="2551176" cy="320040"/>
          </a:xfrm>
          <a:prstGeom prst="roundRect">
            <a:avLst>
              <a:gd name="adj" fmla="val 17143"/>
            </a:avLst>
          </a:prstGeom>
          <a:solidFill>
            <a:schemeClr val="bg2"/>
          </a:solidFill>
          <a:ln/>
        </p:spPr>
      </p:sp>
      <p:sp>
        <p:nvSpPr>
          <p:cNvPr id="36" name="Text 33"/>
          <p:cNvSpPr txBox="1"/>
          <p:nvPr/>
        </p:nvSpPr>
        <p:spPr>
          <a:xfrm>
            <a:off x="3337560" y="3172968"/>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電気機器</a:t>
            </a:r>
            <a:endParaRPr lang="ja-JP" sz="1600" dirty="0"/>
          </a:p>
        </p:txBody>
      </p:sp>
      <p:sp>
        <p:nvSpPr>
          <p:cNvPr id="37" name="Shape 34"/>
          <p:cNvSpPr/>
          <p:nvPr/>
        </p:nvSpPr>
        <p:spPr>
          <a:xfrm>
            <a:off x="3209544" y="3543300"/>
            <a:ext cx="2551176" cy="320040"/>
          </a:xfrm>
          <a:prstGeom prst="roundRect">
            <a:avLst>
              <a:gd name="adj" fmla="val 17143"/>
            </a:avLst>
          </a:prstGeom>
          <a:solidFill>
            <a:schemeClr val="bg2"/>
          </a:solidFill>
          <a:ln/>
        </p:spPr>
      </p:sp>
      <p:sp>
        <p:nvSpPr>
          <p:cNvPr id="38" name="Text 35"/>
          <p:cNvSpPr txBox="1"/>
          <p:nvPr/>
        </p:nvSpPr>
        <p:spPr>
          <a:xfrm>
            <a:off x="3337560" y="3543300"/>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輸送用機器</a:t>
            </a:r>
            <a:endParaRPr lang="ja-JP" sz="1600" dirty="0"/>
          </a:p>
        </p:txBody>
      </p:sp>
      <p:sp>
        <p:nvSpPr>
          <p:cNvPr id="39" name="Shape 36"/>
          <p:cNvSpPr/>
          <p:nvPr/>
        </p:nvSpPr>
        <p:spPr>
          <a:xfrm>
            <a:off x="3209544" y="3913632"/>
            <a:ext cx="2551176" cy="320040"/>
          </a:xfrm>
          <a:prstGeom prst="roundRect">
            <a:avLst>
              <a:gd name="adj" fmla="val 17143"/>
            </a:avLst>
          </a:prstGeom>
          <a:solidFill>
            <a:schemeClr val="bg2"/>
          </a:solidFill>
          <a:ln/>
        </p:spPr>
      </p:sp>
      <p:sp>
        <p:nvSpPr>
          <p:cNvPr id="40" name="Text 37"/>
          <p:cNvSpPr txBox="1"/>
          <p:nvPr/>
        </p:nvSpPr>
        <p:spPr>
          <a:xfrm>
            <a:off x="3337560" y="3913632"/>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精密機器</a:t>
            </a:r>
            <a:endParaRPr lang="ja-JP" sz="1600" dirty="0"/>
          </a:p>
        </p:txBody>
      </p:sp>
      <p:sp>
        <p:nvSpPr>
          <p:cNvPr id="41" name="Shape 38"/>
          <p:cNvSpPr/>
          <p:nvPr/>
        </p:nvSpPr>
        <p:spPr>
          <a:xfrm>
            <a:off x="3209544" y="4283964"/>
            <a:ext cx="2551176" cy="320040"/>
          </a:xfrm>
          <a:prstGeom prst="roundRect">
            <a:avLst>
              <a:gd name="adj" fmla="val 17143"/>
            </a:avLst>
          </a:prstGeom>
          <a:solidFill>
            <a:schemeClr val="bg2"/>
          </a:solidFill>
          <a:ln/>
        </p:spPr>
      </p:sp>
      <p:sp>
        <p:nvSpPr>
          <p:cNvPr id="42" name="Text 39"/>
          <p:cNvSpPr txBox="1"/>
          <p:nvPr/>
        </p:nvSpPr>
        <p:spPr>
          <a:xfrm>
            <a:off x="3337560" y="4283964"/>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その他製品</a:t>
            </a:r>
            <a:endParaRPr lang="ja-JP" sz="1600" dirty="0"/>
          </a:p>
        </p:txBody>
      </p:sp>
      <p:sp>
        <p:nvSpPr>
          <p:cNvPr id="43" name="Shape 40"/>
          <p:cNvSpPr/>
          <p:nvPr/>
        </p:nvSpPr>
        <p:spPr>
          <a:xfrm>
            <a:off x="3209544" y="4654296"/>
            <a:ext cx="2551176" cy="320040"/>
          </a:xfrm>
          <a:prstGeom prst="roundRect">
            <a:avLst>
              <a:gd name="adj" fmla="val 17143"/>
            </a:avLst>
          </a:prstGeom>
          <a:solidFill>
            <a:schemeClr val="bg2"/>
          </a:solidFill>
          <a:ln/>
        </p:spPr>
      </p:sp>
      <p:sp>
        <p:nvSpPr>
          <p:cNvPr id="44" name="Text 41"/>
          <p:cNvSpPr txBox="1"/>
          <p:nvPr/>
        </p:nvSpPr>
        <p:spPr>
          <a:xfrm>
            <a:off x="3337560" y="4654296"/>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電気・ガス業</a:t>
            </a:r>
            <a:endParaRPr lang="ja-JP" sz="1600" dirty="0"/>
          </a:p>
        </p:txBody>
      </p:sp>
      <p:sp>
        <p:nvSpPr>
          <p:cNvPr id="45" name="Shape 42"/>
          <p:cNvSpPr/>
          <p:nvPr/>
        </p:nvSpPr>
        <p:spPr>
          <a:xfrm>
            <a:off x="3209544" y="5024628"/>
            <a:ext cx="2551176" cy="320040"/>
          </a:xfrm>
          <a:prstGeom prst="roundRect">
            <a:avLst>
              <a:gd name="adj" fmla="val 17143"/>
            </a:avLst>
          </a:prstGeom>
          <a:solidFill>
            <a:schemeClr val="bg2"/>
          </a:solidFill>
          <a:ln/>
        </p:spPr>
      </p:sp>
      <p:sp>
        <p:nvSpPr>
          <p:cNvPr id="46" name="Text 43"/>
          <p:cNvSpPr txBox="1"/>
          <p:nvPr/>
        </p:nvSpPr>
        <p:spPr>
          <a:xfrm>
            <a:off x="3337560" y="5024628"/>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陸運業</a:t>
            </a:r>
            <a:endParaRPr lang="ja-JP" sz="1600" dirty="0"/>
          </a:p>
        </p:txBody>
      </p:sp>
      <p:sp>
        <p:nvSpPr>
          <p:cNvPr id="47" name="Shape 44"/>
          <p:cNvSpPr/>
          <p:nvPr/>
        </p:nvSpPr>
        <p:spPr>
          <a:xfrm>
            <a:off x="3209544" y="5394960"/>
            <a:ext cx="2551176" cy="320040"/>
          </a:xfrm>
          <a:prstGeom prst="roundRect">
            <a:avLst>
              <a:gd name="adj" fmla="val 17143"/>
            </a:avLst>
          </a:prstGeom>
          <a:solidFill>
            <a:schemeClr val="bg2"/>
          </a:solidFill>
          <a:ln/>
        </p:spPr>
      </p:sp>
      <p:sp>
        <p:nvSpPr>
          <p:cNvPr id="48" name="Text 45"/>
          <p:cNvSpPr txBox="1"/>
          <p:nvPr/>
        </p:nvSpPr>
        <p:spPr>
          <a:xfrm>
            <a:off x="3337560" y="5394960"/>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海運業</a:t>
            </a:r>
            <a:endParaRPr lang="ja-JP" sz="1600" dirty="0"/>
          </a:p>
        </p:txBody>
      </p:sp>
      <p:sp>
        <p:nvSpPr>
          <p:cNvPr id="49" name="Shape 46"/>
          <p:cNvSpPr/>
          <p:nvPr/>
        </p:nvSpPr>
        <p:spPr>
          <a:xfrm>
            <a:off x="5870448" y="1691640"/>
            <a:ext cx="2551176" cy="320040"/>
          </a:xfrm>
          <a:prstGeom prst="roundRect">
            <a:avLst>
              <a:gd name="adj" fmla="val 17143"/>
            </a:avLst>
          </a:prstGeom>
          <a:solidFill>
            <a:schemeClr val="bg2"/>
          </a:solidFill>
          <a:ln/>
        </p:spPr>
      </p:sp>
      <p:sp>
        <p:nvSpPr>
          <p:cNvPr id="50" name="Text 47"/>
          <p:cNvSpPr txBox="1"/>
          <p:nvPr/>
        </p:nvSpPr>
        <p:spPr>
          <a:xfrm>
            <a:off x="5998464" y="1691640"/>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空運業</a:t>
            </a:r>
            <a:endParaRPr lang="ja-JP" sz="1600" dirty="0"/>
          </a:p>
        </p:txBody>
      </p:sp>
      <p:sp>
        <p:nvSpPr>
          <p:cNvPr id="51" name="Shape 48"/>
          <p:cNvSpPr/>
          <p:nvPr/>
        </p:nvSpPr>
        <p:spPr>
          <a:xfrm>
            <a:off x="5870448" y="2061972"/>
            <a:ext cx="2551176" cy="320040"/>
          </a:xfrm>
          <a:prstGeom prst="roundRect">
            <a:avLst>
              <a:gd name="adj" fmla="val 17143"/>
            </a:avLst>
          </a:prstGeom>
          <a:solidFill>
            <a:schemeClr val="bg2"/>
          </a:solidFill>
          <a:ln/>
        </p:spPr>
      </p:sp>
      <p:sp>
        <p:nvSpPr>
          <p:cNvPr id="52" name="Text 49"/>
          <p:cNvSpPr txBox="1"/>
          <p:nvPr/>
        </p:nvSpPr>
        <p:spPr>
          <a:xfrm>
            <a:off x="5998464" y="2061972"/>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倉庫・運輸関連業</a:t>
            </a:r>
            <a:endParaRPr lang="ja-JP" sz="1600" dirty="0"/>
          </a:p>
        </p:txBody>
      </p:sp>
      <p:sp>
        <p:nvSpPr>
          <p:cNvPr id="53" name="Shape 50"/>
          <p:cNvSpPr/>
          <p:nvPr/>
        </p:nvSpPr>
        <p:spPr>
          <a:xfrm>
            <a:off x="5870448" y="2432304"/>
            <a:ext cx="2551176" cy="320040"/>
          </a:xfrm>
          <a:prstGeom prst="roundRect">
            <a:avLst>
              <a:gd name="adj" fmla="val 17143"/>
            </a:avLst>
          </a:prstGeom>
          <a:solidFill>
            <a:schemeClr val="bg2"/>
          </a:solidFill>
          <a:ln/>
        </p:spPr>
      </p:sp>
      <p:sp>
        <p:nvSpPr>
          <p:cNvPr id="54" name="Text 51"/>
          <p:cNvSpPr txBox="1"/>
          <p:nvPr/>
        </p:nvSpPr>
        <p:spPr>
          <a:xfrm>
            <a:off x="5998464" y="2432304"/>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情報・通信業</a:t>
            </a:r>
            <a:endParaRPr lang="ja-JP" sz="1600" dirty="0"/>
          </a:p>
        </p:txBody>
      </p:sp>
      <p:sp>
        <p:nvSpPr>
          <p:cNvPr id="55" name="Shape 52"/>
          <p:cNvSpPr/>
          <p:nvPr/>
        </p:nvSpPr>
        <p:spPr>
          <a:xfrm>
            <a:off x="5870448" y="2802636"/>
            <a:ext cx="2551176" cy="320040"/>
          </a:xfrm>
          <a:prstGeom prst="roundRect">
            <a:avLst>
              <a:gd name="adj" fmla="val 17143"/>
            </a:avLst>
          </a:prstGeom>
          <a:solidFill>
            <a:schemeClr val="accent1"/>
          </a:solidFill>
          <a:ln/>
        </p:spPr>
      </p:sp>
      <p:sp>
        <p:nvSpPr>
          <p:cNvPr id="56" name="Text 53"/>
          <p:cNvSpPr txBox="1"/>
          <p:nvPr/>
        </p:nvSpPr>
        <p:spPr>
          <a:xfrm>
            <a:off x="5998464" y="2802636"/>
            <a:ext cx="2368296" cy="320040"/>
          </a:xfrm>
          <a:prstGeom prst="rect">
            <a:avLst/>
          </a:prstGeom>
          <a:noFill/>
          <a:ln/>
        </p:spPr>
        <p:txBody>
          <a:bodyPr wrap="square" lIns="0" tIns="0" rIns="0" bIns="0" rtlCol="0" anchor="ctr"/>
          <a:lstStyle/>
          <a:p>
            <a:pPr indent="0" marL="0">
              <a:buNone/>
            </a:pPr>
            <a:r>
              <a:rPr lang="ja-JP" altLang="en-US" sz="1600" b="1" dirty="0">
                <a:solidFill>
                  <a:schemeClr val="bg1"/>
                </a:solidFill>
              </a:rPr>
              <a:t>卸売業</a:t>
            </a:r>
            <a:endParaRPr lang="ja-JP" sz="1600" dirty="0"/>
          </a:p>
        </p:txBody>
      </p:sp>
      <p:sp>
        <p:nvSpPr>
          <p:cNvPr id="57" name="Shape 54"/>
          <p:cNvSpPr/>
          <p:nvPr/>
        </p:nvSpPr>
        <p:spPr>
          <a:xfrm>
            <a:off x="5870448" y="3172968"/>
            <a:ext cx="2551176" cy="320040"/>
          </a:xfrm>
          <a:prstGeom prst="roundRect">
            <a:avLst>
              <a:gd name="adj" fmla="val 17143"/>
            </a:avLst>
          </a:prstGeom>
          <a:solidFill>
            <a:schemeClr val="bg2"/>
          </a:solidFill>
          <a:ln/>
        </p:spPr>
      </p:sp>
      <p:sp>
        <p:nvSpPr>
          <p:cNvPr id="58" name="Text 55"/>
          <p:cNvSpPr txBox="1"/>
          <p:nvPr/>
        </p:nvSpPr>
        <p:spPr>
          <a:xfrm>
            <a:off x="5998464" y="3172968"/>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小売業</a:t>
            </a:r>
            <a:endParaRPr lang="ja-JP" sz="1600" dirty="0"/>
          </a:p>
        </p:txBody>
      </p:sp>
      <p:sp>
        <p:nvSpPr>
          <p:cNvPr id="59" name="Shape 56"/>
          <p:cNvSpPr/>
          <p:nvPr/>
        </p:nvSpPr>
        <p:spPr>
          <a:xfrm>
            <a:off x="5870448" y="3543300"/>
            <a:ext cx="2551176" cy="320040"/>
          </a:xfrm>
          <a:prstGeom prst="roundRect">
            <a:avLst>
              <a:gd name="adj" fmla="val 17143"/>
            </a:avLst>
          </a:prstGeom>
          <a:solidFill>
            <a:schemeClr val="bg2"/>
          </a:solidFill>
          <a:ln/>
        </p:spPr>
      </p:sp>
      <p:sp>
        <p:nvSpPr>
          <p:cNvPr id="60" name="Text 57"/>
          <p:cNvSpPr txBox="1"/>
          <p:nvPr/>
        </p:nvSpPr>
        <p:spPr>
          <a:xfrm>
            <a:off x="5998464" y="3543300"/>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銀行業</a:t>
            </a:r>
            <a:endParaRPr lang="ja-JP" sz="1600" dirty="0"/>
          </a:p>
        </p:txBody>
      </p:sp>
      <p:sp>
        <p:nvSpPr>
          <p:cNvPr id="61" name="Shape 58"/>
          <p:cNvSpPr/>
          <p:nvPr/>
        </p:nvSpPr>
        <p:spPr>
          <a:xfrm>
            <a:off x="5870448" y="3913632"/>
            <a:ext cx="2551176" cy="320040"/>
          </a:xfrm>
          <a:prstGeom prst="roundRect">
            <a:avLst>
              <a:gd name="adj" fmla="val 17143"/>
            </a:avLst>
          </a:prstGeom>
          <a:solidFill>
            <a:schemeClr val="bg2"/>
          </a:solidFill>
          <a:ln/>
        </p:spPr>
      </p:sp>
      <p:sp>
        <p:nvSpPr>
          <p:cNvPr id="62" name="Text 59"/>
          <p:cNvSpPr txBox="1"/>
          <p:nvPr/>
        </p:nvSpPr>
        <p:spPr>
          <a:xfrm>
            <a:off x="5998464" y="3913632"/>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証券・商品先物取引業</a:t>
            </a:r>
            <a:endParaRPr lang="ja-JP" sz="1600" dirty="0"/>
          </a:p>
        </p:txBody>
      </p:sp>
      <p:sp>
        <p:nvSpPr>
          <p:cNvPr id="63" name="Shape 60"/>
          <p:cNvSpPr/>
          <p:nvPr/>
        </p:nvSpPr>
        <p:spPr>
          <a:xfrm>
            <a:off x="5870448" y="4283964"/>
            <a:ext cx="2551176" cy="320040"/>
          </a:xfrm>
          <a:prstGeom prst="roundRect">
            <a:avLst>
              <a:gd name="adj" fmla="val 17143"/>
            </a:avLst>
          </a:prstGeom>
          <a:solidFill>
            <a:schemeClr val="bg2"/>
          </a:solidFill>
          <a:ln/>
        </p:spPr>
      </p:sp>
      <p:sp>
        <p:nvSpPr>
          <p:cNvPr id="64" name="Text 61"/>
          <p:cNvSpPr txBox="1"/>
          <p:nvPr/>
        </p:nvSpPr>
        <p:spPr>
          <a:xfrm>
            <a:off x="5998464" y="4283964"/>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保険業</a:t>
            </a:r>
            <a:endParaRPr lang="ja-JP" sz="1600" dirty="0"/>
          </a:p>
        </p:txBody>
      </p:sp>
      <p:sp>
        <p:nvSpPr>
          <p:cNvPr id="65" name="Shape 62"/>
          <p:cNvSpPr/>
          <p:nvPr/>
        </p:nvSpPr>
        <p:spPr>
          <a:xfrm>
            <a:off x="5870448" y="4654296"/>
            <a:ext cx="2551176" cy="320040"/>
          </a:xfrm>
          <a:prstGeom prst="roundRect">
            <a:avLst>
              <a:gd name="adj" fmla="val 17143"/>
            </a:avLst>
          </a:prstGeom>
          <a:solidFill>
            <a:schemeClr val="bg2"/>
          </a:solidFill>
          <a:ln/>
        </p:spPr>
      </p:sp>
      <p:sp>
        <p:nvSpPr>
          <p:cNvPr id="66" name="Text 63"/>
          <p:cNvSpPr txBox="1"/>
          <p:nvPr/>
        </p:nvSpPr>
        <p:spPr>
          <a:xfrm>
            <a:off x="5998464" y="4654296"/>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その他金融業</a:t>
            </a:r>
            <a:endParaRPr lang="ja-JP" sz="1600" dirty="0"/>
          </a:p>
        </p:txBody>
      </p:sp>
      <p:sp>
        <p:nvSpPr>
          <p:cNvPr id="67" name="Shape 64"/>
          <p:cNvSpPr/>
          <p:nvPr/>
        </p:nvSpPr>
        <p:spPr>
          <a:xfrm>
            <a:off x="5870448" y="5024628"/>
            <a:ext cx="2551176" cy="320040"/>
          </a:xfrm>
          <a:prstGeom prst="roundRect">
            <a:avLst>
              <a:gd name="adj" fmla="val 17143"/>
            </a:avLst>
          </a:prstGeom>
          <a:solidFill>
            <a:schemeClr val="bg2"/>
          </a:solidFill>
          <a:ln/>
        </p:spPr>
      </p:sp>
      <p:sp>
        <p:nvSpPr>
          <p:cNvPr id="68" name="Text 65"/>
          <p:cNvSpPr txBox="1"/>
          <p:nvPr/>
        </p:nvSpPr>
        <p:spPr>
          <a:xfrm>
            <a:off x="5998464" y="5024628"/>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不動産業</a:t>
            </a:r>
            <a:endParaRPr lang="ja-JP" sz="1600" dirty="0"/>
          </a:p>
        </p:txBody>
      </p:sp>
      <p:sp>
        <p:nvSpPr>
          <p:cNvPr id="69" name="Shape 66"/>
          <p:cNvSpPr/>
          <p:nvPr/>
        </p:nvSpPr>
        <p:spPr>
          <a:xfrm>
            <a:off x="5870448" y="5394960"/>
            <a:ext cx="2551176" cy="320040"/>
          </a:xfrm>
          <a:prstGeom prst="roundRect">
            <a:avLst>
              <a:gd name="adj" fmla="val 17143"/>
            </a:avLst>
          </a:prstGeom>
          <a:solidFill>
            <a:schemeClr val="bg2"/>
          </a:solidFill>
          <a:ln/>
        </p:spPr>
      </p:sp>
      <p:sp>
        <p:nvSpPr>
          <p:cNvPr id="70" name="Text 67"/>
          <p:cNvSpPr txBox="1"/>
          <p:nvPr/>
        </p:nvSpPr>
        <p:spPr>
          <a:xfrm>
            <a:off x="5998464" y="5394960"/>
            <a:ext cx="2368296" cy="320040"/>
          </a:xfrm>
          <a:prstGeom prst="rect">
            <a:avLst/>
          </a:prstGeom>
          <a:noFill/>
          <a:ln/>
        </p:spPr>
        <p:txBody>
          <a:bodyPr wrap="square" lIns="0" tIns="0" rIns="0" bIns="0" rtlCol="0" anchor="ctr"/>
          <a:lstStyle/>
          <a:p>
            <a:pPr indent="0" marL="0">
              <a:buNone/>
            </a:pPr>
            <a:r>
              <a:rPr lang="ja-JP" altLang="en-US" sz="1600" dirty="0">
                <a:solidFill>
                  <a:schemeClr val="tx2"/>
                </a:solidFill>
              </a:rPr>
              <a:t>サービス業</a:t>
            </a:r>
            <a:endParaRPr lang="ja-JP" sz="1600" dirty="0"/>
          </a:p>
        </p:txBody>
      </p:sp>
      <p:sp>
        <p:nvSpPr>
          <p:cNvPr id="71" name="Text 68"/>
          <p:cNvSpPr txBox="1"/>
          <p:nvPr/>
        </p:nvSpPr>
        <p:spPr>
          <a:xfrm>
            <a:off x="8732520" y="1691640"/>
            <a:ext cx="2907792" cy="411480"/>
          </a:xfrm>
          <a:prstGeom prst="rect">
            <a:avLst/>
          </a:prstGeom>
          <a:noFill/>
          <a:ln/>
        </p:spPr>
        <p:txBody>
          <a:bodyPr wrap="square" lIns="0" tIns="0" rIns="0" bIns="0" rtlCol="0" anchor="t"/>
          <a:lstStyle/>
          <a:p>
            <a:pPr indent="0" marL="0">
              <a:buNone/>
            </a:pPr>
            <a:r>
              <a:rPr lang="ja-JP" altLang="en-US" sz="2400" b="1" dirty="0">
                <a:solidFill>
                  <a:schemeClr val="tx2"/>
                </a:solidFill>
              </a:rPr>
              <a:t>東証33業種</a:t>
            </a:r>
            <a:endParaRPr lang="ja-JP" sz="2400" dirty="0"/>
          </a:p>
        </p:txBody>
      </p:sp>
      <p:sp>
        <p:nvSpPr>
          <p:cNvPr id="72" name="Text 69"/>
          <p:cNvSpPr txBox="1"/>
          <p:nvPr/>
        </p:nvSpPr>
        <p:spPr>
          <a:xfrm>
            <a:off x="8732520" y="2121408"/>
            <a:ext cx="2907792" cy="640080"/>
          </a:xfrm>
          <a:prstGeom prst="rect">
            <a:avLst/>
          </a:prstGeom>
          <a:noFill/>
          <a:ln/>
        </p:spPr>
        <p:txBody>
          <a:bodyPr wrap="square" lIns="0" tIns="0" rIns="0" bIns="0" rtlCol="0" anchor="t"/>
          <a:lstStyle/>
          <a:p>
            <a:pPr indent="0" marL="0">
              <a:buNone/>
            </a:pPr>
            <a:r>
              <a:rPr lang="ja-JP" altLang="en-US" sz="1800" dirty="0">
                <a:solidFill>
                  <a:schemeClr val="tx1"/>
                </a:solidFill>
              </a:rPr>
              <a:t>上場企業を分ける「ひとつの地図」</a:t>
            </a:r>
            <a:endParaRPr lang="ja-JP" sz="1800" dirty="0"/>
          </a:p>
        </p:txBody>
      </p:sp>
      <p:sp>
        <p:nvSpPr>
          <p:cNvPr id="73" name="Shape 70"/>
          <p:cNvSpPr/>
          <p:nvPr/>
        </p:nvSpPr>
        <p:spPr>
          <a:xfrm>
            <a:off x="8732520" y="2926080"/>
            <a:ext cx="2907792" cy="1417320"/>
          </a:xfrm>
          <a:prstGeom prst="roundRect">
            <a:avLst>
              <a:gd name="adj" fmla="val 7742"/>
            </a:avLst>
          </a:prstGeom>
          <a:solidFill>
            <a:schemeClr val="bg2"/>
          </a:solidFill>
          <a:ln/>
        </p:spPr>
      </p:sp>
      <p:pic>
        <p:nvPicPr>
          <p:cNvPr id="74" name="Image 0" descr="TbSearch">    </p:cNvPr>
          <p:cNvPicPr>
            <a:picLocks noChangeAspect="1"/>
          </p:cNvPicPr>
          <p:nvPr/>
        </p:nvPicPr>
        <p:blipFill>
          <a:blip r:embed="rId1"/>
          <a:stretch>
            <a:fillRect/>
          </a:stretch>
        </p:blipFill>
        <p:spPr>
          <a:xfrm>
            <a:off x="8915400" y="3063240"/>
            <a:ext cx="411480" cy="411480"/>
          </a:xfrm>
          <a:prstGeom prst="rect">
            <a:avLst/>
          </a:prstGeom>
        </p:spPr>
      </p:pic>
      <p:sp>
        <p:nvSpPr>
          <p:cNvPr id="75" name="Text 71"/>
          <p:cNvSpPr txBox="1"/>
          <p:nvPr/>
        </p:nvSpPr>
        <p:spPr>
          <a:xfrm>
            <a:off x="9418320" y="3081528"/>
            <a:ext cx="2148840" cy="384048"/>
          </a:xfrm>
          <a:prstGeom prst="rect">
            <a:avLst/>
          </a:prstGeom>
          <a:noFill/>
          <a:ln/>
        </p:spPr>
        <p:txBody>
          <a:bodyPr wrap="square" lIns="0" tIns="0" rIns="0" bIns="0" rtlCol="0" anchor="ctr"/>
          <a:lstStyle/>
          <a:p>
            <a:pPr indent="0" marL="0">
              <a:buNone/>
            </a:pPr>
            <a:r>
              <a:rPr lang="ja-JP" altLang="en-US" sz="1800" b="1" dirty="0">
                <a:solidFill>
                  <a:schemeClr val="tx2"/>
                </a:solidFill>
              </a:rPr>
              <a:t>知っている業種は？</a:t>
            </a:r>
            <a:endParaRPr lang="ja-JP" sz="1800" dirty="0"/>
          </a:p>
        </p:txBody>
      </p:sp>
      <p:sp>
        <p:nvSpPr>
          <p:cNvPr id="76" name="Text 72"/>
          <p:cNvSpPr txBox="1"/>
          <p:nvPr/>
        </p:nvSpPr>
        <p:spPr>
          <a:xfrm>
            <a:off x="8915400" y="3566160"/>
            <a:ext cx="2606040" cy="685800"/>
          </a:xfrm>
          <a:prstGeom prst="rect">
            <a:avLst/>
          </a:prstGeom>
          <a:noFill/>
          <a:ln/>
        </p:spPr>
        <p:txBody>
          <a:bodyPr wrap="square" lIns="0" tIns="0" rIns="0" bIns="0" rtlCol="0" anchor="t"/>
          <a:lstStyle/>
          <a:p>
            <a:pPr indent="0" marL="0">
              <a:buNone/>
            </a:pPr>
            <a:r>
              <a:rPr lang="ja-JP" altLang="en-US" sz="1800" b="1" dirty="0">
                <a:solidFill>
                  <a:schemeClr val="tx2"/>
                </a:solidFill>
              </a:rPr>
              <a:t>企業名まで</a:t>
            </a:r>
            <a:endParaRPr lang="ja-JP" sz="1800" dirty="0"/>
          </a:p>
          <a:p>
            <a:pPr indent="0" marL="0">
              <a:buNone/>
            </a:pPr>
            <a:r>
              <a:rPr lang="ja-JP" altLang="en-US" sz="1800" b="1" dirty="0">
                <a:solidFill>
                  <a:schemeClr val="tx2"/>
                </a:solidFill>
              </a:rPr>
              <a:t>思い浮かぶ業種は？</a:t>
            </a:r>
            <a:endParaRPr lang="ja-JP" sz="1800" dirty="0"/>
          </a:p>
        </p:txBody>
      </p:sp>
      <p:sp>
        <p:nvSpPr>
          <p:cNvPr id="77" name="Shape 73"/>
          <p:cNvSpPr/>
          <p:nvPr/>
        </p:nvSpPr>
        <p:spPr>
          <a:xfrm>
            <a:off x="8778240" y="4572000"/>
            <a:ext cx="292608" cy="292608"/>
          </a:xfrm>
          <a:prstGeom prst="roundRect">
            <a:avLst>
              <a:gd name="adj" fmla="val 15625"/>
            </a:avLst>
          </a:prstGeom>
          <a:solidFill>
            <a:schemeClr val="accent1"/>
          </a:solidFill>
          <a:ln/>
        </p:spPr>
      </p:sp>
      <p:sp>
        <p:nvSpPr>
          <p:cNvPr id="78" name="Text 74"/>
          <p:cNvSpPr txBox="1"/>
          <p:nvPr/>
        </p:nvSpPr>
        <p:spPr>
          <a:xfrm>
            <a:off x="9162288" y="4544568"/>
            <a:ext cx="2468880" cy="347472"/>
          </a:xfrm>
          <a:prstGeom prst="rect">
            <a:avLst/>
          </a:prstGeom>
          <a:noFill/>
          <a:ln/>
        </p:spPr>
        <p:txBody>
          <a:bodyPr wrap="square" lIns="0" tIns="0" rIns="0" bIns="0" rtlCol="0" anchor="ctr"/>
          <a:lstStyle/>
          <a:p>
            <a:pPr indent="0" marL="0">
              <a:buNone/>
            </a:pPr>
            <a:r>
              <a:rPr lang="ja-JP" altLang="en-US" sz="1800" b="1" dirty="0">
                <a:solidFill>
                  <a:schemeClr val="accent1"/>
                </a:solidFill>
              </a:rPr>
              <a:t>今回と関わる業種</a:t>
            </a:r>
            <a:endParaRPr lang="ja-JP" sz="1800" dirty="0"/>
          </a:p>
        </p:txBody>
      </p:sp>
      <p:sp>
        <p:nvSpPr>
          <p:cNvPr id="79" name="Text 75"/>
          <p:cNvSpPr txBox="1"/>
          <p:nvPr/>
        </p:nvSpPr>
        <p:spPr>
          <a:xfrm>
            <a:off x="8778240" y="4956048"/>
            <a:ext cx="2862072" cy="731520"/>
          </a:xfrm>
          <a:prstGeom prst="rect">
            <a:avLst/>
          </a:prstGeom>
          <a:noFill/>
          <a:ln/>
        </p:spPr>
        <p:txBody>
          <a:bodyPr wrap="square" lIns="0" tIns="0" rIns="0" bIns="0" rtlCol="0" anchor="t"/>
          <a:lstStyle/>
          <a:p>
            <a:pPr indent="0" marL="0">
              <a:buNone/>
            </a:pPr>
            <a:r>
              <a:rPr lang="ja-JP" altLang="en-US" sz="1800" dirty="0">
                <a:solidFill>
                  <a:schemeClr val="tx1"/>
                </a:solidFill>
              </a:rPr>
              <a:t>鉄鋼／非鉄金属／</a:t>
            </a:r>
            <a:endParaRPr lang="ja-JP" sz="1800" dirty="0"/>
          </a:p>
          <a:p>
            <a:pPr indent="0" marL="0">
              <a:buNone/>
            </a:pPr>
            <a:r>
              <a:rPr lang="ja-JP" altLang="en-US" sz="1800" dirty="0">
                <a:solidFill>
                  <a:schemeClr val="tx1"/>
                </a:solidFill>
              </a:rPr>
              <a:t>金属製品／卸売業</a:t>
            </a:r>
            <a:endParaRPr lang="ja-JP" sz="1800" dirty="0"/>
          </a:p>
        </p:txBody>
      </p:sp>
      <p:sp>
        <p:nvSpPr>
          <p:cNvPr id="80" name="Text 76"/>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※東証33業種は市場向けの分類で、就活の業界分類や「金属産業全体」とは完全には一致しない。　出典：JPX/J-Quants 業種一覧</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01｜なぜ業界研究をするのか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知っている企業＝興味のある企業？</a:t>
            </a:r>
            <a:endParaRPr lang="en-US" sz="3000" dirty="0"/>
          </a:p>
        </p:txBody>
      </p:sp>
      <p:sp>
        <p:nvSpPr>
          <p:cNvPr id="5" name="Shape 2"/>
          <p:cNvSpPr/>
          <p:nvPr/>
        </p:nvSpPr>
        <p:spPr>
          <a:xfrm>
            <a:off x="548640" y="1645920"/>
            <a:ext cx="5413248" cy="3474720"/>
          </a:xfrm>
          <a:prstGeom prst="roundRect">
            <a:avLst>
              <a:gd name="adj" fmla="val 4737"/>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pic>
        <p:nvPicPr>
          <p:cNvPr id="6" name="Image 0" descr="イメージ図（一般的なイラスト。実在企業の設備ではありません）">    </p:cNvPr>
          <p:cNvPicPr>
            <a:picLocks noChangeAspect="1"/>
          </p:cNvPicPr>
          <p:nvPr/>
        </p:nvPicPr>
        <p:blipFill>
          <a:blip r:embed="rId1"/>
          <a:stretch>
            <a:fillRect/>
          </a:stretch>
        </p:blipFill>
        <p:spPr>
          <a:xfrm>
            <a:off x="749808" y="1847088"/>
            <a:ext cx="5010912" cy="2011680"/>
          </a:xfrm>
          <a:prstGeom prst="rect">
            <a:avLst/>
          </a:prstGeom>
        </p:spPr>
      </p:pic>
      <p:sp>
        <p:nvSpPr>
          <p:cNvPr id="7" name="Text 3"/>
          <p:cNvSpPr txBox="1"/>
          <p:nvPr/>
        </p:nvSpPr>
        <p:spPr>
          <a:xfrm>
            <a:off x="914400" y="2011680"/>
            <a:ext cx="2103120" cy="384048"/>
          </a:xfrm>
          <a:prstGeom prst="roundRect">
            <a:avLst>
              <a:gd name="adj" fmla="val 50000"/>
            </a:avLst>
          </a:prstGeom>
          <a:solidFill>
            <a:schemeClr val="tx2"/>
          </a:solidFill>
          <a:ln/>
        </p:spPr>
        <p:txBody>
          <a:bodyPr wrap="square" lIns="0" tIns="0" rIns="0" bIns="0" rtlCol="0" anchor="ctr"/>
          <a:lstStyle/>
          <a:p>
            <a:pPr algn="ctr" indent="0" marL="0">
              <a:buNone/>
            </a:pPr>
            <a:r>
              <a:rPr lang="ja-JP" altLang="en-US" sz="1400" b="1" dirty="0">
                <a:solidFill>
                  <a:schemeClr val="bg1"/>
                </a:solidFill>
              </a:rPr>
              <a:t>生活者向け（BtoC）</a:t>
            </a:r>
            <a:endParaRPr lang="ja-JP" sz="1400" dirty="0"/>
          </a:p>
        </p:txBody>
      </p:sp>
      <p:sp>
        <p:nvSpPr>
          <p:cNvPr id="8" name="Text 4"/>
          <p:cNvSpPr txBox="1"/>
          <p:nvPr/>
        </p:nvSpPr>
        <p:spPr>
          <a:xfrm>
            <a:off x="822960" y="4023360"/>
            <a:ext cx="4846320" cy="457200"/>
          </a:xfrm>
          <a:prstGeom prst="rect">
            <a:avLst/>
          </a:prstGeom>
          <a:noFill/>
          <a:ln/>
        </p:spPr>
        <p:txBody>
          <a:bodyPr wrap="square" lIns="0" tIns="0" rIns="0" bIns="0" rtlCol="0" anchor="t"/>
          <a:lstStyle/>
          <a:p>
            <a:pPr indent="0" marL="0">
              <a:buNone/>
            </a:pPr>
            <a:r>
              <a:rPr lang="ja-JP" altLang="en-US" sz="2400" b="1" dirty="0">
                <a:solidFill>
                  <a:schemeClr val="tx2"/>
                </a:solidFill>
              </a:rPr>
              <a:t>よく見かける企業</a:t>
            </a:r>
            <a:endParaRPr lang="ja-JP" sz="2400" dirty="0"/>
          </a:p>
        </p:txBody>
      </p:sp>
      <p:sp>
        <p:nvSpPr>
          <p:cNvPr id="9" name="Text 5"/>
          <p:cNvSpPr txBox="1"/>
          <p:nvPr/>
        </p:nvSpPr>
        <p:spPr>
          <a:xfrm>
            <a:off x="822960" y="4526280"/>
            <a:ext cx="4846320" cy="411480"/>
          </a:xfrm>
          <a:prstGeom prst="rect">
            <a:avLst/>
          </a:prstGeom>
          <a:noFill/>
          <a:ln/>
        </p:spPr>
        <p:txBody>
          <a:bodyPr wrap="square" lIns="0" tIns="0" rIns="0" bIns="0" rtlCol="0" anchor="t"/>
          <a:lstStyle/>
          <a:p>
            <a:pPr indent="0" marL="0">
              <a:buNone/>
            </a:pPr>
            <a:r>
              <a:rPr lang="ja-JP" altLang="en-US" sz="2000" b="1" dirty="0">
                <a:solidFill>
                  <a:schemeClr val="accent1"/>
                </a:solidFill>
              </a:rPr>
              <a:t>食品・化粧品・アプリ・ゲーム</a:t>
            </a:r>
            <a:endParaRPr lang="ja-JP" sz="2000" dirty="0"/>
          </a:p>
        </p:txBody>
      </p:sp>
      <p:sp>
        <p:nvSpPr>
          <p:cNvPr id="10" name="Shape 6"/>
          <p:cNvSpPr/>
          <p:nvPr/>
        </p:nvSpPr>
        <p:spPr>
          <a:xfrm>
            <a:off x="6227064" y="1645920"/>
            <a:ext cx="5413248" cy="3474720"/>
          </a:xfrm>
          <a:prstGeom prst="roundRect">
            <a:avLst>
              <a:gd name="adj" fmla="val 4737"/>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pic>
        <p:nvPicPr>
          <p:cNvPr id="11" name="Image 1" descr="イメージ図（一般的なイラスト。実在企業の設備ではありません）">    </p:cNvPr>
          <p:cNvPicPr>
            <a:picLocks noChangeAspect="1"/>
          </p:cNvPicPr>
          <p:nvPr/>
        </p:nvPicPr>
        <p:blipFill>
          <a:blip r:embed="rId2"/>
          <a:stretch>
            <a:fillRect/>
          </a:stretch>
        </p:blipFill>
        <p:spPr>
          <a:xfrm>
            <a:off x="6428232" y="1847088"/>
            <a:ext cx="5010912" cy="2011680"/>
          </a:xfrm>
          <a:prstGeom prst="rect">
            <a:avLst/>
          </a:prstGeom>
        </p:spPr>
      </p:pic>
      <p:sp>
        <p:nvSpPr>
          <p:cNvPr id="12" name="Text 7"/>
          <p:cNvSpPr txBox="1"/>
          <p:nvPr/>
        </p:nvSpPr>
        <p:spPr>
          <a:xfrm>
            <a:off x="6592824" y="2011680"/>
            <a:ext cx="2103120" cy="384048"/>
          </a:xfrm>
          <a:prstGeom prst="roundRect">
            <a:avLst>
              <a:gd name="adj" fmla="val 50000"/>
            </a:avLst>
          </a:prstGeom>
          <a:solidFill>
            <a:schemeClr val="tx2"/>
          </a:solidFill>
          <a:ln/>
        </p:spPr>
        <p:txBody>
          <a:bodyPr wrap="square" lIns="0" tIns="0" rIns="0" bIns="0" rtlCol="0" anchor="ctr"/>
          <a:lstStyle/>
          <a:p>
            <a:pPr algn="ctr" indent="0" marL="0">
              <a:buNone/>
            </a:pPr>
            <a:r>
              <a:rPr lang="ja-JP" altLang="en-US" sz="1400" b="1" dirty="0">
                <a:solidFill>
                  <a:schemeClr val="bg1"/>
                </a:solidFill>
              </a:rPr>
              <a:t>企業向け（BtoB）</a:t>
            </a:r>
            <a:endParaRPr lang="ja-JP" sz="1400" dirty="0"/>
          </a:p>
        </p:txBody>
      </p:sp>
      <p:sp>
        <p:nvSpPr>
          <p:cNvPr id="13" name="Text 8"/>
          <p:cNvSpPr txBox="1"/>
          <p:nvPr/>
        </p:nvSpPr>
        <p:spPr>
          <a:xfrm>
            <a:off x="6501384" y="4023360"/>
            <a:ext cx="4846320" cy="457200"/>
          </a:xfrm>
          <a:prstGeom prst="rect">
            <a:avLst/>
          </a:prstGeom>
          <a:noFill/>
          <a:ln/>
        </p:spPr>
        <p:txBody>
          <a:bodyPr wrap="square" lIns="0" tIns="0" rIns="0" bIns="0" rtlCol="0" anchor="t"/>
          <a:lstStyle/>
          <a:p>
            <a:pPr indent="0" marL="0">
              <a:buNone/>
            </a:pPr>
            <a:r>
              <a:rPr lang="ja-JP" altLang="en-US" sz="2400" b="1" dirty="0">
                <a:solidFill>
                  <a:schemeClr val="tx2"/>
                </a:solidFill>
              </a:rPr>
              <a:t>名前を見にくい企業</a:t>
            </a:r>
            <a:endParaRPr lang="ja-JP" sz="2400" dirty="0"/>
          </a:p>
        </p:txBody>
      </p:sp>
      <p:sp>
        <p:nvSpPr>
          <p:cNvPr id="14" name="Text 9"/>
          <p:cNvSpPr txBox="1"/>
          <p:nvPr/>
        </p:nvSpPr>
        <p:spPr>
          <a:xfrm>
            <a:off x="6501384" y="4526280"/>
            <a:ext cx="4846320" cy="411480"/>
          </a:xfrm>
          <a:prstGeom prst="rect">
            <a:avLst/>
          </a:prstGeom>
          <a:noFill/>
          <a:ln/>
        </p:spPr>
        <p:txBody>
          <a:bodyPr wrap="square" lIns="0" tIns="0" rIns="0" bIns="0" rtlCol="0" anchor="t"/>
          <a:lstStyle/>
          <a:p>
            <a:pPr indent="0" marL="0">
              <a:buNone/>
            </a:pPr>
            <a:r>
              <a:rPr lang="ja-JP" altLang="en-US" sz="2000" b="1" dirty="0">
                <a:solidFill>
                  <a:schemeClr val="accent1"/>
                </a:solidFill>
              </a:rPr>
              <a:t>素材・部品・設備・専門商社</a:t>
            </a:r>
            <a:endParaRPr lang="ja-JP" sz="2000" dirty="0"/>
          </a:p>
        </p:txBody>
      </p:sp>
      <p:sp>
        <p:nvSpPr>
          <p:cNvPr id="15" name="Shape 10"/>
          <p:cNvSpPr/>
          <p:nvPr/>
        </p:nvSpPr>
        <p:spPr>
          <a:xfrm>
            <a:off x="548640" y="5349240"/>
            <a:ext cx="11091672" cy="713232"/>
          </a:xfrm>
          <a:prstGeom prst="roundRect">
            <a:avLst>
              <a:gd name="adj" fmla="val 15385"/>
            </a:avLst>
          </a:prstGeom>
          <a:solidFill>
            <a:schemeClr val="tx2"/>
          </a:solidFill>
          <a:ln/>
        </p:spPr>
      </p:sp>
      <p:sp>
        <p:nvSpPr>
          <p:cNvPr id="16" name="Text 11"/>
          <p:cNvSpPr txBox="1"/>
          <p:nvPr/>
        </p:nvSpPr>
        <p:spPr>
          <a:xfrm>
            <a:off x="822960" y="5349240"/>
            <a:ext cx="10607040" cy="713232"/>
          </a:xfrm>
          <a:prstGeom prst="rect">
            <a:avLst/>
          </a:prstGeom>
          <a:noFill/>
          <a:ln/>
        </p:spPr>
        <p:txBody>
          <a:bodyPr wrap="square" lIns="0" tIns="0" rIns="0" bIns="0" rtlCol="0" anchor="ctr"/>
          <a:lstStyle/>
          <a:p>
            <a:pPr indent="0" marL="0">
              <a:buNone/>
            </a:pPr>
            <a:r>
              <a:rPr lang="ja-JP" altLang="en-US" sz="2200" b="1" dirty="0">
                <a:solidFill>
                  <a:schemeClr val="bg1"/>
                </a:solidFill>
              </a:rPr>
              <a:t>知らない会社は、まだ魅力に出会う機会がなかった会社かもしれない。</a:t>
            </a:r>
            <a:endParaRPr lang="ja-JP" sz="2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01｜なぜ業界研究をするのか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「コンサルが気になる」の中身は何だろう？</a:t>
            </a:r>
            <a:endParaRPr lang="en-US" sz="3000" dirty="0"/>
          </a:p>
        </p:txBody>
      </p:sp>
      <p:sp>
        <p:nvSpPr>
          <p:cNvPr id="5" name="Shape 2"/>
          <p:cNvSpPr/>
          <p:nvPr/>
        </p:nvSpPr>
        <p:spPr>
          <a:xfrm>
            <a:off x="548640" y="2286000"/>
            <a:ext cx="2468880" cy="2468880"/>
          </a:xfrm>
          <a:prstGeom prst="ellipse">
            <a:avLst/>
          </a:prstGeom>
          <a:solidFill>
            <a:schemeClr val="accent1"/>
          </a:solidFill>
          <a:ln/>
          <a:effectLst>
            <a:outerShdw sx="100000" sy="100000" kx="0" ky="0" algn="bl" rotWithShape="0" blurRad="101600" dist="25400" dir="5400000">
              <a:srgbClr val="12243A">
                <a:alpha val="14000"/>
              </a:srgbClr>
            </a:outerShdw>
          </a:effectLst>
        </p:spPr>
      </p:sp>
      <p:sp>
        <p:nvSpPr>
          <p:cNvPr id="6" name="Text 3"/>
          <p:cNvSpPr txBox="1"/>
          <p:nvPr/>
        </p:nvSpPr>
        <p:spPr>
          <a:xfrm>
            <a:off x="548640" y="2743200"/>
            <a:ext cx="2468880" cy="365760"/>
          </a:xfrm>
          <a:prstGeom prst="rect">
            <a:avLst/>
          </a:prstGeom>
          <a:noFill/>
          <a:ln/>
        </p:spPr>
        <p:txBody>
          <a:bodyPr wrap="square" lIns="0" tIns="0" rIns="0" bIns="0" rtlCol="0" anchor="t"/>
          <a:lstStyle/>
          <a:p>
            <a:pPr algn="ctr" indent="0" marL="0">
              <a:buNone/>
            </a:pPr>
            <a:r>
              <a:rPr lang="ja-JP" altLang="en-US" sz="1600" b="1" dirty="0">
                <a:solidFill>
                  <a:schemeClr val="bg1"/>
                </a:solidFill>
              </a:rPr>
              <a:t>興味の表面</a:t>
            </a:r>
            <a:endParaRPr lang="ja-JP" sz="1600" dirty="0"/>
          </a:p>
        </p:txBody>
      </p:sp>
      <p:sp>
        <p:nvSpPr>
          <p:cNvPr id="7" name="Text 4"/>
          <p:cNvSpPr txBox="1"/>
          <p:nvPr/>
        </p:nvSpPr>
        <p:spPr>
          <a:xfrm>
            <a:off x="548640" y="3063240"/>
            <a:ext cx="2468880" cy="1097280"/>
          </a:xfrm>
          <a:prstGeom prst="rect">
            <a:avLst/>
          </a:prstGeom>
          <a:noFill/>
          <a:ln/>
        </p:spPr>
        <p:txBody>
          <a:bodyPr wrap="square" lIns="0" tIns="0" rIns="0" bIns="0" rtlCol="0" anchor="ctr"/>
          <a:lstStyle/>
          <a:p>
            <a:pPr algn="ctr" indent="0" marL="0">
              <a:buNone/>
            </a:pPr>
            <a:r>
              <a:rPr lang="ja-JP" altLang="en-US" sz="2800" b="1" dirty="0">
                <a:solidFill>
                  <a:schemeClr val="bg1"/>
                </a:solidFill>
              </a:rPr>
              <a:t>コンサル</a:t>
            </a:r>
            <a:endParaRPr lang="ja-JP" sz="2800" dirty="0"/>
          </a:p>
          <a:p>
            <a:pPr algn="ctr" indent="0" marL="0">
              <a:buNone/>
            </a:pPr>
            <a:r>
              <a:rPr lang="ja-JP" altLang="en-US" sz="2800" b="1" dirty="0">
                <a:solidFill>
                  <a:schemeClr val="bg1"/>
                </a:solidFill>
              </a:rPr>
              <a:t>ティング</a:t>
            </a:r>
            <a:endParaRPr lang="ja-JP" sz="2800" dirty="0"/>
          </a:p>
        </p:txBody>
      </p:sp>
      <p:sp>
        <p:nvSpPr>
          <p:cNvPr id="8" name="Text 5"/>
          <p:cNvSpPr txBox="1"/>
          <p:nvPr/>
        </p:nvSpPr>
        <p:spPr>
          <a:xfrm>
            <a:off x="3520440" y="1572768"/>
            <a:ext cx="3200400" cy="320040"/>
          </a:xfrm>
          <a:prstGeom prst="rect">
            <a:avLst/>
          </a:prstGeom>
          <a:noFill/>
          <a:ln/>
        </p:spPr>
        <p:txBody>
          <a:bodyPr wrap="square" lIns="0" tIns="0" rIns="0" bIns="0" rtlCol="0" anchor="t"/>
          <a:lstStyle/>
          <a:p>
            <a:pPr indent="0" marL="0">
              <a:buNone/>
            </a:pPr>
            <a:r>
              <a:rPr lang="ja-JP" altLang="en-US" sz="1600" b="1" dirty="0">
                <a:solidFill>
                  <a:schemeClr val="accent4"/>
                </a:solidFill>
              </a:rPr>
              <a:t>惹かれる理由</a:t>
            </a:r>
            <a:endParaRPr lang="ja-JP" sz="1600" dirty="0"/>
          </a:p>
        </p:txBody>
      </p:sp>
      <p:sp>
        <p:nvSpPr>
          <p:cNvPr id="9" name="Text 6"/>
          <p:cNvSpPr txBox="1"/>
          <p:nvPr/>
        </p:nvSpPr>
        <p:spPr>
          <a:xfrm>
            <a:off x="7726680" y="1572768"/>
            <a:ext cx="3566160" cy="320040"/>
          </a:xfrm>
          <a:prstGeom prst="rect">
            <a:avLst/>
          </a:prstGeom>
          <a:noFill/>
          <a:ln/>
        </p:spPr>
        <p:txBody>
          <a:bodyPr wrap="square" lIns="0" tIns="0" rIns="0" bIns="0" rtlCol="0" anchor="t"/>
          <a:lstStyle/>
          <a:p>
            <a:pPr indent="0" marL="0">
              <a:buNone/>
            </a:pPr>
            <a:r>
              <a:rPr lang="ja-JP" altLang="en-US" sz="1600" b="1" dirty="0">
                <a:solidFill>
                  <a:schemeClr val="accent4"/>
                </a:solidFill>
              </a:rPr>
              <a:t>他業界の候補</a:t>
            </a:r>
            <a:endParaRPr lang="ja-JP" sz="1600" dirty="0"/>
          </a:p>
        </p:txBody>
      </p:sp>
      <p:sp>
        <p:nvSpPr>
          <p:cNvPr id="10" name="Shape 7"/>
          <p:cNvSpPr/>
          <p:nvPr/>
        </p:nvSpPr>
        <p:spPr>
          <a:xfrm flipV="1">
            <a:off x="3017520" y="2468880"/>
            <a:ext cx="502920" cy="1051560"/>
          </a:xfrm>
          <a:prstGeom prst="line">
            <a:avLst/>
          </a:prstGeom>
          <a:noFill/>
          <a:ln w="28575">
            <a:solidFill>
              <a:schemeClr val="accent1"/>
            </a:solidFill>
            <a:prstDash val="solid"/>
          </a:ln>
        </p:spPr>
      </p:sp>
      <p:sp>
        <p:nvSpPr>
          <p:cNvPr id="11" name="Shape 8"/>
          <p:cNvSpPr/>
          <p:nvPr/>
        </p:nvSpPr>
        <p:spPr>
          <a:xfrm>
            <a:off x="3520440" y="1965960"/>
            <a:ext cx="3611880" cy="1005840"/>
          </a:xfrm>
          <a:prstGeom prst="roundRect">
            <a:avLst>
              <a:gd name="adj" fmla="val 10909"/>
            </a:avLst>
          </a:prstGeom>
          <a:solidFill>
            <a:schemeClr val="bg2"/>
          </a:solidFill>
          <a:ln/>
        </p:spPr>
      </p:sp>
      <p:pic>
        <p:nvPicPr>
          <p:cNvPr id="12" name="Image 0" descr="TbBulb">    </p:cNvPr>
          <p:cNvPicPr>
            <a:picLocks noChangeAspect="1"/>
          </p:cNvPicPr>
          <p:nvPr/>
        </p:nvPicPr>
        <p:blipFill>
          <a:blip r:embed="rId1"/>
          <a:stretch>
            <a:fillRect/>
          </a:stretch>
        </p:blipFill>
        <p:spPr>
          <a:xfrm>
            <a:off x="3685032" y="2249424"/>
            <a:ext cx="438912" cy="438912"/>
          </a:xfrm>
          <a:prstGeom prst="rect">
            <a:avLst/>
          </a:prstGeom>
        </p:spPr>
      </p:pic>
      <p:sp>
        <p:nvSpPr>
          <p:cNvPr id="13" name="Text 9"/>
          <p:cNvSpPr txBox="1"/>
          <p:nvPr/>
        </p:nvSpPr>
        <p:spPr>
          <a:xfrm>
            <a:off x="4233672" y="1965960"/>
            <a:ext cx="2834640" cy="1005840"/>
          </a:xfrm>
          <a:prstGeom prst="rect">
            <a:avLst/>
          </a:prstGeom>
          <a:noFill/>
          <a:ln/>
        </p:spPr>
        <p:txBody>
          <a:bodyPr wrap="square" lIns="0" tIns="0" rIns="0" bIns="0" rtlCol="0" anchor="ctr"/>
          <a:lstStyle/>
          <a:p>
            <a:pPr indent="0" marL="0">
              <a:buNone/>
            </a:pPr>
            <a:r>
              <a:rPr lang="ja-JP" altLang="en-US" sz="2000" b="1" dirty="0">
                <a:solidFill>
                  <a:schemeClr val="tx2"/>
                </a:solidFill>
              </a:rPr>
              <a:t>課題解決が好き</a:t>
            </a:r>
            <a:endParaRPr lang="ja-JP" sz="2000" dirty="0"/>
          </a:p>
        </p:txBody>
      </p:sp>
      <p:sp>
        <p:nvSpPr>
          <p:cNvPr id="14" name="Shape 10"/>
          <p:cNvSpPr/>
          <p:nvPr/>
        </p:nvSpPr>
        <p:spPr>
          <a:xfrm>
            <a:off x="7242048" y="2286000"/>
            <a:ext cx="384048" cy="365760"/>
          </a:xfrm>
          <a:prstGeom prst="rightArrow">
            <a:avLst/>
          </a:prstGeom>
          <a:solidFill>
            <a:schemeClr val="accent2"/>
          </a:solidFill>
          <a:ln/>
        </p:spPr>
      </p:sp>
      <p:sp>
        <p:nvSpPr>
          <p:cNvPr id="15" name="Shape 11"/>
          <p:cNvSpPr/>
          <p:nvPr/>
        </p:nvSpPr>
        <p:spPr>
          <a:xfrm>
            <a:off x="7726680" y="1965960"/>
            <a:ext cx="3913632" cy="1005840"/>
          </a:xfrm>
          <a:prstGeom prst="roundRect">
            <a:avLst>
              <a:gd name="adj" fmla="val 10909"/>
            </a:avLst>
          </a:prstGeom>
          <a:solidFill>
            <a:schemeClr val="bg1"/>
          </a:solidFill>
          <a:ln w="22225">
            <a:solidFill>
              <a:schemeClr val="accent1"/>
            </a:solidFill>
            <a:prstDash val="solid"/>
          </a:ln>
        </p:spPr>
      </p:sp>
      <p:sp>
        <p:nvSpPr>
          <p:cNvPr id="16" name="Text 12"/>
          <p:cNvSpPr txBox="1"/>
          <p:nvPr/>
        </p:nvSpPr>
        <p:spPr>
          <a:xfrm>
            <a:off x="7909560" y="1965960"/>
            <a:ext cx="3639312" cy="1005840"/>
          </a:xfrm>
          <a:prstGeom prst="rect">
            <a:avLst/>
          </a:prstGeom>
          <a:noFill/>
          <a:ln/>
        </p:spPr>
        <p:txBody>
          <a:bodyPr wrap="square" lIns="0" tIns="0" rIns="0" bIns="0" rtlCol="0" anchor="ctr"/>
          <a:lstStyle/>
          <a:p>
            <a:pPr indent="0" marL="0">
              <a:buNone/>
            </a:pPr>
            <a:r>
              <a:rPr lang="ja-JP" altLang="en-US" sz="1900" b="1" dirty="0">
                <a:solidFill>
                  <a:schemeClr val="accent1"/>
                </a:solidFill>
              </a:rPr>
              <a:t>IT・広告・人材</a:t>
            </a:r>
            <a:endParaRPr lang="ja-JP" sz="1900" dirty="0"/>
          </a:p>
        </p:txBody>
      </p:sp>
      <p:sp>
        <p:nvSpPr>
          <p:cNvPr id="17" name="Shape 13"/>
          <p:cNvSpPr/>
          <p:nvPr/>
        </p:nvSpPr>
        <p:spPr>
          <a:xfrm>
            <a:off x="3017520" y="3520440"/>
            <a:ext cx="502920" cy="274320"/>
          </a:xfrm>
          <a:prstGeom prst="line">
            <a:avLst/>
          </a:prstGeom>
          <a:noFill/>
          <a:ln w="28575">
            <a:solidFill>
              <a:schemeClr val="accent1"/>
            </a:solidFill>
            <a:prstDash val="solid"/>
          </a:ln>
        </p:spPr>
      </p:sp>
      <p:sp>
        <p:nvSpPr>
          <p:cNvPr id="18" name="Shape 14"/>
          <p:cNvSpPr/>
          <p:nvPr/>
        </p:nvSpPr>
        <p:spPr>
          <a:xfrm>
            <a:off x="3520440" y="3291840"/>
            <a:ext cx="3611880" cy="1005840"/>
          </a:xfrm>
          <a:prstGeom prst="roundRect">
            <a:avLst>
              <a:gd name="adj" fmla="val 10909"/>
            </a:avLst>
          </a:prstGeom>
          <a:solidFill>
            <a:schemeClr val="bg2"/>
          </a:solidFill>
          <a:ln/>
        </p:spPr>
      </p:sp>
      <p:pic>
        <p:nvPicPr>
          <p:cNvPr id="19" name="Image 1" descr="TbBriefcase">    </p:cNvPr>
          <p:cNvPicPr>
            <a:picLocks noChangeAspect="1"/>
          </p:cNvPicPr>
          <p:nvPr/>
        </p:nvPicPr>
        <p:blipFill>
          <a:blip r:embed="rId2"/>
          <a:stretch>
            <a:fillRect/>
          </a:stretch>
        </p:blipFill>
        <p:spPr>
          <a:xfrm>
            <a:off x="3685032" y="3575304"/>
            <a:ext cx="438912" cy="438912"/>
          </a:xfrm>
          <a:prstGeom prst="rect">
            <a:avLst/>
          </a:prstGeom>
        </p:spPr>
      </p:pic>
      <p:sp>
        <p:nvSpPr>
          <p:cNvPr id="20" name="Text 15"/>
          <p:cNvSpPr txBox="1"/>
          <p:nvPr/>
        </p:nvSpPr>
        <p:spPr>
          <a:xfrm>
            <a:off x="4233672" y="3291840"/>
            <a:ext cx="2834640" cy="1005840"/>
          </a:xfrm>
          <a:prstGeom prst="rect">
            <a:avLst/>
          </a:prstGeom>
          <a:noFill/>
          <a:ln/>
        </p:spPr>
        <p:txBody>
          <a:bodyPr wrap="square" lIns="0" tIns="0" rIns="0" bIns="0" rtlCol="0" anchor="ctr"/>
          <a:lstStyle/>
          <a:p>
            <a:pPr indent="0" marL="0">
              <a:buNone/>
            </a:pPr>
            <a:r>
              <a:rPr lang="ja-JP" altLang="en-US" sz="2000" b="1" dirty="0">
                <a:solidFill>
                  <a:schemeClr val="tx2"/>
                </a:solidFill>
              </a:rPr>
              <a:t>経営に関わりたい</a:t>
            </a:r>
            <a:endParaRPr lang="ja-JP" sz="2000" dirty="0"/>
          </a:p>
        </p:txBody>
      </p:sp>
      <p:sp>
        <p:nvSpPr>
          <p:cNvPr id="21" name="Shape 16"/>
          <p:cNvSpPr/>
          <p:nvPr/>
        </p:nvSpPr>
        <p:spPr>
          <a:xfrm>
            <a:off x="7242048" y="3611880"/>
            <a:ext cx="384048" cy="365760"/>
          </a:xfrm>
          <a:prstGeom prst="rightArrow">
            <a:avLst/>
          </a:prstGeom>
          <a:solidFill>
            <a:schemeClr val="accent2"/>
          </a:solidFill>
          <a:ln/>
        </p:spPr>
      </p:sp>
      <p:sp>
        <p:nvSpPr>
          <p:cNvPr id="22" name="Shape 17"/>
          <p:cNvSpPr/>
          <p:nvPr/>
        </p:nvSpPr>
        <p:spPr>
          <a:xfrm>
            <a:off x="7726680" y="3291840"/>
            <a:ext cx="3913632" cy="1005840"/>
          </a:xfrm>
          <a:prstGeom prst="roundRect">
            <a:avLst>
              <a:gd name="adj" fmla="val 10909"/>
            </a:avLst>
          </a:prstGeom>
          <a:solidFill>
            <a:schemeClr val="bg1"/>
          </a:solidFill>
          <a:ln w="22225">
            <a:solidFill>
              <a:schemeClr val="accent1"/>
            </a:solidFill>
            <a:prstDash val="solid"/>
          </a:ln>
        </p:spPr>
      </p:sp>
      <p:sp>
        <p:nvSpPr>
          <p:cNvPr id="23" name="Text 18"/>
          <p:cNvSpPr txBox="1"/>
          <p:nvPr/>
        </p:nvSpPr>
        <p:spPr>
          <a:xfrm>
            <a:off x="7909560" y="3291840"/>
            <a:ext cx="3639312" cy="1005840"/>
          </a:xfrm>
          <a:prstGeom prst="rect">
            <a:avLst/>
          </a:prstGeom>
          <a:noFill/>
          <a:ln/>
        </p:spPr>
        <p:txBody>
          <a:bodyPr wrap="square" lIns="0" tIns="0" rIns="0" bIns="0" rtlCol="0" anchor="ctr"/>
          <a:lstStyle/>
          <a:p>
            <a:pPr indent="0" marL="0">
              <a:buNone/>
            </a:pPr>
            <a:r>
              <a:rPr lang="ja-JP" altLang="en-US" sz="1900" b="1" dirty="0">
                <a:solidFill>
                  <a:schemeClr val="accent1"/>
                </a:solidFill>
              </a:rPr>
              <a:t>金融・商社・事業会社</a:t>
            </a:r>
            <a:endParaRPr lang="ja-JP" sz="1900" dirty="0"/>
          </a:p>
        </p:txBody>
      </p:sp>
      <p:sp>
        <p:nvSpPr>
          <p:cNvPr id="24" name="Shape 19"/>
          <p:cNvSpPr/>
          <p:nvPr/>
        </p:nvSpPr>
        <p:spPr>
          <a:xfrm>
            <a:off x="3017520" y="3520440"/>
            <a:ext cx="502920" cy="1600200"/>
          </a:xfrm>
          <a:prstGeom prst="line">
            <a:avLst/>
          </a:prstGeom>
          <a:noFill/>
          <a:ln w="28575">
            <a:solidFill>
              <a:schemeClr val="accent1"/>
            </a:solidFill>
            <a:prstDash val="solid"/>
          </a:ln>
        </p:spPr>
      </p:sp>
      <p:sp>
        <p:nvSpPr>
          <p:cNvPr id="25" name="Shape 20"/>
          <p:cNvSpPr/>
          <p:nvPr/>
        </p:nvSpPr>
        <p:spPr>
          <a:xfrm>
            <a:off x="3520440" y="4617720"/>
            <a:ext cx="3611880" cy="1005840"/>
          </a:xfrm>
          <a:prstGeom prst="roundRect">
            <a:avLst>
              <a:gd name="adj" fmla="val 10909"/>
            </a:avLst>
          </a:prstGeom>
          <a:solidFill>
            <a:schemeClr val="bg2"/>
          </a:solidFill>
          <a:ln/>
        </p:spPr>
      </p:sp>
      <p:pic>
        <p:nvPicPr>
          <p:cNvPr id="26" name="Image 2" descr="TbUsers">    </p:cNvPr>
          <p:cNvPicPr>
            <a:picLocks noChangeAspect="1"/>
          </p:cNvPicPr>
          <p:nvPr/>
        </p:nvPicPr>
        <p:blipFill>
          <a:blip r:embed="rId3"/>
          <a:stretch>
            <a:fillRect/>
          </a:stretch>
        </p:blipFill>
        <p:spPr>
          <a:xfrm>
            <a:off x="3685032" y="4901184"/>
            <a:ext cx="438912" cy="438912"/>
          </a:xfrm>
          <a:prstGeom prst="rect">
            <a:avLst/>
          </a:prstGeom>
        </p:spPr>
      </p:pic>
      <p:sp>
        <p:nvSpPr>
          <p:cNvPr id="27" name="Text 21"/>
          <p:cNvSpPr txBox="1"/>
          <p:nvPr/>
        </p:nvSpPr>
        <p:spPr>
          <a:xfrm>
            <a:off x="4233672" y="4617720"/>
            <a:ext cx="2834640" cy="1005840"/>
          </a:xfrm>
          <a:prstGeom prst="rect">
            <a:avLst/>
          </a:prstGeom>
          <a:noFill/>
          <a:ln/>
        </p:spPr>
        <p:txBody>
          <a:bodyPr wrap="square" lIns="0" tIns="0" rIns="0" bIns="0" rtlCol="0" anchor="ctr"/>
          <a:lstStyle/>
          <a:p>
            <a:pPr indent="0" marL="0">
              <a:buNone/>
            </a:pPr>
            <a:r>
              <a:rPr lang="ja-JP" altLang="en-US" sz="2000" b="1" dirty="0">
                <a:solidFill>
                  <a:schemeClr val="tx2"/>
                </a:solidFill>
              </a:rPr>
              <a:t>多くの企業と働きたい</a:t>
            </a:r>
            <a:endParaRPr lang="ja-JP" sz="2000" dirty="0"/>
          </a:p>
        </p:txBody>
      </p:sp>
      <p:sp>
        <p:nvSpPr>
          <p:cNvPr id="28" name="Shape 22"/>
          <p:cNvSpPr/>
          <p:nvPr/>
        </p:nvSpPr>
        <p:spPr>
          <a:xfrm>
            <a:off x="7242048" y="4937760"/>
            <a:ext cx="384048" cy="365760"/>
          </a:xfrm>
          <a:prstGeom prst="rightArrow">
            <a:avLst/>
          </a:prstGeom>
          <a:solidFill>
            <a:schemeClr val="accent2"/>
          </a:solidFill>
          <a:ln/>
        </p:spPr>
      </p:sp>
      <p:sp>
        <p:nvSpPr>
          <p:cNvPr id="29" name="Shape 23"/>
          <p:cNvSpPr/>
          <p:nvPr/>
        </p:nvSpPr>
        <p:spPr>
          <a:xfrm>
            <a:off x="7726680" y="4617720"/>
            <a:ext cx="3913632" cy="1005840"/>
          </a:xfrm>
          <a:prstGeom prst="roundRect">
            <a:avLst>
              <a:gd name="adj" fmla="val 10909"/>
            </a:avLst>
          </a:prstGeom>
          <a:solidFill>
            <a:schemeClr val="bg1"/>
          </a:solidFill>
          <a:ln w="22225">
            <a:solidFill>
              <a:schemeClr val="accent1"/>
            </a:solidFill>
            <a:prstDash val="solid"/>
          </a:ln>
        </p:spPr>
      </p:sp>
      <p:sp>
        <p:nvSpPr>
          <p:cNvPr id="30" name="Text 24"/>
          <p:cNvSpPr txBox="1"/>
          <p:nvPr/>
        </p:nvSpPr>
        <p:spPr>
          <a:xfrm>
            <a:off x="7909560" y="4617720"/>
            <a:ext cx="3639312" cy="1005840"/>
          </a:xfrm>
          <a:prstGeom prst="rect">
            <a:avLst/>
          </a:prstGeom>
          <a:noFill/>
          <a:ln/>
        </p:spPr>
        <p:txBody>
          <a:bodyPr wrap="square" lIns="0" tIns="0" rIns="0" bIns="0" rtlCol="0" anchor="ctr"/>
          <a:lstStyle/>
          <a:p>
            <a:pPr indent="0" marL="0">
              <a:buNone/>
            </a:pPr>
            <a:r>
              <a:rPr lang="ja-JP" altLang="en-US" sz="1900" b="1" dirty="0">
                <a:solidFill>
                  <a:schemeClr val="accent1"/>
                </a:solidFill>
              </a:rPr>
              <a:t>専門商社・法人営業・コンサル</a:t>
            </a:r>
            <a:endParaRPr lang="ja-JP" sz="19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01｜なぜ業界研究をするのか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同じ総合商社志望でも、惹かれる理由は違う</a:t>
            </a:r>
            <a:endParaRPr lang="en-US" sz="3000" dirty="0"/>
          </a:p>
        </p:txBody>
      </p:sp>
      <p:sp>
        <p:nvSpPr>
          <p:cNvPr id="5" name="Shape 2"/>
          <p:cNvSpPr/>
          <p:nvPr/>
        </p:nvSpPr>
        <p:spPr>
          <a:xfrm flipH="1" flipV="1">
            <a:off x="4754880" y="2468880"/>
            <a:ext cx="1344168" cy="1188720"/>
          </a:xfrm>
          <a:prstGeom prst="line">
            <a:avLst/>
          </a:prstGeom>
          <a:noFill/>
          <a:ln w="31750">
            <a:solidFill>
              <a:schemeClr val="accent5"/>
            </a:solidFill>
            <a:prstDash val="solid"/>
          </a:ln>
        </p:spPr>
      </p:sp>
      <p:sp>
        <p:nvSpPr>
          <p:cNvPr id="6" name="Shape 3"/>
          <p:cNvSpPr/>
          <p:nvPr/>
        </p:nvSpPr>
        <p:spPr>
          <a:xfrm flipV="1">
            <a:off x="6099048" y="2468880"/>
            <a:ext cx="1335024" cy="1188720"/>
          </a:xfrm>
          <a:prstGeom prst="line">
            <a:avLst/>
          </a:prstGeom>
          <a:noFill/>
          <a:ln w="31750">
            <a:solidFill>
              <a:schemeClr val="accent5"/>
            </a:solidFill>
            <a:prstDash val="solid"/>
          </a:ln>
        </p:spPr>
      </p:sp>
      <p:sp>
        <p:nvSpPr>
          <p:cNvPr id="7" name="Shape 4"/>
          <p:cNvSpPr/>
          <p:nvPr/>
        </p:nvSpPr>
        <p:spPr>
          <a:xfrm flipH="1">
            <a:off x="4754880" y="3657600"/>
            <a:ext cx="1344168" cy="1188720"/>
          </a:xfrm>
          <a:prstGeom prst="line">
            <a:avLst/>
          </a:prstGeom>
          <a:noFill/>
          <a:ln w="31750">
            <a:solidFill>
              <a:schemeClr val="accent5"/>
            </a:solidFill>
            <a:prstDash val="solid"/>
          </a:ln>
        </p:spPr>
      </p:sp>
      <p:sp>
        <p:nvSpPr>
          <p:cNvPr id="8" name="Shape 5"/>
          <p:cNvSpPr/>
          <p:nvPr/>
        </p:nvSpPr>
        <p:spPr>
          <a:xfrm>
            <a:off x="6099048" y="3657600"/>
            <a:ext cx="1335024" cy="1188720"/>
          </a:xfrm>
          <a:prstGeom prst="line">
            <a:avLst/>
          </a:prstGeom>
          <a:noFill/>
          <a:ln w="31750">
            <a:solidFill>
              <a:schemeClr val="accent5"/>
            </a:solidFill>
            <a:prstDash val="solid"/>
          </a:ln>
        </p:spPr>
      </p:sp>
      <p:sp>
        <p:nvSpPr>
          <p:cNvPr id="9" name="Shape 6"/>
          <p:cNvSpPr/>
          <p:nvPr/>
        </p:nvSpPr>
        <p:spPr>
          <a:xfrm>
            <a:off x="548640" y="1691640"/>
            <a:ext cx="4206240" cy="1554480"/>
          </a:xfrm>
          <a:prstGeom prst="roundRect">
            <a:avLst>
              <a:gd name="adj" fmla="val 9412"/>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10" name="Shape 7"/>
          <p:cNvSpPr/>
          <p:nvPr/>
        </p:nvSpPr>
        <p:spPr>
          <a:xfrm>
            <a:off x="777240" y="1965960"/>
            <a:ext cx="731520" cy="731520"/>
          </a:xfrm>
          <a:prstGeom prst="ellipse">
            <a:avLst/>
          </a:prstGeom>
          <a:solidFill>
            <a:schemeClr val="bg2"/>
          </a:solidFill>
          <a:ln/>
        </p:spPr>
      </p:sp>
      <p:pic>
        <p:nvPicPr>
          <p:cNvPr id="11" name="Image 0" descr="TbWorld">    </p:cNvPr>
          <p:cNvPicPr>
            <a:picLocks noChangeAspect="1"/>
          </p:cNvPicPr>
          <p:nvPr/>
        </p:nvPicPr>
        <p:blipFill>
          <a:blip r:embed="rId1"/>
          <a:stretch>
            <a:fillRect/>
          </a:stretch>
        </p:blipFill>
        <p:spPr>
          <a:xfrm>
            <a:off x="938174" y="2126894"/>
            <a:ext cx="409651" cy="409651"/>
          </a:xfrm>
          <a:prstGeom prst="rect">
            <a:avLst/>
          </a:prstGeom>
        </p:spPr>
      </p:pic>
      <p:sp>
        <p:nvSpPr>
          <p:cNvPr id="12" name="Text 8"/>
          <p:cNvSpPr txBox="1"/>
          <p:nvPr/>
        </p:nvSpPr>
        <p:spPr>
          <a:xfrm>
            <a:off x="1645920" y="1892808"/>
            <a:ext cx="3035808" cy="658368"/>
          </a:xfrm>
          <a:prstGeom prst="rect">
            <a:avLst/>
          </a:prstGeom>
          <a:noFill/>
          <a:ln/>
        </p:spPr>
        <p:txBody>
          <a:bodyPr wrap="square" lIns="0" tIns="0" rIns="0" bIns="0" rtlCol="0" anchor="ctr"/>
          <a:lstStyle/>
          <a:p>
            <a:pPr indent="0" marL="0">
              <a:buNone/>
            </a:pPr>
            <a:r>
              <a:rPr lang="ja-JP" altLang="en-US" sz="2100" b="1" dirty="0">
                <a:solidFill>
                  <a:schemeClr val="tx2"/>
                </a:solidFill>
              </a:rPr>
              <a:t>海外で働きたい</a:t>
            </a:r>
            <a:endParaRPr lang="ja-JP" sz="2100" dirty="0"/>
          </a:p>
        </p:txBody>
      </p:sp>
      <p:sp>
        <p:nvSpPr>
          <p:cNvPr id="13" name="Text 9"/>
          <p:cNvSpPr txBox="1"/>
          <p:nvPr/>
        </p:nvSpPr>
        <p:spPr>
          <a:xfrm>
            <a:off x="1645920" y="2587752"/>
            <a:ext cx="3035808" cy="457200"/>
          </a:xfrm>
          <a:prstGeom prst="rect">
            <a:avLst/>
          </a:prstGeom>
          <a:noFill/>
          <a:ln/>
        </p:spPr>
        <p:txBody>
          <a:bodyPr wrap="square" lIns="0" tIns="0" rIns="0" bIns="0" rtlCol="0" anchor="ctr"/>
          <a:lstStyle/>
          <a:p>
            <a:pPr indent="0" marL="0">
              <a:buNone/>
            </a:pPr>
            <a:r>
              <a:rPr lang="ja-JP" altLang="en-US" sz="1900" b="1" dirty="0">
                <a:solidFill>
                  <a:schemeClr val="accent3"/>
                </a:solidFill>
              </a:rPr>
              <a:t>→ </a:t>
            </a:r>
            <a:pPr indent="0" marL="0">
              <a:buNone/>
            </a:pPr>
            <a:r>
              <a:rPr lang="ja-JP" altLang="en-US" sz="1900" b="1" dirty="0">
                <a:solidFill>
                  <a:schemeClr val="accent1"/>
                </a:solidFill>
              </a:rPr>
              <a:t>海外展開するメーカー</a:t>
            </a:r>
            <a:endParaRPr lang="ja-JP" sz="1900" dirty="0"/>
          </a:p>
        </p:txBody>
      </p:sp>
      <p:sp>
        <p:nvSpPr>
          <p:cNvPr id="14" name="Shape 10"/>
          <p:cNvSpPr/>
          <p:nvPr/>
        </p:nvSpPr>
        <p:spPr>
          <a:xfrm>
            <a:off x="7434072" y="1691640"/>
            <a:ext cx="4206240" cy="1554480"/>
          </a:xfrm>
          <a:prstGeom prst="roundRect">
            <a:avLst>
              <a:gd name="adj" fmla="val 9412"/>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15" name="Shape 11"/>
          <p:cNvSpPr/>
          <p:nvPr/>
        </p:nvSpPr>
        <p:spPr>
          <a:xfrm>
            <a:off x="7662672" y="1965960"/>
            <a:ext cx="731520" cy="731520"/>
          </a:xfrm>
          <a:prstGeom prst="ellipse">
            <a:avLst/>
          </a:prstGeom>
          <a:solidFill>
            <a:schemeClr val="bg2"/>
          </a:solidFill>
          <a:ln/>
        </p:spPr>
      </p:sp>
      <p:pic>
        <p:nvPicPr>
          <p:cNvPr id="16" name="Image 1" descr="TbBuildingSkyscraper">    </p:cNvPr>
          <p:cNvPicPr>
            <a:picLocks noChangeAspect="1"/>
          </p:cNvPicPr>
          <p:nvPr/>
        </p:nvPicPr>
        <p:blipFill>
          <a:blip r:embed="rId2"/>
          <a:stretch>
            <a:fillRect/>
          </a:stretch>
        </p:blipFill>
        <p:spPr>
          <a:xfrm>
            <a:off x="7823606" y="2126894"/>
            <a:ext cx="409651" cy="409651"/>
          </a:xfrm>
          <a:prstGeom prst="rect">
            <a:avLst/>
          </a:prstGeom>
        </p:spPr>
      </p:pic>
      <p:sp>
        <p:nvSpPr>
          <p:cNvPr id="17" name="Text 12"/>
          <p:cNvSpPr txBox="1"/>
          <p:nvPr/>
        </p:nvSpPr>
        <p:spPr>
          <a:xfrm>
            <a:off x="8531352" y="1892808"/>
            <a:ext cx="3035808" cy="658368"/>
          </a:xfrm>
          <a:prstGeom prst="rect">
            <a:avLst/>
          </a:prstGeom>
          <a:noFill/>
          <a:ln/>
        </p:spPr>
        <p:txBody>
          <a:bodyPr wrap="square" lIns="0" tIns="0" rIns="0" bIns="0" rtlCol="0" anchor="ctr"/>
          <a:lstStyle/>
          <a:p>
            <a:pPr indent="0" marL="0">
              <a:buNone/>
            </a:pPr>
            <a:r>
              <a:rPr lang="ja-JP" altLang="en-US" sz="2100" b="1" dirty="0">
                <a:solidFill>
                  <a:schemeClr val="tx2"/>
                </a:solidFill>
              </a:rPr>
              <a:t>大きな事業を動かしたい</a:t>
            </a:r>
            <a:endParaRPr lang="ja-JP" sz="2100" dirty="0"/>
          </a:p>
        </p:txBody>
      </p:sp>
      <p:sp>
        <p:nvSpPr>
          <p:cNvPr id="18" name="Text 13"/>
          <p:cNvSpPr txBox="1"/>
          <p:nvPr/>
        </p:nvSpPr>
        <p:spPr>
          <a:xfrm>
            <a:off x="8531352" y="2587752"/>
            <a:ext cx="3035808" cy="457200"/>
          </a:xfrm>
          <a:prstGeom prst="rect">
            <a:avLst/>
          </a:prstGeom>
          <a:noFill/>
          <a:ln/>
        </p:spPr>
        <p:txBody>
          <a:bodyPr wrap="square" lIns="0" tIns="0" rIns="0" bIns="0" rtlCol="0" anchor="ctr"/>
          <a:lstStyle/>
          <a:p>
            <a:pPr indent="0" marL="0">
              <a:buNone/>
            </a:pPr>
            <a:r>
              <a:rPr lang="ja-JP" altLang="en-US" sz="1900" b="1" dirty="0">
                <a:solidFill>
                  <a:schemeClr val="accent3"/>
                </a:solidFill>
              </a:rPr>
              <a:t>→ </a:t>
            </a:r>
            <a:pPr indent="0" marL="0">
              <a:buNone/>
            </a:pPr>
            <a:r>
              <a:rPr lang="ja-JP" altLang="en-US" sz="1900" b="1" dirty="0">
                <a:solidFill>
                  <a:schemeClr val="accent1"/>
                </a:solidFill>
              </a:rPr>
              <a:t>インフラ・素材企業</a:t>
            </a:r>
            <a:endParaRPr lang="ja-JP" sz="1900" dirty="0"/>
          </a:p>
        </p:txBody>
      </p:sp>
      <p:sp>
        <p:nvSpPr>
          <p:cNvPr id="19" name="Shape 14"/>
          <p:cNvSpPr/>
          <p:nvPr/>
        </p:nvSpPr>
        <p:spPr>
          <a:xfrm>
            <a:off x="548640" y="4069080"/>
            <a:ext cx="4206240" cy="1554480"/>
          </a:xfrm>
          <a:prstGeom prst="roundRect">
            <a:avLst>
              <a:gd name="adj" fmla="val 9412"/>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20" name="Shape 15"/>
          <p:cNvSpPr/>
          <p:nvPr/>
        </p:nvSpPr>
        <p:spPr>
          <a:xfrm>
            <a:off x="777240" y="4343400"/>
            <a:ext cx="731520" cy="731520"/>
          </a:xfrm>
          <a:prstGeom prst="ellipse">
            <a:avLst/>
          </a:prstGeom>
          <a:solidFill>
            <a:schemeClr val="bg2"/>
          </a:solidFill>
          <a:ln/>
        </p:spPr>
      </p:sp>
      <p:pic>
        <p:nvPicPr>
          <p:cNvPr id="21" name="Image 2" descr="TbCoin">    </p:cNvPr>
          <p:cNvPicPr>
            <a:picLocks noChangeAspect="1"/>
          </p:cNvPicPr>
          <p:nvPr/>
        </p:nvPicPr>
        <p:blipFill>
          <a:blip r:embed="rId3"/>
          <a:stretch>
            <a:fillRect/>
          </a:stretch>
        </p:blipFill>
        <p:spPr>
          <a:xfrm>
            <a:off x="938174" y="4504334"/>
            <a:ext cx="409651" cy="409651"/>
          </a:xfrm>
          <a:prstGeom prst="rect">
            <a:avLst/>
          </a:prstGeom>
        </p:spPr>
      </p:pic>
      <p:sp>
        <p:nvSpPr>
          <p:cNvPr id="22" name="Text 16"/>
          <p:cNvSpPr txBox="1"/>
          <p:nvPr/>
        </p:nvSpPr>
        <p:spPr>
          <a:xfrm>
            <a:off x="1645920" y="4270248"/>
            <a:ext cx="3035808" cy="658368"/>
          </a:xfrm>
          <a:prstGeom prst="rect">
            <a:avLst/>
          </a:prstGeom>
          <a:noFill/>
          <a:ln/>
        </p:spPr>
        <p:txBody>
          <a:bodyPr wrap="square" lIns="0" tIns="0" rIns="0" bIns="0" rtlCol="0" anchor="ctr"/>
          <a:lstStyle/>
          <a:p>
            <a:pPr indent="0" marL="0">
              <a:buNone/>
            </a:pPr>
            <a:r>
              <a:rPr lang="ja-JP" altLang="en-US" sz="2100" b="1" dirty="0">
                <a:solidFill>
                  <a:schemeClr val="tx2"/>
                </a:solidFill>
              </a:rPr>
              <a:t>事業投資に関わりたい</a:t>
            </a:r>
            <a:endParaRPr lang="ja-JP" sz="2100" dirty="0"/>
          </a:p>
        </p:txBody>
      </p:sp>
      <p:sp>
        <p:nvSpPr>
          <p:cNvPr id="23" name="Text 17"/>
          <p:cNvSpPr txBox="1"/>
          <p:nvPr/>
        </p:nvSpPr>
        <p:spPr>
          <a:xfrm>
            <a:off x="1645920" y="4965192"/>
            <a:ext cx="3035808" cy="457200"/>
          </a:xfrm>
          <a:prstGeom prst="rect">
            <a:avLst/>
          </a:prstGeom>
          <a:noFill/>
          <a:ln/>
        </p:spPr>
        <p:txBody>
          <a:bodyPr wrap="square" lIns="0" tIns="0" rIns="0" bIns="0" rtlCol="0" anchor="ctr"/>
          <a:lstStyle/>
          <a:p>
            <a:pPr indent="0" marL="0">
              <a:buNone/>
            </a:pPr>
            <a:r>
              <a:rPr lang="ja-JP" altLang="en-US" sz="1900" b="1" dirty="0">
                <a:solidFill>
                  <a:schemeClr val="accent3"/>
                </a:solidFill>
              </a:rPr>
              <a:t>→ </a:t>
            </a:r>
            <a:pPr indent="0" marL="0">
              <a:buNone/>
            </a:pPr>
            <a:r>
              <a:rPr lang="ja-JP" altLang="en-US" sz="1900" b="1" dirty="0">
                <a:solidFill>
                  <a:schemeClr val="accent1"/>
                </a:solidFill>
              </a:rPr>
              <a:t>金融・事業会社</a:t>
            </a:r>
            <a:endParaRPr lang="ja-JP" sz="1900" dirty="0"/>
          </a:p>
        </p:txBody>
      </p:sp>
      <p:sp>
        <p:nvSpPr>
          <p:cNvPr id="24" name="Shape 18"/>
          <p:cNvSpPr/>
          <p:nvPr/>
        </p:nvSpPr>
        <p:spPr>
          <a:xfrm>
            <a:off x="7434072" y="4069080"/>
            <a:ext cx="4206240" cy="1554480"/>
          </a:xfrm>
          <a:prstGeom prst="roundRect">
            <a:avLst>
              <a:gd name="adj" fmla="val 9412"/>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25" name="Shape 19"/>
          <p:cNvSpPr/>
          <p:nvPr/>
        </p:nvSpPr>
        <p:spPr>
          <a:xfrm>
            <a:off x="7662672" y="4343400"/>
            <a:ext cx="731520" cy="731520"/>
          </a:xfrm>
          <a:prstGeom prst="ellipse">
            <a:avLst/>
          </a:prstGeom>
          <a:solidFill>
            <a:schemeClr val="bg2"/>
          </a:solidFill>
          <a:ln/>
        </p:spPr>
      </p:sp>
      <p:pic>
        <p:nvPicPr>
          <p:cNvPr id="26" name="Image 3" descr="TbHeartHandshake">    </p:cNvPr>
          <p:cNvPicPr>
            <a:picLocks noChangeAspect="1"/>
          </p:cNvPicPr>
          <p:nvPr/>
        </p:nvPicPr>
        <p:blipFill>
          <a:blip r:embed="rId4"/>
          <a:stretch>
            <a:fillRect/>
          </a:stretch>
        </p:blipFill>
        <p:spPr>
          <a:xfrm>
            <a:off x="7823606" y="4504334"/>
            <a:ext cx="409651" cy="409651"/>
          </a:xfrm>
          <a:prstGeom prst="rect">
            <a:avLst/>
          </a:prstGeom>
        </p:spPr>
      </p:pic>
      <p:sp>
        <p:nvSpPr>
          <p:cNvPr id="27" name="Text 20"/>
          <p:cNvSpPr txBox="1"/>
          <p:nvPr/>
        </p:nvSpPr>
        <p:spPr>
          <a:xfrm>
            <a:off x="8531352" y="4270248"/>
            <a:ext cx="3035808" cy="658368"/>
          </a:xfrm>
          <a:prstGeom prst="rect">
            <a:avLst/>
          </a:prstGeom>
          <a:noFill/>
          <a:ln/>
        </p:spPr>
        <p:txBody>
          <a:bodyPr wrap="square" lIns="0" tIns="0" rIns="0" bIns="0" rtlCol="0" anchor="ctr"/>
          <a:lstStyle/>
          <a:p>
            <a:pPr indent="0" marL="0">
              <a:buNone/>
            </a:pPr>
            <a:r>
              <a:rPr lang="ja-JP" altLang="en-US" sz="2100" b="1" dirty="0">
                <a:solidFill>
                  <a:schemeClr val="tx2"/>
                </a:solidFill>
              </a:rPr>
              <a:t>人と企業をつなぎたい</a:t>
            </a:r>
            <a:endParaRPr lang="ja-JP" sz="2100" dirty="0"/>
          </a:p>
        </p:txBody>
      </p:sp>
      <p:sp>
        <p:nvSpPr>
          <p:cNvPr id="28" name="Text 21"/>
          <p:cNvSpPr txBox="1"/>
          <p:nvPr/>
        </p:nvSpPr>
        <p:spPr>
          <a:xfrm>
            <a:off x="8531352" y="4965192"/>
            <a:ext cx="3035808" cy="457200"/>
          </a:xfrm>
          <a:prstGeom prst="rect">
            <a:avLst/>
          </a:prstGeom>
          <a:noFill/>
          <a:ln/>
        </p:spPr>
        <p:txBody>
          <a:bodyPr wrap="square" lIns="0" tIns="0" rIns="0" bIns="0" rtlCol="0" anchor="ctr"/>
          <a:lstStyle/>
          <a:p>
            <a:pPr indent="0" marL="0">
              <a:buNone/>
            </a:pPr>
            <a:r>
              <a:rPr lang="ja-JP" altLang="en-US" sz="1900" b="1" dirty="0">
                <a:solidFill>
                  <a:schemeClr val="accent3"/>
                </a:solidFill>
              </a:rPr>
              <a:t>→ </a:t>
            </a:r>
            <a:pPr indent="0" marL="0">
              <a:buNone/>
            </a:pPr>
            <a:r>
              <a:rPr lang="ja-JP" altLang="en-US" sz="1900" b="1" dirty="0">
                <a:solidFill>
                  <a:schemeClr val="accent1"/>
                </a:solidFill>
              </a:rPr>
              <a:t>物流・法人営業</a:t>
            </a:r>
            <a:endParaRPr lang="ja-JP" sz="1900" dirty="0"/>
          </a:p>
        </p:txBody>
      </p:sp>
      <p:sp>
        <p:nvSpPr>
          <p:cNvPr id="29" name="Text 22"/>
          <p:cNvSpPr txBox="1"/>
          <p:nvPr/>
        </p:nvSpPr>
        <p:spPr>
          <a:xfrm>
            <a:off x="5001768" y="2971800"/>
            <a:ext cx="2194560" cy="1371600"/>
          </a:xfrm>
          <a:prstGeom prst="roundRect">
            <a:avLst>
              <a:gd name="adj" fmla="val 13333"/>
            </a:avLst>
          </a:prstGeom>
          <a:solidFill>
            <a:schemeClr val="tx2"/>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2800" b="1" dirty="0">
                <a:solidFill>
                  <a:schemeClr val="bg1"/>
                </a:solidFill>
              </a:rPr>
              <a:t>総合商社</a:t>
            </a:r>
            <a:endParaRPr lang="ja-JP" sz="2800" dirty="0"/>
          </a:p>
          <a:p>
            <a:pPr algn="ctr" indent="0" marL="0">
              <a:buNone/>
            </a:pPr>
            <a:r>
              <a:rPr lang="ja-JP" altLang="en-US" sz="1600" dirty="0">
                <a:solidFill>
                  <a:schemeClr val="accent2"/>
                </a:solidFill>
              </a:rPr>
              <a:t>志望</a:t>
            </a:r>
            <a:endParaRPr lang="ja-JP" sz="2800" dirty="0"/>
          </a:p>
        </p:txBody>
      </p:sp>
      <p:sp>
        <p:nvSpPr>
          <p:cNvPr id="30" name="Text 23"/>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※例示であり、職種を限定するものではありません。</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01｜なぜ業界研究をするのか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金属業界を就職先として検討した学生は？</a:t>
            </a:r>
            <a:endParaRPr lang="en-US" sz="3000" dirty="0"/>
          </a:p>
        </p:txBody>
      </p:sp>
      <p:sp>
        <p:nvSpPr>
          <p:cNvPr id="5" name="Text 2"/>
          <p:cNvSpPr txBox="1"/>
          <p:nvPr/>
        </p:nvSpPr>
        <p:spPr>
          <a:xfrm>
            <a:off x="548640" y="1645920"/>
            <a:ext cx="5669280" cy="411480"/>
          </a:xfrm>
          <a:prstGeom prst="rect">
            <a:avLst/>
          </a:prstGeom>
          <a:noFill/>
          <a:ln/>
        </p:spPr>
        <p:txBody>
          <a:bodyPr wrap="square" lIns="0" tIns="0" rIns="0" bIns="0" rtlCol="0" anchor="t"/>
          <a:lstStyle/>
          <a:p>
            <a:pPr indent="0" marL="0">
              <a:buNone/>
            </a:pPr>
            <a:r>
              <a:rPr lang="ja-JP" altLang="en-US" sz="2000" b="1" dirty="0">
                <a:solidFill>
                  <a:schemeClr val="accent1"/>
                </a:solidFill>
              </a:rPr>
              <a:t>2027卒対象の業界イメージ調査</a:t>
            </a:r>
            <a:endParaRPr lang="ja-JP" sz="2000" dirty="0"/>
          </a:p>
        </p:txBody>
      </p:sp>
      <p:sp>
        <p:nvSpPr>
          <p:cNvPr id="6" name="Text 3"/>
          <p:cNvSpPr txBox="1"/>
          <p:nvPr/>
        </p:nvSpPr>
        <p:spPr>
          <a:xfrm>
            <a:off x="457200" y="1965960"/>
            <a:ext cx="5760720" cy="1691640"/>
          </a:xfrm>
          <a:prstGeom prst="rect">
            <a:avLst/>
          </a:prstGeom>
          <a:noFill/>
          <a:ln/>
        </p:spPr>
        <p:txBody>
          <a:bodyPr wrap="square" lIns="0" tIns="0" rIns="0" bIns="0" rtlCol="0" anchor="ctr"/>
          <a:lstStyle/>
          <a:p>
            <a:pPr indent="0" marL="0">
              <a:buNone/>
            </a:pPr>
            <a:r>
              <a:rPr lang="ja-JP" altLang="en-US" sz="12000" b="1" dirty="0">
                <a:solidFill>
                  <a:schemeClr val="accent1"/>
                </a:solidFill>
              </a:rPr>
              <a:t>10.1</a:t>
            </a:r>
            <a:pPr indent="0" marL="0">
              <a:buNone/>
            </a:pPr>
            <a:r>
              <a:rPr lang="ja-JP" altLang="en-US" sz="6000" b="1" dirty="0">
                <a:solidFill>
                  <a:schemeClr val="accent1"/>
                </a:solidFill>
              </a:rPr>
              <a:t>％</a:t>
            </a:r>
            <a:endParaRPr lang="ja-JP" sz="2000" dirty="0"/>
          </a:p>
        </p:txBody>
      </p:sp>
      <p:sp>
        <p:nvSpPr>
          <p:cNvPr id="7" name="Text 4"/>
          <p:cNvSpPr txBox="1"/>
          <p:nvPr/>
        </p:nvSpPr>
        <p:spPr>
          <a:xfrm>
            <a:off x="548640" y="3703320"/>
            <a:ext cx="5760720" cy="868680"/>
          </a:xfrm>
          <a:prstGeom prst="rect">
            <a:avLst/>
          </a:prstGeom>
          <a:noFill/>
          <a:ln/>
        </p:spPr>
        <p:txBody>
          <a:bodyPr wrap="square" lIns="0" tIns="0" rIns="0" bIns="0" rtlCol="0" anchor="t"/>
          <a:lstStyle/>
          <a:p>
            <a:pPr indent="0" marL="0">
              <a:buNone/>
            </a:pPr>
            <a:r>
              <a:rPr lang="ja-JP" altLang="en-US" sz="2200" b="1" dirty="0">
                <a:solidFill>
                  <a:schemeClr val="tx2"/>
                </a:solidFill>
              </a:rPr>
              <a:t>「鉄鋼・金属・鉱業」を就職先として</a:t>
            </a:r>
            <a:endParaRPr lang="ja-JP" sz="2200" dirty="0"/>
          </a:p>
          <a:p>
            <a:pPr indent="0" marL="0">
              <a:buNone/>
            </a:pPr>
            <a:r>
              <a:rPr lang="ja-JP" altLang="en-US" sz="2200" b="1" dirty="0">
                <a:solidFill>
                  <a:schemeClr val="tx2"/>
                </a:solidFill>
              </a:rPr>
              <a:t>検討したことがある</a:t>
            </a:r>
            <a:endParaRPr lang="ja-JP" sz="2200" dirty="0"/>
          </a:p>
        </p:txBody>
      </p:sp>
      <p:pic>
        <p:nvPicPr>
          <p:cNvPr id="8" name="Image 0" descr="TbUserFilled">    </p:cNvPr>
          <p:cNvPicPr>
            <a:picLocks noChangeAspect="1"/>
          </p:cNvPicPr>
          <p:nvPr/>
        </p:nvPicPr>
        <p:blipFill>
          <a:blip r:embed="rId1"/>
          <a:stretch>
            <a:fillRect/>
          </a:stretch>
        </p:blipFill>
        <p:spPr>
          <a:xfrm>
            <a:off x="6629400" y="1783080"/>
            <a:ext cx="914400" cy="914400"/>
          </a:xfrm>
          <a:prstGeom prst="rect">
            <a:avLst/>
          </a:prstGeom>
        </p:spPr>
      </p:pic>
      <p:pic>
        <p:nvPicPr>
          <p:cNvPr id="9" name="Image 1" descr="TbUserFilled">    </p:cNvPr>
          <p:cNvPicPr>
            <a:picLocks noChangeAspect="1"/>
          </p:cNvPicPr>
          <p:nvPr/>
        </p:nvPicPr>
        <p:blipFill>
          <a:blip r:embed="rId2"/>
          <a:stretch>
            <a:fillRect/>
          </a:stretch>
        </p:blipFill>
        <p:spPr>
          <a:xfrm>
            <a:off x="7607808" y="1783080"/>
            <a:ext cx="914400" cy="914400"/>
          </a:xfrm>
          <a:prstGeom prst="rect">
            <a:avLst/>
          </a:prstGeom>
        </p:spPr>
      </p:pic>
      <p:pic>
        <p:nvPicPr>
          <p:cNvPr id="10" name="Image 2" descr="TbUserFilled">    </p:cNvPr>
          <p:cNvPicPr>
            <a:picLocks noChangeAspect="1"/>
          </p:cNvPicPr>
          <p:nvPr/>
        </p:nvPicPr>
        <p:blipFill>
          <a:blip r:embed="rId3"/>
          <a:stretch>
            <a:fillRect/>
          </a:stretch>
        </p:blipFill>
        <p:spPr>
          <a:xfrm>
            <a:off x="8586216" y="1783080"/>
            <a:ext cx="914400" cy="914400"/>
          </a:xfrm>
          <a:prstGeom prst="rect">
            <a:avLst/>
          </a:prstGeom>
        </p:spPr>
      </p:pic>
      <p:pic>
        <p:nvPicPr>
          <p:cNvPr id="11" name="Image 3" descr="TbUserFilled">    </p:cNvPr>
          <p:cNvPicPr>
            <a:picLocks noChangeAspect="1"/>
          </p:cNvPicPr>
          <p:nvPr/>
        </p:nvPicPr>
        <p:blipFill>
          <a:blip r:embed="rId4"/>
          <a:stretch>
            <a:fillRect/>
          </a:stretch>
        </p:blipFill>
        <p:spPr>
          <a:xfrm>
            <a:off x="9564624" y="1783080"/>
            <a:ext cx="914400" cy="914400"/>
          </a:xfrm>
          <a:prstGeom prst="rect">
            <a:avLst/>
          </a:prstGeom>
        </p:spPr>
      </p:pic>
      <p:pic>
        <p:nvPicPr>
          <p:cNvPr id="12" name="Image 4" descr="TbUserFilled">    </p:cNvPr>
          <p:cNvPicPr>
            <a:picLocks noChangeAspect="1"/>
          </p:cNvPicPr>
          <p:nvPr/>
        </p:nvPicPr>
        <p:blipFill>
          <a:blip r:embed="rId5"/>
          <a:stretch>
            <a:fillRect/>
          </a:stretch>
        </p:blipFill>
        <p:spPr>
          <a:xfrm>
            <a:off x="10543032" y="1783080"/>
            <a:ext cx="914400" cy="914400"/>
          </a:xfrm>
          <a:prstGeom prst="rect">
            <a:avLst/>
          </a:prstGeom>
        </p:spPr>
      </p:pic>
      <p:pic>
        <p:nvPicPr>
          <p:cNvPr id="13" name="Image 5" descr="TbUserFilled">    </p:cNvPr>
          <p:cNvPicPr>
            <a:picLocks noChangeAspect="1"/>
          </p:cNvPicPr>
          <p:nvPr/>
        </p:nvPicPr>
        <p:blipFill>
          <a:blip r:embed="rId6"/>
          <a:stretch>
            <a:fillRect/>
          </a:stretch>
        </p:blipFill>
        <p:spPr>
          <a:xfrm>
            <a:off x="6629400" y="3108960"/>
            <a:ext cx="914400" cy="914400"/>
          </a:xfrm>
          <a:prstGeom prst="rect">
            <a:avLst/>
          </a:prstGeom>
        </p:spPr>
      </p:pic>
      <p:pic>
        <p:nvPicPr>
          <p:cNvPr id="14" name="Image 6" descr="TbUserFilled">    </p:cNvPr>
          <p:cNvPicPr>
            <a:picLocks noChangeAspect="1"/>
          </p:cNvPicPr>
          <p:nvPr/>
        </p:nvPicPr>
        <p:blipFill>
          <a:blip r:embed="rId7"/>
          <a:stretch>
            <a:fillRect/>
          </a:stretch>
        </p:blipFill>
        <p:spPr>
          <a:xfrm>
            <a:off x="7607808" y="3108960"/>
            <a:ext cx="914400" cy="914400"/>
          </a:xfrm>
          <a:prstGeom prst="rect">
            <a:avLst/>
          </a:prstGeom>
        </p:spPr>
      </p:pic>
      <p:pic>
        <p:nvPicPr>
          <p:cNvPr id="15" name="Image 7" descr="TbUserFilled">    </p:cNvPr>
          <p:cNvPicPr>
            <a:picLocks noChangeAspect="1"/>
          </p:cNvPicPr>
          <p:nvPr/>
        </p:nvPicPr>
        <p:blipFill>
          <a:blip r:embed="rId8"/>
          <a:stretch>
            <a:fillRect/>
          </a:stretch>
        </p:blipFill>
        <p:spPr>
          <a:xfrm>
            <a:off x="8586216" y="3108960"/>
            <a:ext cx="914400" cy="914400"/>
          </a:xfrm>
          <a:prstGeom prst="rect">
            <a:avLst/>
          </a:prstGeom>
        </p:spPr>
      </p:pic>
      <p:pic>
        <p:nvPicPr>
          <p:cNvPr id="16" name="Image 8" descr="TbUserFilled">    </p:cNvPr>
          <p:cNvPicPr>
            <a:picLocks noChangeAspect="1"/>
          </p:cNvPicPr>
          <p:nvPr/>
        </p:nvPicPr>
        <p:blipFill>
          <a:blip r:embed="rId9"/>
          <a:stretch>
            <a:fillRect/>
          </a:stretch>
        </p:blipFill>
        <p:spPr>
          <a:xfrm>
            <a:off x="9564624" y="3108960"/>
            <a:ext cx="914400" cy="914400"/>
          </a:xfrm>
          <a:prstGeom prst="rect">
            <a:avLst/>
          </a:prstGeom>
        </p:spPr>
      </p:pic>
      <p:pic>
        <p:nvPicPr>
          <p:cNvPr id="17" name="Image 9" descr="TbUserFilled">    </p:cNvPr>
          <p:cNvPicPr>
            <a:picLocks noChangeAspect="1"/>
          </p:cNvPicPr>
          <p:nvPr/>
        </p:nvPicPr>
        <p:blipFill>
          <a:blip r:embed="rId10"/>
          <a:stretch>
            <a:fillRect/>
          </a:stretch>
        </p:blipFill>
        <p:spPr>
          <a:xfrm>
            <a:off x="10543032" y="3108960"/>
            <a:ext cx="914400" cy="914400"/>
          </a:xfrm>
          <a:prstGeom prst="rect">
            <a:avLst/>
          </a:prstGeom>
        </p:spPr>
      </p:pic>
      <p:sp>
        <p:nvSpPr>
          <p:cNvPr id="18" name="Text 5"/>
          <p:cNvSpPr txBox="1"/>
          <p:nvPr/>
        </p:nvSpPr>
        <p:spPr>
          <a:xfrm>
            <a:off x="6629400" y="4434840"/>
            <a:ext cx="4937760" cy="411480"/>
          </a:xfrm>
          <a:prstGeom prst="rect">
            <a:avLst/>
          </a:prstGeom>
          <a:noFill/>
          <a:ln/>
        </p:spPr>
        <p:txBody>
          <a:bodyPr wrap="square" lIns="0" tIns="0" rIns="0" bIns="0" rtlCol="0" anchor="t"/>
          <a:lstStyle/>
          <a:p>
            <a:pPr algn="ctr" indent="0" marL="0">
              <a:buNone/>
            </a:pPr>
            <a:r>
              <a:rPr lang="ja-JP" altLang="en-US" sz="2200" b="1" dirty="0">
                <a:solidFill>
                  <a:schemeClr val="accent3"/>
                </a:solidFill>
              </a:rPr>
              <a:t>約10人に1人</a:t>
            </a:r>
            <a:pPr algn="ctr" indent="0" marL="0">
              <a:buNone/>
            </a:pPr>
            <a:r>
              <a:rPr lang="ja-JP" altLang="en-US" sz="1600" dirty="0">
                <a:solidFill>
                  <a:schemeClr val="accent4"/>
                </a:solidFill>
              </a:rPr>
              <a:t>（比率のイメージ）</a:t>
            </a:r>
            <a:endParaRPr lang="ja-JP" sz="2200" dirty="0"/>
          </a:p>
        </p:txBody>
      </p:sp>
      <p:sp>
        <p:nvSpPr>
          <p:cNvPr id="19" name="Shape 6"/>
          <p:cNvSpPr/>
          <p:nvPr/>
        </p:nvSpPr>
        <p:spPr>
          <a:xfrm>
            <a:off x="548640" y="4983480"/>
            <a:ext cx="11091672" cy="777240"/>
          </a:xfrm>
          <a:prstGeom prst="roundRect">
            <a:avLst>
              <a:gd name="adj" fmla="val 14118"/>
            </a:avLst>
          </a:prstGeom>
          <a:solidFill>
            <a:schemeClr val="bg2"/>
          </a:solidFill>
          <a:ln/>
        </p:spPr>
      </p:sp>
      <p:pic>
        <p:nvPicPr>
          <p:cNvPr id="20" name="Image 10" descr="TbAlertTriangle">    </p:cNvPr>
          <p:cNvPicPr>
            <a:picLocks noChangeAspect="1"/>
          </p:cNvPicPr>
          <p:nvPr/>
        </p:nvPicPr>
        <p:blipFill>
          <a:blip r:embed="rId11"/>
          <a:stretch>
            <a:fillRect/>
          </a:stretch>
        </p:blipFill>
        <p:spPr>
          <a:xfrm>
            <a:off x="777240" y="5138928"/>
            <a:ext cx="457200" cy="457200"/>
          </a:xfrm>
          <a:prstGeom prst="rect">
            <a:avLst/>
          </a:prstGeom>
        </p:spPr>
      </p:pic>
      <p:sp>
        <p:nvSpPr>
          <p:cNvPr id="21" name="Text 7"/>
          <p:cNvSpPr txBox="1"/>
          <p:nvPr/>
        </p:nvSpPr>
        <p:spPr>
          <a:xfrm>
            <a:off x="1417320" y="4983480"/>
            <a:ext cx="10058400" cy="777240"/>
          </a:xfrm>
          <a:prstGeom prst="rect">
            <a:avLst/>
          </a:prstGeom>
          <a:noFill/>
          <a:ln/>
        </p:spPr>
        <p:txBody>
          <a:bodyPr wrap="square" lIns="0" tIns="0" rIns="0" bIns="0" rtlCol="0" anchor="ctr"/>
          <a:lstStyle/>
          <a:p>
            <a:pPr indent="0" marL="0">
              <a:buNone/>
            </a:pPr>
            <a:r>
              <a:rPr lang="ja-JP" altLang="en-US" sz="2000" dirty="0">
                <a:solidFill>
                  <a:schemeClr val="tx2"/>
                </a:solidFill>
              </a:rPr>
              <a:t>測定しているのは「興味」ではなく、</a:t>
            </a:r>
            <a:pPr indent="0" marL="0">
              <a:buNone/>
            </a:pPr>
            <a:r>
              <a:rPr lang="ja-JP" altLang="en-US" sz="2000" b="1" dirty="0">
                <a:solidFill>
                  <a:schemeClr val="accent1"/>
                </a:solidFill>
              </a:rPr>
              <a:t>「就職先として検討した経験」</a:t>
            </a:r>
            <a:endParaRPr lang="ja-JP" sz="2000" dirty="0"/>
          </a:p>
        </p:txBody>
      </p:sp>
      <p:sp>
        <p:nvSpPr>
          <p:cNvPr id="22" name="Text 8"/>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 2026年4月8〜18日／回答1,579人／複数回答　出典：マイナビ「2027年卒 大学生業界イメージ調査」</a:t>
            </a:r>
            <a:pPr indent="0" marL="0">
              <a:buNone/>
            </a:pPr>
            <a:r>
              <a:rPr lang="ja-JP" altLang="en-US" sz="1200" b="1" dirty="0">
                <a:solidFill>
                  <a:srgbClr val="B86E10"/>
                </a:solidFill>
              </a:rPr>
              <a:t>　【要確認】10.1％は一次資料で再確認</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2"/>
                </a:solidFill>
              </a:rPr>
              <a:t>CHAPTER 01｜なぜ業界研究をするのか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bg1"/>
                </a:solidFill>
              </a:rPr>
              <a:t>知らないから、まだ興味を持つ機会がなかった</a:t>
            </a:r>
            <a:endParaRPr lang="en-US" sz="3000" dirty="0"/>
          </a:p>
        </p:txBody>
      </p:sp>
      <p:sp>
        <p:nvSpPr>
          <p:cNvPr id="5" name="Text 2"/>
          <p:cNvSpPr txBox="1"/>
          <p:nvPr/>
        </p:nvSpPr>
        <p:spPr>
          <a:xfrm>
            <a:off x="548640" y="1783080"/>
            <a:ext cx="7863840" cy="1005840"/>
          </a:xfrm>
          <a:prstGeom prst="rect">
            <a:avLst/>
          </a:prstGeom>
          <a:noFill/>
          <a:ln/>
        </p:spPr>
        <p:txBody>
          <a:bodyPr wrap="square" lIns="0" tIns="0" rIns="0" bIns="0" rtlCol="0" anchor="ctr"/>
          <a:lstStyle/>
          <a:p>
            <a:pPr indent="0" marL="0">
              <a:buNone/>
            </a:pPr>
            <a:r>
              <a:rPr lang="ja-JP" altLang="en-US" sz="5400" b="1" dirty="0">
                <a:solidFill>
                  <a:schemeClr val="bg1"/>
                </a:solidFill>
              </a:rPr>
              <a:t>知らない ≠ 興味がない</a:t>
            </a:r>
            <a:endParaRPr lang="ja-JP" sz="5400" dirty="0"/>
          </a:p>
        </p:txBody>
      </p:sp>
      <p:sp>
        <p:nvSpPr>
          <p:cNvPr id="6" name="Text 3"/>
          <p:cNvSpPr txBox="1"/>
          <p:nvPr/>
        </p:nvSpPr>
        <p:spPr>
          <a:xfrm>
            <a:off x="548640" y="2880360"/>
            <a:ext cx="7863840" cy="640080"/>
          </a:xfrm>
          <a:prstGeom prst="rect">
            <a:avLst/>
          </a:prstGeom>
          <a:noFill/>
          <a:ln/>
        </p:spPr>
        <p:txBody>
          <a:bodyPr wrap="square" lIns="0" tIns="0" rIns="0" bIns="0" rtlCol="0" anchor="ctr"/>
          <a:lstStyle/>
          <a:p>
            <a:pPr indent="0" marL="0">
              <a:buNone/>
            </a:pPr>
            <a:r>
              <a:rPr lang="ja-JP" altLang="en-US" sz="2800" b="1" dirty="0">
                <a:solidFill>
                  <a:schemeClr val="accent2"/>
                </a:solidFill>
              </a:rPr>
              <a:t>知らない ＝ まだ触れたことがない可能性</a:t>
            </a:r>
            <a:endParaRPr lang="ja-JP" sz="2800" dirty="0"/>
          </a:p>
        </p:txBody>
      </p:sp>
      <p:sp>
        <p:nvSpPr>
          <p:cNvPr id="7" name="Text 4"/>
          <p:cNvSpPr txBox="1"/>
          <p:nvPr/>
        </p:nvSpPr>
        <p:spPr>
          <a:xfrm>
            <a:off x="548640" y="4160520"/>
            <a:ext cx="1737360" cy="777240"/>
          </a:xfrm>
          <a:prstGeom prst="roundRect">
            <a:avLst>
              <a:gd name="adj" fmla="val 50000"/>
            </a:avLst>
          </a:prstGeom>
          <a:solidFill>
            <a:schemeClr val="tx2"/>
          </a:solidFill>
          <a:ln w="19050">
            <a:solidFill>
              <a:schemeClr val="accent2"/>
            </a:solidFill>
          </a:ln>
        </p:spPr>
        <p:txBody>
          <a:bodyPr wrap="square" lIns="0" tIns="0" rIns="0" bIns="0" rtlCol="0" anchor="ctr"/>
          <a:lstStyle/>
          <a:p>
            <a:pPr algn="ctr" indent="0" marL="0">
              <a:buNone/>
            </a:pPr>
            <a:r>
              <a:rPr lang="ja-JP" altLang="en-US" sz="2400" b="1" dirty="0">
                <a:solidFill>
                  <a:schemeClr val="bg1"/>
                </a:solidFill>
              </a:rPr>
              <a:t>知る</a:t>
            </a:r>
            <a:endParaRPr lang="ja-JP" sz="2400" dirty="0"/>
          </a:p>
        </p:txBody>
      </p:sp>
      <p:sp>
        <p:nvSpPr>
          <p:cNvPr id="8" name="Shape 5"/>
          <p:cNvSpPr/>
          <p:nvPr/>
        </p:nvSpPr>
        <p:spPr>
          <a:xfrm>
            <a:off x="2423160" y="4343400"/>
            <a:ext cx="457200" cy="411480"/>
          </a:xfrm>
          <a:prstGeom prst="rightArrow">
            <a:avLst/>
          </a:prstGeom>
          <a:solidFill>
            <a:schemeClr val="accent2"/>
          </a:solidFill>
          <a:ln/>
        </p:spPr>
      </p:sp>
      <p:sp>
        <p:nvSpPr>
          <p:cNvPr id="9" name="Text 6"/>
          <p:cNvSpPr txBox="1"/>
          <p:nvPr/>
        </p:nvSpPr>
        <p:spPr>
          <a:xfrm>
            <a:off x="3017520" y="4160520"/>
            <a:ext cx="1737360" cy="777240"/>
          </a:xfrm>
          <a:prstGeom prst="roundRect">
            <a:avLst>
              <a:gd name="adj" fmla="val 50000"/>
            </a:avLst>
          </a:prstGeom>
          <a:solidFill>
            <a:schemeClr val="tx2"/>
          </a:solidFill>
          <a:ln w="19050">
            <a:solidFill>
              <a:schemeClr val="accent2"/>
            </a:solidFill>
          </a:ln>
        </p:spPr>
        <p:txBody>
          <a:bodyPr wrap="square" lIns="0" tIns="0" rIns="0" bIns="0" rtlCol="0" anchor="ctr"/>
          <a:lstStyle/>
          <a:p>
            <a:pPr algn="ctr" indent="0" marL="0">
              <a:buNone/>
            </a:pPr>
            <a:r>
              <a:rPr lang="ja-JP" altLang="en-US" sz="2400" b="1" dirty="0">
                <a:solidFill>
                  <a:schemeClr val="bg1"/>
                </a:solidFill>
              </a:rPr>
              <a:t>比べる</a:t>
            </a:r>
            <a:endParaRPr lang="ja-JP" sz="2400" dirty="0"/>
          </a:p>
        </p:txBody>
      </p:sp>
      <p:sp>
        <p:nvSpPr>
          <p:cNvPr id="10" name="Shape 7"/>
          <p:cNvSpPr/>
          <p:nvPr/>
        </p:nvSpPr>
        <p:spPr>
          <a:xfrm>
            <a:off x="4892040" y="4343400"/>
            <a:ext cx="457200" cy="411480"/>
          </a:xfrm>
          <a:prstGeom prst="rightArrow">
            <a:avLst/>
          </a:prstGeom>
          <a:solidFill>
            <a:schemeClr val="accent2"/>
          </a:solidFill>
          <a:ln/>
        </p:spPr>
      </p:sp>
      <p:sp>
        <p:nvSpPr>
          <p:cNvPr id="11" name="Text 8"/>
          <p:cNvSpPr txBox="1"/>
          <p:nvPr/>
        </p:nvSpPr>
        <p:spPr>
          <a:xfrm>
            <a:off x="5486400" y="4160520"/>
            <a:ext cx="2743200" cy="777240"/>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2400" b="1" dirty="0">
                <a:solidFill>
                  <a:schemeClr val="tx2"/>
                </a:solidFill>
              </a:rPr>
              <a:t>興味が生まれる</a:t>
            </a:r>
            <a:endParaRPr lang="ja-JP" sz="2400" dirty="0"/>
          </a:p>
        </p:txBody>
      </p:sp>
      <p:sp>
        <p:nvSpPr>
          <p:cNvPr id="12" name="Shape 9"/>
          <p:cNvSpPr/>
          <p:nvPr/>
        </p:nvSpPr>
        <p:spPr>
          <a:xfrm>
            <a:off x="8915400" y="1600200"/>
            <a:ext cx="2651760" cy="2651760"/>
          </a:xfrm>
          <a:prstGeom prst="ellipse">
            <a:avLst/>
          </a:prstGeom>
          <a:solidFill>
            <a:srgbClr val="1C3A57"/>
          </a:solidFill>
          <a:ln/>
        </p:spPr>
      </p:sp>
      <p:pic>
        <p:nvPicPr>
          <p:cNvPr id="13" name="Image 0" descr="TbTelescope">    </p:cNvPr>
          <p:cNvPicPr>
            <a:picLocks noChangeAspect="1"/>
          </p:cNvPicPr>
          <p:nvPr/>
        </p:nvPicPr>
        <p:blipFill>
          <a:blip r:embed="rId1"/>
          <a:stretch>
            <a:fillRect/>
          </a:stretch>
        </p:blipFill>
        <p:spPr>
          <a:xfrm>
            <a:off x="9509760" y="2194560"/>
            <a:ext cx="1463040" cy="1463040"/>
          </a:xfrm>
          <a:prstGeom prst="rect">
            <a:avLst/>
          </a:prstGeom>
        </p:spPr>
      </p:pic>
      <p:pic>
        <p:nvPicPr>
          <p:cNvPr id="14" name="Image 1" descr="TbMap2">    </p:cNvPr>
          <p:cNvPicPr>
            <a:picLocks noChangeAspect="1"/>
          </p:cNvPicPr>
          <p:nvPr/>
        </p:nvPicPr>
        <p:blipFill>
          <a:blip r:embed="rId2"/>
          <a:stretch>
            <a:fillRect/>
          </a:stretch>
        </p:blipFill>
        <p:spPr>
          <a:xfrm>
            <a:off x="10927080" y="3794760"/>
            <a:ext cx="731520" cy="731520"/>
          </a:xfrm>
          <a:prstGeom prst="rect">
            <a:avLst/>
          </a:prstGeom>
        </p:spPr>
      </p:pic>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A9C4CF"/>
                </a:solidFill>
                <a:latin typeface="Noto Sans CJK JP"/>
                <a:ea typeface="Noto Sans CJK JP"/>
                <a:cs typeface="Noto Sans CJK JP"/>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02｜なぜ業界全体から研究するのか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営業利益＋20％は、すごいこと？</a:t>
            </a:r>
            <a:endParaRPr lang="en-US" sz="3000" dirty="0"/>
          </a:p>
        </p:txBody>
      </p:sp>
      <p:sp>
        <p:nvSpPr>
          <p:cNvPr id="5" name="Text 2"/>
          <p:cNvSpPr txBox="1"/>
          <p:nvPr/>
        </p:nvSpPr>
        <p:spPr>
          <a:xfrm>
            <a:off x="9994392" y="777240"/>
            <a:ext cx="1645920" cy="457200"/>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800" b="1" dirty="0">
                <a:solidFill>
                  <a:schemeClr val="tx2"/>
                </a:solidFill>
              </a:rPr>
              <a:t>架空の例</a:t>
            </a:r>
            <a:endParaRPr lang="ja-JP" sz="1800" dirty="0"/>
          </a:p>
        </p:txBody>
      </p:sp>
      <p:sp>
        <p:nvSpPr>
          <p:cNvPr id="6" name="Shape 3"/>
          <p:cNvSpPr/>
          <p:nvPr/>
        </p:nvSpPr>
        <p:spPr>
          <a:xfrm>
            <a:off x="548640" y="1645920"/>
            <a:ext cx="4069080" cy="3520440"/>
          </a:xfrm>
          <a:prstGeom prst="roundRect">
            <a:avLst>
              <a:gd name="adj" fmla="val 4156"/>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7" name="Text 4"/>
          <p:cNvSpPr txBox="1"/>
          <p:nvPr/>
        </p:nvSpPr>
        <p:spPr>
          <a:xfrm>
            <a:off x="777240" y="1783080"/>
            <a:ext cx="3657600" cy="457200"/>
          </a:xfrm>
          <a:prstGeom prst="rect">
            <a:avLst/>
          </a:prstGeom>
          <a:noFill/>
          <a:ln/>
        </p:spPr>
        <p:txBody>
          <a:bodyPr wrap="square" lIns="0" tIns="0" rIns="0" bIns="0" rtlCol="0" anchor="t"/>
          <a:lstStyle/>
          <a:p>
            <a:pPr indent="0" marL="0">
              <a:buNone/>
            </a:pPr>
            <a:r>
              <a:rPr lang="ja-JP" altLang="en-US" sz="2000" b="1" dirty="0">
                <a:solidFill>
                  <a:schemeClr val="tx2"/>
                </a:solidFill>
              </a:rPr>
              <a:t>ケースA：業界全体 ＋50％</a:t>
            </a:r>
            <a:endParaRPr lang="ja-JP" sz="2000" dirty="0"/>
          </a:p>
        </p:txBody>
      </p:sp>
      <p:graphicFrame>
        <p:nvGraphicFramePr>
          <p:cNvPr id="8" name="Chart 0" descr=""/>
          <p:cNvGraphicFramePr/>
          <p:nvPr/>
        </p:nvGraphicFramePr>
        <p:xfrm>
          <a:off x="731520" y="2240280"/>
          <a:ext cx="3703320" cy="233172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777240" y="4617720"/>
            <a:ext cx="3657600" cy="411480"/>
          </a:xfrm>
          <a:prstGeom prst="rect">
            <a:avLst/>
          </a:prstGeom>
          <a:noFill/>
          <a:ln/>
        </p:spPr>
        <p:txBody>
          <a:bodyPr wrap="square" lIns="0" tIns="0" rIns="0" bIns="0" rtlCol="0" anchor="t"/>
          <a:lstStyle/>
          <a:p>
            <a:pPr indent="0" marL="0">
              <a:buNone/>
            </a:pPr>
            <a:r>
              <a:rPr lang="ja-JP" altLang="en-US" sz="1600" b="1" dirty="0">
                <a:solidFill>
                  <a:schemeClr val="accent4"/>
                </a:solidFill>
              </a:rPr>
              <a:t>追い風の中では、業界平均を下回る</a:t>
            </a:r>
            <a:endParaRPr lang="ja-JP" sz="1600" dirty="0"/>
          </a:p>
        </p:txBody>
      </p:sp>
      <p:sp>
        <p:nvSpPr>
          <p:cNvPr id="10" name="Shape 6"/>
          <p:cNvSpPr/>
          <p:nvPr/>
        </p:nvSpPr>
        <p:spPr>
          <a:xfrm>
            <a:off x="7571232" y="1645920"/>
            <a:ext cx="4069080" cy="3520440"/>
          </a:xfrm>
          <a:prstGeom prst="roundRect">
            <a:avLst>
              <a:gd name="adj" fmla="val 4156"/>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11" name="Text 7"/>
          <p:cNvSpPr txBox="1"/>
          <p:nvPr/>
        </p:nvSpPr>
        <p:spPr>
          <a:xfrm>
            <a:off x="7799832" y="1783080"/>
            <a:ext cx="3657600" cy="457200"/>
          </a:xfrm>
          <a:prstGeom prst="rect">
            <a:avLst/>
          </a:prstGeom>
          <a:noFill/>
          <a:ln/>
        </p:spPr>
        <p:txBody>
          <a:bodyPr wrap="square" lIns="0" tIns="0" rIns="0" bIns="0" rtlCol="0" anchor="t"/>
          <a:lstStyle/>
          <a:p>
            <a:pPr indent="0" marL="0">
              <a:buNone/>
            </a:pPr>
            <a:r>
              <a:rPr lang="ja-JP" altLang="en-US" sz="2000" b="1" dirty="0">
                <a:solidFill>
                  <a:schemeClr val="tx2"/>
                </a:solidFill>
              </a:rPr>
              <a:t>ケースB：業界全体 −20％</a:t>
            </a:r>
            <a:endParaRPr lang="ja-JP" sz="2000" dirty="0"/>
          </a:p>
        </p:txBody>
      </p:sp>
      <p:graphicFrame>
        <p:nvGraphicFramePr>
          <p:cNvPr id="12" name="Chart 1" descr=""/>
          <p:cNvGraphicFramePr/>
          <p:nvPr/>
        </p:nvGraphicFramePr>
        <p:xfrm>
          <a:off x="7754112" y="2240280"/>
          <a:ext cx="3703320" cy="2331720"/>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7799832" y="4617720"/>
            <a:ext cx="3657600" cy="411480"/>
          </a:xfrm>
          <a:prstGeom prst="rect">
            <a:avLst/>
          </a:prstGeom>
          <a:noFill/>
          <a:ln/>
        </p:spPr>
        <p:txBody>
          <a:bodyPr wrap="square" lIns="0" tIns="0" rIns="0" bIns="0" rtlCol="0" anchor="t"/>
          <a:lstStyle/>
          <a:p>
            <a:pPr indent="0" marL="0">
              <a:buNone/>
            </a:pPr>
            <a:r>
              <a:rPr lang="ja-JP" altLang="en-US" sz="1600" b="1" dirty="0">
                <a:solidFill>
                  <a:schemeClr val="accent4"/>
                </a:solidFill>
              </a:rPr>
              <a:t>逆風の中での増益は、独自の強み？</a:t>
            </a:r>
            <a:endParaRPr lang="ja-JP" sz="1600" dirty="0"/>
          </a:p>
        </p:txBody>
      </p:sp>
      <p:sp>
        <p:nvSpPr>
          <p:cNvPr id="14" name="Text 9"/>
          <p:cNvSpPr txBox="1"/>
          <p:nvPr/>
        </p:nvSpPr>
        <p:spPr>
          <a:xfrm>
            <a:off x="4837176" y="2057400"/>
            <a:ext cx="2514600" cy="2651760"/>
          </a:xfrm>
          <a:prstGeom prst="roundRect">
            <a:avLst>
              <a:gd name="adj" fmla="val 7273"/>
            </a:avLst>
          </a:prstGeom>
          <a:solidFill>
            <a:schemeClr val="tx2"/>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800" dirty="0">
                <a:solidFill>
                  <a:schemeClr val="accent2"/>
                </a:solidFill>
              </a:rPr>
              <a:t>架空の企業A</a:t>
            </a:r>
            <a:endParaRPr lang="ja-JP" sz="1800" dirty="0"/>
          </a:p>
          <a:p>
            <a:pPr algn="ctr" indent="0" marL="0">
              <a:buNone/>
            </a:pPr>
            <a:r>
              <a:rPr lang="ja-JP" altLang="en-US" sz="2000" dirty="0">
                <a:solidFill>
                  <a:schemeClr val="bg1"/>
                </a:solidFill>
              </a:rPr>
              <a:t>営業利益</a:t>
            </a:r>
            <a:endParaRPr lang="ja-JP" sz="1800" dirty="0"/>
          </a:p>
          <a:p>
            <a:pPr algn="ctr" indent="0" marL="0">
              <a:buNone/>
            </a:pPr>
            <a:r>
              <a:rPr lang="ja-JP" altLang="en-US" sz="5000" b="1" dirty="0">
                <a:solidFill>
                  <a:schemeClr val="bg1"/>
                </a:solidFill>
              </a:rPr>
              <a:t>＋20％</a:t>
            </a:r>
            <a:endParaRPr lang="ja-JP" sz="1800" dirty="0"/>
          </a:p>
        </p:txBody>
      </p:sp>
      <p:sp>
        <p:nvSpPr>
          <p:cNvPr id="15" name="Shape 10"/>
          <p:cNvSpPr/>
          <p:nvPr/>
        </p:nvSpPr>
        <p:spPr>
          <a:xfrm>
            <a:off x="548640" y="5349240"/>
            <a:ext cx="11091672" cy="548640"/>
          </a:xfrm>
          <a:prstGeom prst="roundRect">
            <a:avLst>
              <a:gd name="adj" fmla="val 20000"/>
            </a:avLst>
          </a:prstGeom>
          <a:solidFill>
            <a:schemeClr val="bg2"/>
          </a:solidFill>
          <a:ln/>
        </p:spPr>
      </p:sp>
      <p:sp>
        <p:nvSpPr>
          <p:cNvPr id="16" name="Text 11"/>
          <p:cNvSpPr txBox="1"/>
          <p:nvPr/>
        </p:nvSpPr>
        <p:spPr>
          <a:xfrm>
            <a:off x="822960" y="5349240"/>
            <a:ext cx="10607040" cy="548640"/>
          </a:xfrm>
          <a:prstGeom prst="rect">
            <a:avLst/>
          </a:prstGeom>
          <a:noFill/>
          <a:ln/>
        </p:spPr>
        <p:txBody>
          <a:bodyPr wrap="square" lIns="0" tIns="0" rIns="0" bIns="0" rtlCol="0" anchor="ctr"/>
          <a:lstStyle/>
          <a:p>
            <a:pPr indent="0" marL="0">
              <a:buNone/>
            </a:pPr>
            <a:r>
              <a:rPr lang="ja-JP" altLang="en-US" sz="2200" b="1" dirty="0">
                <a:solidFill>
                  <a:schemeClr val="tx2"/>
                </a:solidFill>
              </a:rPr>
              <a:t>同じ＋20％でも「企業独自の強さ」の見方は変わる。</a:t>
            </a:r>
            <a:endParaRPr lang="ja-JP" sz="2200" dirty="0"/>
          </a:p>
        </p:txBody>
      </p:sp>
      <p:sp>
        <p:nvSpPr>
          <p:cNvPr id="17" name="Text 12"/>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※架空の数値による説明用の例。実際の分析では前年の利益水準や一時的な要因も確認する。</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02｜なぜ業界全体から研究するのか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企業は単独では存在しない</a:t>
            </a:r>
            <a:endParaRPr lang="en-US" sz="3000" dirty="0"/>
          </a:p>
        </p:txBody>
      </p:sp>
      <p:sp>
        <p:nvSpPr>
          <p:cNvPr id="5" name="Shape 2"/>
          <p:cNvSpPr/>
          <p:nvPr/>
        </p:nvSpPr>
        <p:spPr>
          <a:xfrm flipV="1">
            <a:off x="4114800" y="2121408"/>
            <a:ext cx="914" cy="1627632"/>
          </a:xfrm>
          <a:prstGeom prst="line">
            <a:avLst/>
          </a:prstGeom>
          <a:noFill/>
          <a:ln w="31750">
            <a:solidFill>
              <a:schemeClr val="accent5"/>
            </a:solidFill>
            <a:prstDash val="solid"/>
          </a:ln>
        </p:spPr>
      </p:sp>
      <p:sp>
        <p:nvSpPr>
          <p:cNvPr id="6" name="Shape 3"/>
          <p:cNvSpPr/>
          <p:nvPr/>
        </p:nvSpPr>
        <p:spPr>
          <a:xfrm flipV="1">
            <a:off x="4114800" y="3246074"/>
            <a:ext cx="2565456" cy="502966"/>
          </a:xfrm>
          <a:prstGeom prst="line">
            <a:avLst/>
          </a:prstGeom>
          <a:noFill/>
          <a:ln w="31750">
            <a:solidFill>
              <a:schemeClr val="accent5"/>
            </a:solidFill>
            <a:prstDash val="solid"/>
          </a:ln>
        </p:spPr>
      </p:sp>
      <p:sp>
        <p:nvSpPr>
          <p:cNvPr id="7" name="Shape 4"/>
          <p:cNvSpPr/>
          <p:nvPr/>
        </p:nvSpPr>
        <p:spPr>
          <a:xfrm>
            <a:off x="4114800" y="3749040"/>
            <a:ext cx="1585539" cy="1316782"/>
          </a:xfrm>
          <a:prstGeom prst="line">
            <a:avLst/>
          </a:prstGeom>
          <a:noFill/>
          <a:ln w="31750">
            <a:solidFill>
              <a:schemeClr val="accent5"/>
            </a:solidFill>
            <a:prstDash val="solid"/>
          </a:ln>
        </p:spPr>
      </p:sp>
      <p:sp>
        <p:nvSpPr>
          <p:cNvPr id="8" name="Shape 5"/>
          <p:cNvSpPr/>
          <p:nvPr/>
        </p:nvSpPr>
        <p:spPr>
          <a:xfrm flipH="1">
            <a:off x="2529261" y="3749040"/>
            <a:ext cx="1585539" cy="1316782"/>
          </a:xfrm>
          <a:prstGeom prst="line">
            <a:avLst/>
          </a:prstGeom>
          <a:noFill/>
          <a:ln w="31750">
            <a:solidFill>
              <a:schemeClr val="accent5"/>
            </a:solidFill>
            <a:prstDash val="solid"/>
          </a:ln>
        </p:spPr>
      </p:sp>
      <p:sp>
        <p:nvSpPr>
          <p:cNvPr id="9" name="Shape 6"/>
          <p:cNvSpPr/>
          <p:nvPr/>
        </p:nvSpPr>
        <p:spPr>
          <a:xfrm flipH="1" flipV="1">
            <a:off x="1549344" y="3246074"/>
            <a:ext cx="2565456" cy="502966"/>
          </a:xfrm>
          <a:prstGeom prst="line">
            <a:avLst/>
          </a:prstGeom>
          <a:noFill/>
          <a:ln w="31750">
            <a:solidFill>
              <a:schemeClr val="accent5"/>
            </a:solidFill>
            <a:prstDash val="solid"/>
          </a:ln>
        </p:spPr>
      </p:sp>
      <p:sp>
        <p:nvSpPr>
          <p:cNvPr id="10" name="Shape 7"/>
          <p:cNvSpPr/>
          <p:nvPr/>
        </p:nvSpPr>
        <p:spPr>
          <a:xfrm>
            <a:off x="3456432" y="3090672"/>
            <a:ext cx="1316736" cy="1316736"/>
          </a:xfrm>
          <a:prstGeom prst="ellipse">
            <a:avLst/>
          </a:prstGeom>
          <a:solidFill>
            <a:schemeClr val="tx2"/>
          </a:solidFill>
          <a:ln/>
          <a:effectLst>
            <a:outerShdw sx="100000" sy="100000" kx="0" ky="0" algn="bl" rotWithShape="0" blurRad="101600" dist="25400" dir="5400000">
              <a:srgbClr val="12243A">
                <a:alpha val="14000"/>
              </a:srgbClr>
            </a:outerShdw>
          </a:effectLst>
        </p:spPr>
      </p:sp>
      <p:sp>
        <p:nvSpPr>
          <p:cNvPr id="11" name="Text 8"/>
          <p:cNvSpPr txBox="1"/>
          <p:nvPr/>
        </p:nvSpPr>
        <p:spPr>
          <a:xfrm>
            <a:off x="3456432" y="3090672"/>
            <a:ext cx="1316736" cy="1316736"/>
          </a:xfrm>
          <a:prstGeom prst="rect">
            <a:avLst/>
          </a:prstGeom>
          <a:noFill/>
          <a:ln/>
        </p:spPr>
        <p:txBody>
          <a:bodyPr wrap="square" lIns="0" tIns="0" rIns="0" bIns="0" rtlCol="0" anchor="ctr"/>
          <a:lstStyle/>
          <a:p>
            <a:pPr algn="ctr" indent="0" marL="0">
              <a:buNone/>
            </a:pPr>
            <a:r>
              <a:rPr lang="ja-JP" altLang="en-US" sz="3000" b="1" dirty="0">
                <a:solidFill>
                  <a:schemeClr val="bg1"/>
                </a:solidFill>
              </a:rPr>
              <a:t>企業</a:t>
            </a:r>
            <a:endParaRPr lang="ja-JP" sz="3000" dirty="0"/>
          </a:p>
        </p:txBody>
      </p:sp>
      <p:sp>
        <p:nvSpPr>
          <p:cNvPr id="12" name="Text 9"/>
          <p:cNvSpPr txBox="1"/>
          <p:nvPr/>
        </p:nvSpPr>
        <p:spPr>
          <a:xfrm>
            <a:off x="3611880" y="2589581"/>
            <a:ext cx="1005840" cy="36576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500" b="1" dirty="0">
                <a:solidFill>
                  <a:schemeClr val="accent1"/>
                </a:solidFill>
              </a:rPr>
              <a:t>注文</a:t>
            </a:r>
            <a:endParaRPr lang="ja-JP" sz="1500" dirty="0"/>
          </a:p>
        </p:txBody>
      </p:sp>
      <p:sp>
        <p:nvSpPr>
          <p:cNvPr id="13" name="Text 10"/>
          <p:cNvSpPr txBox="1"/>
          <p:nvPr/>
        </p:nvSpPr>
        <p:spPr>
          <a:xfrm>
            <a:off x="5151154" y="3264380"/>
            <a:ext cx="1005840" cy="36576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500" b="1" dirty="0">
                <a:solidFill>
                  <a:schemeClr val="accent1"/>
                </a:solidFill>
              </a:rPr>
              <a:t>原料</a:t>
            </a:r>
            <a:endParaRPr lang="ja-JP" sz="1500" dirty="0"/>
          </a:p>
        </p:txBody>
      </p:sp>
      <p:sp>
        <p:nvSpPr>
          <p:cNvPr id="14" name="Text 11"/>
          <p:cNvSpPr txBox="1"/>
          <p:nvPr/>
        </p:nvSpPr>
        <p:spPr>
          <a:xfrm>
            <a:off x="4563203" y="4356229"/>
            <a:ext cx="1005840" cy="36576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500" b="1" dirty="0">
                <a:solidFill>
                  <a:schemeClr val="accent1"/>
                </a:solidFill>
              </a:rPr>
              <a:t>価格競争</a:t>
            </a:r>
            <a:endParaRPr lang="ja-JP" sz="1500" dirty="0"/>
          </a:p>
        </p:txBody>
      </p:sp>
      <p:sp>
        <p:nvSpPr>
          <p:cNvPr id="15" name="Text 12"/>
          <p:cNvSpPr txBox="1"/>
          <p:nvPr/>
        </p:nvSpPr>
        <p:spPr>
          <a:xfrm>
            <a:off x="2660557" y="4356229"/>
            <a:ext cx="1005840" cy="36576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500" b="1" dirty="0">
                <a:solidFill>
                  <a:schemeClr val="accent1"/>
                </a:solidFill>
              </a:rPr>
              <a:t>規制</a:t>
            </a:r>
            <a:endParaRPr lang="ja-JP" sz="1500" dirty="0"/>
          </a:p>
        </p:txBody>
      </p:sp>
      <p:sp>
        <p:nvSpPr>
          <p:cNvPr id="16" name="Text 13"/>
          <p:cNvSpPr txBox="1"/>
          <p:nvPr/>
        </p:nvSpPr>
        <p:spPr>
          <a:xfrm>
            <a:off x="2072606" y="3264380"/>
            <a:ext cx="1005840" cy="36576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500" b="1" dirty="0">
                <a:solidFill>
                  <a:schemeClr val="accent1"/>
                </a:solidFill>
              </a:rPr>
              <a:t>資金</a:t>
            </a:r>
            <a:endParaRPr lang="ja-JP" sz="1500" dirty="0"/>
          </a:p>
        </p:txBody>
      </p:sp>
      <p:sp>
        <p:nvSpPr>
          <p:cNvPr id="17" name="Shape 14"/>
          <p:cNvSpPr/>
          <p:nvPr/>
        </p:nvSpPr>
        <p:spPr>
          <a:xfrm>
            <a:off x="3730752" y="1737360"/>
            <a:ext cx="768096" cy="768096"/>
          </a:xfrm>
          <a:prstGeom prst="ellipse">
            <a:avLst/>
          </a:prstGeom>
          <a:solidFill>
            <a:schemeClr val="accent1"/>
          </a:solidFill>
          <a:ln/>
        </p:spPr>
      </p:sp>
      <p:pic>
        <p:nvPicPr>
          <p:cNvPr id="18" name="Image 0" descr="TbShoppingCart">    </p:cNvPr>
          <p:cNvPicPr>
            <a:picLocks noChangeAspect="1"/>
          </p:cNvPicPr>
          <p:nvPr/>
        </p:nvPicPr>
        <p:blipFill>
          <a:blip r:embed="rId1"/>
          <a:stretch>
            <a:fillRect/>
          </a:stretch>
        </p:blipFill>
        <p:spPr>
          <a:xfrm>
            <a:off x="3899733" y="1906341"/>
            <a:ext cx="430134" cy="430134"/>
          </a:xfrm>
          <a:prstGeom prst="rect">
            <a:avLst/>
          </a:prstGeom>
        </p:spPr>
      </p:pic>
      <p:sp>
        <p:nvSpPr>
          <p:cNvPr id="19" name="Text 15"/>
          <p:cNvSpPr txBox="1"/>
          <p:nvPr/>
        </p:nvSpPr>
        <p:spPr>
          <a:xfrm>
            <a:off x="4590288" y="1938528"/>
            <a:ext cx="1097280" cy="365760"/>
          </a:xfrm>
          <a:prstGeom prst="rect">
            <a:avLst/>
          </a:prstGeom>
          <a:noFill/>
          <a:ln/>
        </p:spPr>
        <p:txBody>
          <a:bodyPr wrap="square" lIns="0" tIns="0" rIns="0" bIns="0" rtlCol="0" anchor="ctr"/>
          <a:lstStyle/>
          <a:p>
            <a:pPr indent="0" marL="0">
              <a:buNone/>
            </a:pPr>
            <a:r>
              <a:rPr lang="ja-JP" altLang="en-US" sz="1800" b="1" dirty="0">
                <a:solidFill>
                  <a:schemeClr val="tx2"/>
                </a:solidFill>
              </a:rPr>
              <a:t>顧客</a:t>
            </a:r>
            <a:endParaRPr lang="ja-JP" sz="1800" dirty="0"/>
          </a:p>
        </p:txBody>
      </p:sp>
      <p:sp>
        <p:nvSpPr>
          <p:cNvPr id="20" name="Shape 16"/>
          <p:cNvSpPr/>
          <p:nvPr/>
        </p:nvSpPr>
        <p:spPr>
          <a:xfrm>
            <a:off x="6296208" y="2862026"/>
            <a:ext cx="768096" cy="768096"/>
          </a:xfrm>
          <a:prstGeom prst="ellipse">
            <a:avLst/>
          </a:prstGeom>
          <a:solidFill>
            <a:schemeClr val="accent1"/>
          </a:solidFill>
          <a:ln/>
        </p:spPr>
      </p:sp>
      <p:pic>
        <p:nvPicPr>
          <p:cNvPr id="21" name="Image 1" descr="TbPackage">    </p:cNvPr>
          <p:cNvPicPr>
            <a:picLocks noChangeAspect="1"/>
          </p:cNvPicPr>
          <p:nvPr/>
        </p:nvPicPr>
        <p:blipFill>
          <a:blip r:embed="rId2"/>
          <a:stretch>
            <a:fillRect/>
          </a:stretch>
        </p:blipFill>
        <p:spPr>
          <a:xfrm>
            <a:off x="6465189" y="3031007"/>
            <a:ext cx="430134" cy="430134"/>
          </a:xfrm>
          <a:prstGeom prst="rect">
            <a:avLst/>
          </a:prstGeom>
        </p:spPr>
      </p:pic>
      <p:sp>
        <p:nvSpPr>
          <p:cNvPr id="22" name="Text 17"/>
          <p:cNvSpPr txBox="1"/>
          <p:nvPr/>
        </p:nvSpPr>
        <p:spPr>
          <a:xfrm>
            <a:off x="5765856" y="3657554"/>
            <a:ext cx="1828800" cy="365760"/>
          </a:xfrm>
          <a:prstGeom prst="rect">
            <a:avLst/>
          </a:prstGeom>
          <a:noFill/>
          <a:ln/>
        </p:spPr>
        <p:txBody>
          <a:bodyPr wrap="square" lIns="0" tIns="0" rIns="0" bIns="0" rtlCol="0" anchor="t"/>
          <a:lstStyle/>
          <a:p>
            <a:pPr algn="ctr" indent="0" marL="0">
              <a:buNone/>
            </a:pPr>
            <a:r>
              <a:rPr lang="ja-JP" altLang="en-US" sz="1800" b="1" dirty="0">
                <a:solidFill>
                  <a:schemeClr val="tx2"/>
                </a:solidFill>
              </a:rPr>
              <a:t>仕入先</a:t>
            </a:r>
            <a:endParaRPr lang="ja-JP" sz="1800" dirty="0"/>
          </a:p>
        </p:txBody>
      </p:sp>
      <p:sp>
        <p:nvSpPr>
          <p:cNvPr id="23" name="Shape 18"/>
          <p:cNvSpPr/>
          <p:nvPr/>
        </p:nvSpPr>
        <p:spPr>
          <a:xfrm>
            <a:off x="5316291" y="4681774"/>
            <a:ext cx="768096" cy="768096"/>
          </a:xfrm>
          <a:prstGeom prst="ellipse">
            <a:avLst/>
          </a:prstGeom>
          <a:solidFill>
            <a:schemeClr val="accent1"/>
          </a:solidFill>
          <a:ln/>
        </p:spPr>
      </p:sp>
      <p:pic>
        <p:nvPicPr>
          <p:cNvPr id="24" name="Image 2" descr="TbScale">    </p:cNvPr>
          <p:cNvPicPr>
            <a:picLocks noChangeAspect="1"/>
          </p:cNvPicPr>
          <p:nvPr/>
        </p:nvPicPr>
        <p:blipFill>
          <a:blip r:embed="rId3"/>
          <a:stretch>
            <a:fillRect/>
          </a:stretch>
        </p:blipFill>
        <p:spPr>
          <a:xfrm>
            <a:off x="5485272" y="4850755"/>
            <a:ext cx="430134" cy="430134"/>
          </a:xfrm>
          <a:prstGeom prst="rect">
            <a:avLst/>
          </a:prstGeom>
        </p:spPr>
      </p:pic>
      <p:sp>
        <p:nvSpPr>
          <p:cNvPr id="25" name="Text 19"/>
          <p:cNvSpPr txBox="1"/>
          <p:nvPr/>
        </p:nvSpPr>
        <p:spPr>
          <a:xfrm>
            <a:off x="4785939" y="5477302"/>
            <a:ext cx="1828800" cy="365760"/>
          </a:xfrm>
          <a:prstGeom prst="rect">
            <a:avLst/>
          </a:prstGeom>
          <a:noFill/>
          <a:ln/>
        </p:spPr>
        <p:txBody>
          <a:bodyPr wrap="square" lIns="0" tIns="0" rIns="0" bIns="0" rtlCol="0" anchor="t"/>
          <a:lstStyle/>
          <a:p>
            <a:pPr algn="ctr" indent="0" marL="0">
              <a:buNone/>
            </a:pPr>
            <a:r>
              <a:rPr lang="ja-JP" altLang="en-US" sz="1800" b="1" dirty="0">
                <a:solidFill>
                  <a:schemeClr val="tx2"/>
                </a:solidFill>
              </a:rPr>
              <a:t>競合</a:t>
            </a:r>
            <a:endParaRPr lang="ja-JP" sz="1800" dirty="0"/>
          </a:p>
        </p:txBody>
      </p:sp>
      <p:sp>
        <p:nvSpPr>
          <p:cNvPr id="26" name="Shape 20"/>
          <p:cNvSpPr/>
          <p:nvPr/>
        </p:nvSpPr>
        <p:spPr>
          <a:xfrm>
            <a:off x="2145213" y="4681774"/>
            <a:ext cx="768096" cy="768096"/>
          </a:xfrm>
          <a:prstGeom prst="ellipse">
            <a:avLst/>
          </a:prstGeom>
          <a:solidFill>
            <a:schemeClr val="accent1"/>
          </a:solidFill>
          <a:ln/>
        </p:spPr>
      </p:sp>
      <p:pic>
        <p:nvPicPr>
          <p:cNvPr id="27" name="Image 3" descr="TbShieldCheck">    </p:cNvPr>
          <p:cNvPicPr>
            <a:picLocks noChangeAspect="1"/>
          </p:cNvPicPr>
          <p:nvPr/>
        </p:nvPicPr>
        <p:blipFill>
          <a:blip r:embed="rId4"/>
          <a:stretch>
            <a:fillRect/>
          </a:stretch>
        </p:blipFill>
        <p:spPr>
          <a:xfrm>
            <a:off x="2314194" y="4850755"/>
            <a:ext cx="430134" cy="430134"/>
          </a:xfrm>
          <a:prstGeom prst="rect">
            <a:avLst/>
          </a:prstGeom>
        </p:spPr>
      </p:pic>
      <p:sp>
        <p:nvSpPr>
          <p:cNvPr id="28" name="Text 21"/>
          <p:cNvSpPr txBox="1"/>
          <p:nvPr/>
        </p:nvSpPr>
        <p:spPr>
          <a:xfrm>
            <a:off x="1614861" y="5477302"/>
            <a:ext cx="1828800" cy="365760"/>
          </a:xfrm>
          <a:prstGeom prst="rect">
            <a:avLst/>
          </a:prstGeom>
          <a:noFill/>
          <a:ln/>
        </p:spPr>
        <p:txBody>
          <a:bodyPr wrap="square" lIns="0" tIns="0" rIns="0" bIns="0" rtlCol="0" anchor="t"/>
          <a:lstStyle/>
          <a:p>
            <a:pPr algn="ctr" indent="0" marL="0">
              <a:buNone/>
            </a:pPr>
            <a:r>
              <a:rPr lang="ja-JP" altLang="en-US" sz="1800" b="1" dirty="0">
                <a:solidFill>
                  <a:schemeClr val="tx2"/>
                </a:solidFill>
              </a:rPr>
              <a:t>社会・規制</a:t>
            </a:r>
            <a:endParaRPr lang="ja-JP" sz="1800" dirty="0"/>
          </a:p>
        </p:txBody>
      </p:sp>
      <p:sp>
        <p:nvSpPr>
          <p:cNvPr id="29" name="Shape 22"/>
          <p:cNvSpPr/>
          <p:nvPr/>
        </p:nvSpPr>
        <p:spPr>
          <a:xfrm>
            <a:off x="1165296" y="2862026"/>
            <a:ext cx="768096" cy="768096"/>
          </a:xfrm>
          <a:prstGeom prst="ellipse">
            <a:avLst/>
          </a:prstGeom>
          <a:solidFill>
            <a:schemeClr val="accent1"/>
          </a:solidFill>
          <a:ln/>
        </p:spPr>
      </p:sp>
      <p:pic>
        <p:nvPicPr>
          <p:cNvPr id="30" name="Image 4" descr="TbBuildingBank">    </p:cNvPr>
          <p:cNvPicPr>
            <a:picLocks noChangeAspect="1"/>
          </p:cNvPicPr>
          <p:nvPr/>
        </p:nvPicPr>
        <p:blipFill>
          <a:blip r:embed="rId5"/>
          <a:stretch>
            <a:fillRect/>
          </a:stretch>
        </p:blipFill>
        <p:spPr>
          <a:xfrm>
            <a:off x="1334277" y="3031007"/>
            <a:ext cx="430134" cy="430134"/>
          </a:xfrm>
          <a:prstGeom prst="rect">
            <a:avLst/>
          </a:prstGeom>
        </p:spPr>
      </p:pic>
      <p:sp>
        <p:nvSpPr>
          <p:cNvPr id="31" name="Text 23"/>
          <p:cNvSpPr txBox="1"/>
          <p:nvPr/>
        </p:nvSpPr>
        <p:spPr>
          <a:xfrm>
            <a:off x="634944" y="3657554"/>
            <a:ext cx="1828800" cy="365760"/>
          </a:xfrm>
          <a:prstGeom prst="rect">
            <a:avLst/>
          </a:prstGeom>
          <a:noFill/>
          <a:ln/>
        </p:spPr>
        <p:txBody>
          <a:bodyPr wrap="square" lIns="0" tIns="0" rIns="0" bIns="0" rtlCol="0" anchor="t"/>
          <a:lstStyle/>
          <a:p>
            <a:pPr algn="ctr" indent="0" marL="0">
              <a:buNone/>
            </a:pPr>
            <a:r>
              <a:rPr lang="ja-JP" altLang="en-US" sz="1800" b="1" dirty="0">
                <a:solidFill>
                  <a:schemeClr val="tx2"/>
                </a:solidFill>
              </a:rPr>
              <a:t>株主・金融機関</a:t>
            </a:r>
            <a:endParaRPr lang="ja-JP" sz="1800" dirty="0"/>
          </a:p>
        </p:txBody>
      </p:sp>
      <p:sp>
        <p:nvSpPr>
          <p:cNvPr id="32" name="Text 24"/>
          <p:cNvSpPr txBox="1"/>
          <p:nvPr/>
        </p:nvSpPr>
        <p:spPr>
          <a:xfrm>
            <a:off x="7818120" y="1783080"/>
            <a:ext cx="3822192" cy="457200"/>
          </a:xfrm>
          <a:prstGeom prst="rect">
            <a:avLst/>
          </a:prstGeom>
          <a:noFill/>
          <a:ln/>
        </p:spPr>
        <p:txBody>
          <a:bodyPr wrap="square" lIns="0" tIns="0" rIns="0" bIns="0" rtlCol="0" anchor="t"/>
          <a:lstStyle/>
          <a:p>
            <a:pPr indent="0" marL="0">
              <a:buNone/>
            </a:pPr>
            <a:r>
              <a:rPr lang="ja-JP" altLang="en-US" sz="2400" b="1" dirty="0">
                <a:solidFill>
                  <a:schemeClr val="tx2"/>
                </a:solidFill>
              </a:rPr>
              <a:t>企業を取り巻く5つの関係</a:t>
            </a:r>
            <a:endParaRPr lang="ja-JP" sz="2400" dirty="0"/>
          </a:p>
        </p:txBody>
      </p:sp>
      <p:sp>
        <p:nvSpPr>
          <p:cNvPr id="33" name="Text 25"/>
          <p:cNvSpPr txBox="1"/>
          <p:nvPr/>
        </p:nvSpPr>
        <p:spPr>
          <a:xfrm>
            <a:off x="7818120" y="2331720"/>
            <a:ext cx="3822192" cy="822960"/>
          </a:xfrm>
          <a:prstGeom prst="rect">
            <a:avLst/>
          </a:prstGeom>
          <a:noFill/>
          <a:ln/>
        </p:spPr>
        <p:txBody>
          <a:bodyPr wrap="square" lIns="0" tIns="0" rIns="0" bIns="0" rtlCol="0" anchor="t"/>
          <a:lstStyle/>
          <a:p>
            <a:pPr indent="0" marL="0">
              <a:buNone/>
            </a:pPr>
            <a:r>
              <a:rPr lang="ja-JP" altLang="en-US" sz="1800" dirty="0">
                <a:solidFill>
                  <a:schemeClr val="tx1"/>
                </a:solidFill>
              </a:rPr>
              <a:t>顧客／仕入先／競合／</a:t>
            </a:r>
            <a:endParaRPr lang="ja-JP" sz="1800" dirty="0"/>
          </a:p>
          <a:p>
            <a:pPr indent="0" marL="0">
              <a:buNone/>
            </a:pPr>
            <a:r>
              <a:rPr lang="ja-JP" altLang="en-US" sz="1800" dirty="0">
                <a:solidFill>
                  <a:schemeClr val="tx1"/>
                </a:solidFill>
              </a:rPr>
              <a:t>社会・規制／株主・金融機関</a:t>
            </a:r>
            <a:endParaRPr lang="ja-JP" sz="1800" dirty="0"/>
          </a:p>
        </p:txBody>
      </p:sp>
      <p:sp>
        <p:nvSpPr>
          <p:cNvPr id="34" name="Shape 26"/>
          <p:cNvSpPr/>
          <p:nvPr/>
        </p:nvSpPr>
        <p:spPr>
          <a:xfrm>
            <a:off x="7818120" y="3337560"/>
            <a:ext cx="3822192" cy="1417320"/>
          </a:xfrm>
          <a:prstGeom prst="roundRect">
            <a:avLst>
              <a:gd name="adj" fmla="val 10323"/>
            </a:avLst>
          </a:prstGeom>
          <a:solidFill>
            <a:schemeClr val="tx2"/>
          </a:solidFill>
          <a:ln/>
          <a:effectLst>
            <a:outerShdw sx="100000" sy="100000" kx="0" ky="0" algn="bl" rotWithShape="0" blurRad="101600" dist="25400" dir="5400000">
              <a:srgbClr val="12243A">
                <a:alpha val="14000"/>
              </a:srgbClr>
            </a:outerShdw>
          </a:effectLst>
        </p:spPr>
      </p:sp>
      <p:sp>
        <p:nvSpPr>
          <p:cNvPr id="35" name="Text 27"/>
          <p:cNvSpPr txBox="1"/>
          <p:nvPr/>
        </p:nvSpPr>
        <p:spPr>
          <a:xfrm>
            <a:off x="8046720" y="3337560"/>
            <a:ext cx="3474720" cy="1417320"/>
          </a:xfrm>
          <a:prstGeom prst="rect">
            <a:avLst/>
          </a:prstGeom>
          <a:noFill/>
          <a:ln/>
        </p:spPr>
        <p:txBody>
          <a:bodyPr wrap="square" lIns="0" tIns="0" rIns="0" bIns="0" rtlCol="0" anchor="ctr"/>
          <a:lstStyle/>
          <a:p>
            <a:pPr indent="0" marL="0">
              <a:buNone/>
            </a:pPr>
            <a:r>
              <a:rPr lang="ja-JP" altLang="en-US" sz="2400" b="1" dirty="0">
                <a:solidFill>
                  <a:schemeClr val="bg1"/>
                </a:solidFill>
              </a:rPr>
              <a:t>売上・利益は、</a:t>
            </a:r>
            <a:endParaRPr lang="ja-JP" sz="2400" dirty="0"/>
          </a:p>
          <a:p>
            <a:pPr indent="0" marL="0">
              <a:buNone/>
            </a:pPr>
            <a:r>
              <a:rPr lang="ja-JP" altLang="en-US" sz="2400" b="1" dirty="0">
                <a:solidFill>
                  <a:schemeClr val="bg1"/>
                </a:solidFill>
              </a:rPr>
              <a:t>つながりの中で変化する。</a:t>
            </a:r>
            <a:endParaRPr lang="ja-JP" sz="2400" dirty="0"/>
          </a:p>
        </p:txBody>
      </p:sp>
      <p:sp>
        <p:nvSpPr>
          <p:cNvPr id="36" name="Text 28"/>
          <p:cNvSpPr txBox="1"/>
          <p:nvPr/>
        </p:nvSpPr>
        <p:spPr>
          <a:xfrm>
            <a:off x="7818120" y="4937760"/>
            <a:ext cx="3822192" cy="685800"/>
          </a:xfrm>
          <a:prstGeom prst="rect">
            <a:avLst/>
          </a:prstGeom>
          <a:noFill/>
          <a:ln/>
        </p:spPr>
        <p:txBody>
          <a:bodyPr wrap="square" lIns="0" tIns="0" rIns="0" bIns="0" rtlCol="0" anchor="t"/>
          <a:lstStyle/>
          <a:p>
            <a:pPr indent="0" marL="0">
              <a:buNone/>
            </a:pPr>
            <a:r>
              <a:rPr lang="ja-JP" altLang="en-US" sz="1600" dirty="0">
                <a:solidFill>
                  <a:schemeClr val="accent4"/>
                </a:solidFill>
              </a:rPr>
              <a:t>例：自動車の生産が減る → 鋼材の注文も減り得る</a:t>
            </a:r>
            <a:endParaRPr lang="ja-JP" sz="16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02｜なぜ業界全体から研究するのか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地図を見てから、目的地を深掘りする</a:t>
            </a:r>
            <a:endParaRPr lang="en-US" sz="3000" dirty="0"/>
          </a:p>
        </p:txBody>
      </p:sp>
      <p:sp>
        <p:nvSpPr>
          <p:cNvPr id="5" name="Text 2"/>
          <p:cNvSpPr txBox="1"/>
          <p:nvPr/>
        </p:nvSpPr>
        <p:spPr>
          <a:xfrm>
            <a:off x="548640" y="1572768"/>
            <a:ext cx="4572000" cy="320040"/>
          </a:xfrm>
          <a:prstGeom prst="rect">
            <a:avLst/>
          </a:prstGeom>
          <a:noFill/>
          <a:ln/>
        </p:spPr>
        <p:txBody>
          <a:bodyPr wrap="square" lIns="0" tIns="0" rIns="0" bIns="0" rtlCol="0" anchor="t"/>
          <a:lstStyle/>
          <a:p>
            <a:pPr indent="0" marL="0">
              <a:buNone/>
            </a:pPr>
            <a:r>
              <a:rPr lang="ja-JP" altLang="en-US" sz="1600" b="1" dirty="0">
                <a:solidFill>
                  <a:schemeClr val="tx2"/>
                </a:solidFill>
              </a:rPr>
              <a:t>地図を見る</a:t>
            </a:r>
            <a:endParaRPr lang="ja-JP" sz="1600" dirty="0"/>
          </a:p>
        </p:txBody>
      </p:sp>
      <p:sp>
        <p:nvSpPr>
          <p:cNvPr id="6" name="Text 3"/>
          <p:cNvSpPr txBox="1"/>
          <p:nvPr/>
        </p:nvSpPr>
        <p:spPr>
          <a:xfrm>
            <a:off x="6126480" y="1572768"/>
            <a:ext cx="4572000" cy="320040"/>
          </a:xfrm>
          <a:prstGeom prst="rect">
            <a:avLst/>
          </a:prstGeom>
          <a:noFill/>
          <a:ln/>
        </p:spPr>
        <p:txBody>
          <a:bodyPr wrap="square" lIns="0" tIns="0" rIns="0" bIns="0" rtlCol="0" anchor="t"/>
          <a:lstStyle/>
          <a:p>
            <a:pPr indent="0" marL="0">
              <a:buNone/>
            </a:pPr>
            <a:r>
              <a:rPr lang="ja-JP" altLang="en-US" sz="1600" b="1" dirty="0">
                <a:solidFill>
                  <a:schemeClr val="accent1"/>
                </a:solidFill>
              </a:rPr>
              <a:t>目的地を深掘りする</a:t>
            </a:r>
            <a:endParaRPr lang="ja-JP" sz="1600" dirty="0"/>
          </a:p>
        </p:txBody>
      </p:sp>
      <p:sp>
        <p:nvSpPr>
          <p:cNvPr id="7" name="Text 4"/>
          <p:cNvSpPr txBox="1"/>
          <p:nvPr/>
        </p:nvSpPr>
        <p:spPr>
          <a:xfrm>
            <a:off x="548640" y="1920240"/>
            <a:ext cx="1947672" cy="914400"/>
          </a:xfrm>
          <a:prstGeom prst="homePlate">
            <a:avLst/>
          </a:prstGeom>
          <a:solidFill>
            <a:schemeClr val="tx2"/>
          </a:solidFill>
          <a:ln/>
        </p:spPr>
        <p:txBody>
          <a:bodyPr wrap="square" lIns="0" tIns="0" rIns="0" bIns="0" rtlCol="0" anchor="ctr"/>
          <a:lstStyle/>
          <a:p>
            <a:pPr algn="ctr" indent="0" marL="0">
              <a:buNone/>
            </a:pPr>
            <a:r>
              <a:rPr lang="ja-JP" altLang="en-US" sz="1800" b="1" dirty="0">
                <a:solidFill>
                  <a:schemeClr val="bg1"/>
                </a:solidFill>
              </a:rPr>
              <a:t>業界全体</a:t>
            </a:r>
            <a:endParaRPr lang="ja-JP" sz="1800" dirty="0"/>
          </a:p>
        </p:txBody>
      </p:sp>
      <p:sp>
        <p:nvSpPr>
          <p:cNvPr id="8" name="Text 5"/>
          <p:cNvSpPr txBox="1"/>
          <p:nvPr/>
        </p:nvSpPr>
        <p:spPr>
          <a:xfrm>
            <a:off x="2377440" y="1920240"/>
            <a:ext cx="1947672" cy="914400"/>
          </a:xfrm>
          <a:prstGeom prst="chevron">
            <a:avLst/>
          </a:prstGeom>
          <a:solidFill>
            <a:schemeClr val="tx2"/>
          </a:solidFill>
          <a:ln/>
        </p:spPr>
        <p:txBody>
          <a:bodyPr wrap="square" lIns="0" tIns="0" rIns="0" bIns="0" rtlCol="0" anchor="ctr"/>
          <a:lstStyle/>
          <a:p>
            <a:pPr algn="ctr" indent="0" marL="0">
              <a:buNone/>
            </a:pPr>
            <a:r>
              <a:rPr lang="ja-JP" altLang="en-US" sz="1800" b="1" dirty="0">
                <a:solidFill>
                  <a:schemeClr val="bg1"/>
                </a:solidFill>
              </a:rPr>
              <a:t>企業の</a:t>
            </a:r>
            <a:endParaRPr lang="ja-JP" sz="1800" dirty="0"/>
          </a:p>
          <a:p>
            <a:pPr algn="ctr" indent="0" marL="0">
              <a:buNone/>
            </a:pPr>
            <a:r>
              <a:rPr lang="ja-JP" altLang="en-US" sz="1800" b="1" dirty="0">
                <a:solidFill>
                  <a:schemeClr val="bg1"/>
                </a:solidFill>
              </a:rPr>
              <a:t>つながり</a:t>
            </a:r>
            <a:endParaRPr lang="ja-JP" sz="1800" dirty="0"/>
          </a:p>
        </p:txBody>
      </p:sp>
      <p:sp>
        <p:nvSpPr>
          <p:cNvPr id="9" name="Text 6"/>
          <p:cNvSpPr txBox="1"/>
          <p:nvPr/>
        </p:nvSpPr>
        <p:spPr>
          <a:xfrm>
            <a:off x="4206240" y="1920240"/>
            <a:ext cx="1947672" cy="914400"/>
          </a:xfrm>
          <a:prstGeom prst="chevron">
            <a:avLst/>
          </a:prstGeom>
          <a:solidFill>
            <a:schemeClr val="tx2"/>
          </a:solidFill>
          <a:ln/>
        </p:spPr>
        <p:txBody>
          <a:bodyPr wrap="square" lIns="0" tIns="0" rIns="0" bIns="0" rtlCol="0" anchor="ctr"/>
          <a:lstStyle/>
          <a:p>
            <a:pPr algn="ctr" indent="0" marL="0">
              <a:buNone/>
            </a:pPr>
            <a:r>
              <a:rPr lang="ja-JP" altLang="en-US" sz="1800" b="1" dirty="0">
                <a:solidFill>
                  <a:schemeClr val="bg1"/>
                </a:solidFill>
              </a:rPr>
              <a:t>儲け方</a:t>
            </a:r>
            <a:endParaRPr lang="ja-JP" sz="1800" dirty="0"/>
          </a:p>
        </p:txBody>
      </p:sp>
      <p:sp>
        <p:nvSpPr>
          <p:cNvPr id="10" name="Text 7"/>
          <p:cNvSpPr txBox="1"/>
          <p:nvPr/>
        </p:nvSpPr>
        <p:spPr>
          <a:xfrm>
            <a:off x="6035040" y="1920240"/>
            <a:ext cx="1947672" cy="914400"/>
          </a:xfrm>
          <a:prstGeom prst="chevron">
            <a:avLst/>
          </a:prstGeom>
          <a:solidFill>
            <a:schemeClr val="accent1"/>
          </a:solidFill>
          <a:ln/>
        </p:spPr>
        <p:txBody>
          <a:bodyPr wrap="square" lIns="0" tIns="0" rIns="0" bIns="0" rtlCol="0" anchor="ctr"/>
          <a:lstStyle/>
          <a:p>
            <a:pPr algn="ctr" indent="0" marL="0">
              <a:buNone/>
            </a:pPr>
            <a:r>
              <a:rPr lang="ja-JP" altLang="en-US" sz="1800" b="1" dirty="0">
                <a:solidFill>
                  <a:schemeClr val="bg1"/>
                </a:solidFill>
              </a:rPr>
              <a:t>個別企業</a:t>
            </a:r>
            <a:endParaRPr lang="ja-JP" sz="1800" dirty="0"/>
          </a:p>
        </p:txBody>
      </p:sp>
      <p:sp>
        <p:nvSpPr>
          <p:cNvPr id="11" name="Text 8"/>
          <p:cNvSpPr txBox="1"/>
          <p:nvPr/>
        </p:nvSpPr>
        <p:spPr>
          <a:xfrm>
            <a:off x="7863840" y="1920240"/>
            <a:ext cx="1947672" cy="914400"/>
          </a:xfrm>
          <a:prstGeom prst="chevron">
            <a:avLst/>
          </a:prstGeom>
          <a:solidFill>
            <a:schemeClr val="accent1"/>
          </a:solidFill>
          <a:ln/>
        </p:spPr>
        <p:txBody>
          <a:bodyPr wrap="square" lIns="0" tIns="0" rIns="0" bIns="0" rtlCol="0" anchor="ctr"/>
          <a:lstStyle/>
          <a:p>
            <a:pPr algn="ctr" indent="0" marL="0">
              <a:buNone/>
            </a:pPr>
            <a:r>
              <a:rPr lang="ja-JP" altLang="en-US" sz="1800" b="1" dirty="0">
                <a:solidFill>
                  <a:schemeClr val="bg1"/>
                </a:solidFill>
              </a:rPr>
              <a:t>KPI</a:t>
            </a:r>
            <a:endParaRPr lang="ja-JP" sz="1800" dirty="0"/>
          </a:p>
        </p:txBody>
      </p:sp>
      <p:sp>
        <p:nvSpPr>
          <p:cNvPr id="12" name="Text 9"/>
          <p:cNvSpPr txBox="1"/>
          <p:nvPr/>
        </p:nvSpPr>
        <p:spPr>
          <a:xfrm>
            <a:off x="9692640" y="1920240"/>
            <a:ext cx="1947672" cy="914400"/>
          </a:xfrm>
          <a:prstGeom prst="chevron">
            <a:avLst/>
          </a:prstGeom>
          <a:solidFill>
            <a:schemeClr val="accent1"/>
          </a:solidFill>
          <a:ln/>
        </p:spPr>
        <p:txBody>
          <a:bodyPr wrap="square" lIns="0" tIns="0" rIns="0" bIns="0" rtlCol="0" anchor="ctr"/>
          <a:lstStyle/>
          <a:p>
            <a:pPr algn="ctr" indent="0" marL="0">
              <a:buNone/>
            </a:pPr>
            <a:r>
              <a:rPr lang="ja-JP" altLang="en-US" sz="1800" b="1" dirty="0">
                <a:solidFill>
                  <a:schemeClr val="bg1"/>
                </a:solidFill>
              </a:rPr>
              <a:t>将来予測</a:t>
            </a:r>
            <a:endParaRPr lang="ja-JP" sz="1800" dirty="0"/>
          </a:p>
        </p:txBody>
      </p:sp>
      <p:sp>
        <p:nvSpPr>
          <p:cNvPr id="13" name="Shape 10"/>
          <p:cNvSpPr/>
          <p:nvPr/>
        </p:nvSpPr>
        <p:spPr>
          <a:xfrm>
            <a:off x="548640" y="3154680"/>
            <a:ext cx="6400800" cy="2103120"/>
          </a:xfrm>
          <a:prstGeom prst="roundRect">
            <a:avLst>
              <a:gd name="adj" fmla="val 7826"/>
            </a:avLst>
          </a:prstGeom>
          <a:solidFill>
            <a:schemeClr val="bg2"/>
          </a:solidFill>
          <a:ln/>
        </p:spPr>
      </p:sp>
      <p:sp>
        <p:nvSpPr>
          <p:cNvPr id="14" name="Text 11"/>
          <p:cNvSpPr txBox="1"/>
          <p:nvPr/>
        </p:nvSpPr>
        <p:spPr>
          <a:xfrm>
            <a:off x="777240" y="3273552"/>
            <a:ext cx="4572000" cy="365760"/>
          </a:xfrm>
          <a:prstGeom prst="rect">
            <a:avLst/>
          </a:prstGeom>
          <a:noFill/>
          <a:ln/>
        </p:spPr>
        <p:txBody>
          <a:bodyPr wrap="square" lIns="0" tIns="0" rIns="0" bIns="0" rtlCol="0" anchor="t"/>
          <a:lstStyle/>
          <a:p>
            <a:pPr indent="0" marL="0">
              <a:buNone/>
            </a:pPr>
            <a:r>
              <a:rPr lang="ja-JP" altLang="en-US" sz="1800" b="1" dirty="0">
                <a:solidFill>
                  <a:schemeClr val="tx2"/>
                </a:solidFill>
              </a:rPr>
              <a:t>金属業界の工程（地図）</a:t>
            </a:r>
            <a:endParaRPr lang="ja-JP" sz="1800" dirty="0"/>
          </a:p>
        </p:txBody>
      </p:sp>
      <p:sp>
        <p:nvSpPr>
          <p:cNvPr id="15" name="Text 12"/>
          <p:cNvSpPr txBox="1"/>
          <p:nvPr/>
        </p:nvSpPr>
        <p:spPr>
          <a:xfrm>
            <a:off x="777240" y="3977640"/>
            <a:ext cx="868680" cy="566928"/>
          </a:xfrm>
          <a:prstGeom prst="roundRect">
            <a:avLst>
              <a:gd name="adj" fmla="val 50000"/>
            </a:avLst>
          </a:prstGeom>
          <a:solidFill>
            <a:schemeClr val="bg1"/>
          </a:solidFill>
          <a:ln w="19050">
            <a:solidFill>
              <a:schemeClr val="accent5"/>
            </a:solidFill>
          </a:ln>
        </p:spPr>
        <p:txBody>
          <a:bodyPr wrap="square" lIns="0" tIns="0" rIns="0" bIns="0" rtlCol="0" anchor="ctr"/>
          <a:lstStyle/>
          <a:p>
            <a:pPr algn="ctr" indent="0" marL="0">
              <a:buNone/>
            </a:pPr>
            <a:r>
              <a:rPr lang="ja-JP" altLang="en-US" sz="1500" b="1" dirty="0">
                <a:solidFill>
                  <a:schemeClr val="accent4"/>
                </a:solidFill>
              </a:rPr>
              <a:t>資源</a:t>
            </a:r>
            <a:endParaRPr lang="ja-JP" sz="1500" dirty="0"/>
          </a:p>
        </p:txBody>
      </p:sp>
      <p:sp>
        <p:nvSpPr>
          <p:cNvPr id="16" name="Text 13"/>
          <p:cNvSpPr txBox="1"/>
          <p:nvPr/>
        </p:nvSpPr>
        <p:spPr>
          <a:xfrm>
            <a:off x="1645920" y="4023360"/>
            <a:ext cx="274320" cy="457200"/>
          </a:xfrm>
          <a:prstGeom prst="rect">
            <a:avLst/>
          </a:prstGeom>
          <a:noFill/>
          <a:ln/>
        </p:spPr>
        <p:txBody>
          <a:bodyPr wrap="square" lIns="0" tIns="0" rIns="0" bIns="0" rtlCol="0" anchor="ctr"/>
          <a:lstStyle/>
          <a:p>
            <a:pPr algn="ctr" indent="0" marL="0">
              <a:buNone/>
            </a:pPr>
            <a:r>
              <a:rPr lang="ja-JP" altLang="en-US" sz="1400" dirty="0">
                <a:solidFill>
                  <a:schemeClr val="accent4"/>
                </a:solidFill>
              </a:rPr>
              <a:t>→</a:t>
            </a:r>
            <a:endParaRPr lang="ja-JP" sz="1400" dirty="0"/>
          </a:p>
        </p:txBody>
      </p:sp>
      <p:sp>
        <p:nvSpPr>
          <p:cNvPr id="17" name="Text 14"/>
          <p:cNvSpPr txBox="1"/>
          <p:nvPr/>
        </p:nvSpPr>
        <p:spPr>
          <a:xfrm>
            <a:off x="1920240" y="3977640"/>
            <a:ext cx="1417320" cy="566928"/>
          </a:xfrm>
          <a:prstGeom prst="roundRect">
            <a:avLst>
              <a:gd name="adj" fmla="val 50000"/>
            </a:avLst>
          </a:prstGeom>
          <a:solidFill>
            <a:schemeClr val="bg1"/>
          </a:solidFill>
          <a:ln w="19050">
            <a:solidFill>
              <a:schemeClr val="accent3"/>
            </a:solidFill>
          </a:ln>
        </p:spPr>
        <p:txBody>
          <a:bodyPr wrap="square" lIns="0" tIns="0" rIns="0" bIns="0" rtlCol="0" anchor="ctr"/>
          <a:lstStyle/>
          <a:p>
            <a:pPr algn="ctr" indent="0" marL="0">
              <a:buNone/>
            </a:pPr>
            <a:r>
              <a:rPr lang="ja-JP" altLang="en-US" sz="1500" b="1" dirty="0">
                <a:solidFill>
                  <a:schemeClr val="tx2"/>
                </a:solidFill>
              </a:rPr>
              <a:t>製鉄・製錬</a:t>
            </a:r>
            <a:endParaRPr lang="ja-JP" sz="1500" dirty="0"/>
          </a:p>
        </p:txBody>
      </p:sp>
      <p:sp>
        <p:nvSpPr>
          <p:cNvPr id="18" name="Text 15"/>
          <p:cNvSpPr txBox="1"/>
          <p:nvPr/>
        </p:nvSpPr>
        <p:spPr>
          <a:xfrm>
            <a:off x="3337560" y="4023360"/>
            <a:ext cx="274320" cy="457200"/>
          </a:xfrm>
          <a:prstGeom prst="rect">
            <a:avLst/>
          </a:prstGeom>
          <a:noFill/>
          <a:ln/>
        </p:spPr>
        <p:txBody>
          <a:bodyPr wrap="square" lIns="0" tIns="0" rIns="0" bIns="0" rtlCol="0" anchor="ctr"/>
          <a:lstStyle/>
          <a:p>
            <a:pPr algn="ctr" indent="0" marL="0">
              <a:buNone/>
            </a:pPr>
            <a:r>
              <a:rPr lang="ja-JP" altLang="en-US" sz="1400" dirty="0">
                <a:solidFill>
                  <a:schemeClr val="accent4"/>
                </a:solidFill>
              </a:rPr>
              <a:t>→</a:t>
            </a:r>
            <a:endParaRPr lang="ja-JP" sz="1400" dirty="0"/>
          </a:p>
        </p:txBody>
      </p:sp>
      <p:sp>
        <p:nvSpPr>
          <p:cNvPr id="19" name="Text 16"/>
          <p:cNvSpPr txBox="1"/>
          <p:nvPr/>
        </p:nvSpPr>
        <p:spPr>
          <a:xfrm>
            <a:off x="3611880" y="3977640"/>
            <a:ext cx="868680" cy="566928"/>
          </a:xfrm>
          <a:prstGeom prst="roundRect">
            <a:avLst>
              <a:gd name="adj" fmla="val 50000"/>
            </a:avLst>
          </a:prstGeom>
          <a:solidFill>
            <a:schemeClr val="bg1"/>
          </a:solidFill>
          <a:ln w="19050">
            <a:solidFill>
              <a:schemeClr val="accent5"/>
            </a:solidFill>
          </a:ln>
        </p:spPr>
        <p:txBody>
          <a:bodyPr wrap="square" lIns="0" tIns="0" rIns="0" bIns="0" rtlCol="0" anchor="ctr"/>
          <a:lstStyle/>
          <a:p>
            <a:pPr algn="ctr" indent="0" marL="0">
              <a:buNone/>
            </a:pPr>
            <a:r>
              <a:rPr lang="ja-JP" altLang="en-US" sz="1500" b="1" dirty="0">
                <a:solidFill>
                  <a:schemeClr val="accent4"/>
                </a:solidFill>
              </a:rPr>
              <a:t>加工</a:t>
            </a:r>
            <a:endParaRPr lang="ja-JP" sz="1500" dirty="0"/>
          </a:p>
        </p:txBody>
      </p:sp>
      <p:sp>
        <p:nvSpPr>
          <p:cNvPr id="20" name="Text 17"/>
          <p:cNvSpPr txBox="1"/>
          <p:nvPr/>
        </p:nvSpPr>
        <p:spPr>
          <a:xfrm>
            <a:off x="4480560" y="4023360"/>
            <a:ext cx="274320" cy="457200"/>
          </a:xfrm>
          <a:prstGeom prst="rect">
            <a:avLst/>
          </a:prstGeom>
          <a:noFill/>
          <a:ln/>
        </p:spPr>
        <p:txBody>
          <a:bodyPr wrap="square" lIns="0" tIns="0" rIns="0" bIns="0" rtlCol="0" anchor="ctr"/>
          <a:lstStyle/>
          <a:p>
            <a:pPr algn="ctr" indent="0" marL="0">
              <a:buNone/>
            </a:pPr>
            <a:r>
              <a:rPr lang="ja-JP" altLang="en-US" sz="1400" dirty="0">
                <a:solidFill>
                  <a:schemeClr val="accent4"/>
                </a:solidFill>
              </a:rPr>
              <a:t>→</a:t>
            </a:r>
            <a:endParaRPr lang="ja-JP" sz="1400" dirty="0"/>
          </a:p>
        </p:txBody>
      </p:sp>
      <p:sp>
        <p:nvSpPr>
          <p:cNvPr id="21" name="Text 18"/>
          <p:cNvSpPr txBox="1"/>
          <p:nvPr/>
        </p:nvSpPr>
        <p:spPr>
          <a:xfrm>
            <a:off x="4754880" y="3977640"/>
            <a:ext cx="868680" cy="566928"/>
          </a:xfrm>
          <a:prstGeom prst="roundRect">
            <a:avLst>
              <a:gd name="adj" fmla="val 50000"/>
            </a:avLst>
          </a:prstGeom>
          <a:solidFill>
            <a:schemeClr val="bg1"/>
          </a:solidFill>
          <a:ln w="19050">
            <a:solidFill>
              <a:schemeClr val="accent5"/>
            </a:solidFill>
          </a:ln>
        </p:spPr>
        <p:txBody>
          <a:bodyPr wrap="square" lIns="0" tIns="0" rIns="0" bIns="0" rtlCol="0" anchor="ctr"/>
          <a:lstStyle/>
          <a:p>
            <a:pPr algn="ctr" indent="0" marL="0">
              <a:buNone/>
            </a:pPr>
            <a:r>
              <a:rPr lang="ja-JP" altLang="en-US" sz="1500" b="1" dirty="0">
                <a:solidFill>
                  <a:schemeClr val="accent4"/>
                </a:solidFill>
              </a:rPr>
              <a:t>流通</a:t>
            </a:r>
            <a:endParaRPr lang="ja-JP" sz="1500" dirty="0"/>
          </a:p>
        </p:txBody>
      </p:sp>
      <p:sp>
        <p:nvSpPr>
          <p:cNvPr id="22" name="Text 19"/>
          <p:cNvSpPr txBox="1"/>
          <p:nvPr/>
        </p:nvSpPr>
        <p:spPr>
          <a:xfrm>
            <a:off x="5623560" y="4023360"/>
            <a:ext cx="274320" cy="457200"/>
          </a:xfrm>
          <a:prstGeom prst="rect">
            <a:avLst/>
          </a:prstGeom>
          <a:noFill/>
          <a:ln/>
        </p:spPr>
        <p:txBody>
          <a:bodyPr wrap="square" lIns="0" tIns="0" rIns="0" bIns="0" rtlCol="0" anchor="ctr"/>
          <a:lstStyle/>
          <a:p>
            <a:pPr algn="ctr" indent="0" marL="0">
              <a:buNone/>
            </a:pPr>
            <a:r>
              <a:rPr lang="ja-JP" altLang="en-US" sz="1400" dirty="0">
                <a:solidFill>
                  <a:schemeClr val="accent4"/>
                </a:solidFill>
              </a:rPr>
              <a:t>→</a:t>
            </a:r>
            <a:endParaRPr lang="ja-JP" sz="1400" dirty="0"/>
          </a:p>
        </p:txBody>
      </p:sp>
      <p:sp>
        <p:nvSpPr>
          <p:cNvPr id="23" name="Text 20"/>
          <p:cNvSpPr txBox="1"/>
          <p:nvPr/>
        </p:nvSpPr>
        <p:spPr>
          <a:xfrm>
            <a:off x="5897880" y="3977640"/>
            <a:ext cx="868680" cy="566928"/>
          </a:xfrm>
          <a:prstGeom prst="roundRect">
            <a:avLst>
              <a:gd name="adj" fmla="val 50000"/>
            </a:avLst>
          </a:prstGeom>
          <a:solidFill>
            <a:schemeClr val="bg1"/>
          </a:solidFill>
          <a:ln w="19050">
            <a:solidFill>
              <a:schemeClr val="accent5"/>
            </a:solidFill>
          </a:ln>
        </p:spPr>
        <p:txBody>
          <a:bodyPr wrap="square" lIns="0" tIns="0" rIns="0" bIns="0" rtlCol="0" anchor="ctr"/>
          <a:lstStyle/>
          <a:p>
            <a:pPr algn="ctr" indent="0" marL="0">
              <a:buNone/>
            </a:pPr>
            <a:r>
              <a:rPr lang="ja-JP" altLang="en-US" sz="1500" b="1" dirty="0">
                <a:solidFill>
                  <a:schemeClr val="accent4"/>
                </a:solidFill>
              </a:rPr>
              <a:t>製品</a:t>
            </a:r>
            <a:endParaRPr lang="ja-JP" sz="1500" dirty="0"/>
          </a:p>
        </p:txBody>
      </p:sp>
      <p:sp>
        <p:nvSpPr>
          <p:cNvPr id="24" name="Text 21"/>
          <p:cNvSpPr txBox="1"/>
          <p:nvPr/>
        </p:nvSpPr>
        <p:spPr>
          <a:xfrm>
            <a:off x="777240" y="4709160"/>
            <a:ext cx="5943600" cy="365760"/>
          </a:xfrm>
          <a:prstGeom prst="rect">
            <a:avLst/>
          </a:prstGeom>
          <a:noFill/>
          <a:ln/>
        </p:spPr>
        <p:txBody>
          <a:bodyPr wrap="square" lIns="0" tIns="0" rIns="0" bIns="0" rtlCol="0" anchor="t"/>
          <a:lstStyle/>
          <a:p>
            <a:pPr indent="0" marL="0">
              <a:buNone/>
            </a:pPr>
            <a:r>
              <a:rPr lang="ja-JP" altLang="en-US" sz="1600" dirty="0">
                <a:solidFill>
                  <a:schemeClr val="accent4"/>
                </a:solidFill>
              </a:rPr>
              <a:t>まず全体の位置関係を把握</a:t>
            </a:r>
            <a:endParaRPr lang="ja-JP" sz="1600" dirty="0"/>
          </a:p>
        </p:txBody>
      </p:sp>
      <p:sp>
        <p:nvSpPr>
          <p:cNvPr id="25" name="Shape 22"/>
          <p:cNvSpPr/>
          <p:nvPr/>
        </p:nvSpPr>
        <p:spPr>
          <a:xfrm flipV="1">
            <a:off x="3063240" y="3200400"/>
            <a:ext cx="4343400" cy="777240"/>
          </a:xfrm>
          <a:prstGeom prst="line">
            <a:avLst/>
          </a:prstGeom>
          <a:noFill/>
          <a:ln w="19050">
            <a:solidFill>
              <a:schemeClr val="accent3"/>
            </a:solidFill>
            <a:prstDash val="dash"/>
          </a:ln>
        </p:spPr>
      </p:sp>
      <p:sp>
        <p:nvSpPr>
          <p:cNvPr id="26" name="Shape 23"/>
          <p:cNvSpPr/>
          <p:nvPr/>
        </p:nvSpPr>
        <p:spPr>
          <a:xfrm>
            <a:off x="3063240" y="4544568"/>
            <a:ext cx="4343400" cy="713232"/>
          </a:xfrm>
          <a:prstGeom prst="line">
            <a:avLst/>
          </a:prstGeom>
          <a:noFill/>
          <a:ln w="19050">
            <a:solidFill>
              <a:schemeClr val="accent3"/>
            </a:solidFill>
            <a:prstDash val="dash"/>
          </a:ln>
        </p:spPr>
      </p:sp>
      <p:sp>
        <p:nvSpPr>
          <p:cNvPr id="27" name="Shape 24"/>
          <p:cNvSpPr/>
          <p:nvPr/>
        </p:nvSpPr>
        <p:spPr>
          <a:xfrm>
            <a:off x="7406640" y="3154680"/>
            <a:ext cx="4233672" cy="2103120"/>
          </a:xfrm>
          <a:prstGeom prst="roundRect">
            <a:avLst>
              <a:gd name="adj" fmla="val 7826"/>
            </a:avLst>
          </a:prstGeom>
          <a:solidFill>
            <a:schemeClr val="bg1"/>
          </a:solidFill>
          <a:ln w="25400">
            <a:solidFill>
              <a:schemeClr val="accent3"/>
            </a:solidFill>
            <a:prstDash val="solid"/>
          </a:ln>
          <a:effectLst>
            <a:outerShdw sx="100000" sy="100000" kx="0" ky="0" algn="bl" rotWithShape="0" blurRad="101600" dist="25400" dir="5400000">
              <a:srgbClr val="12243A">
                <a:alpha val="14000"/>
              </a:srgbClr>
            </a:outerShdw>
          </a:effectLst>
        </p:spPr>
      </p:sp>
      <p:sp>
        <p:nvSpPr>
          <p:cNvPr id="28" name="Shape 25"/>
          <p:cNvSpPr/>
          <p:nvPr/>
        </p:nvSpPr>
        <p:spPr>
          <a:xfrm>
            <a:off x="7635240" y="3337560"/>
            <a:ext cx="640080" cy="640080"/>
          </a:xfrm>
          <a:prstGeom prst="ellipse">
            <a:avLst/>
          </a:prstGeom>
          <a:solidFill>
            <a:schemeClr val="accent3"/>
          </a:solidFill>
          <a:ln/>
        </p:spPr>
      </p:sp>
      <p:pic>
        <p:nvPicPr>
          <p:cNvPr id="29" name="Image 0" descr="TbSearch">    </p:cNvPr>
          <p:cNvPicPr>
            <a:picLocks noChangeAspect="1"/>
          </p:cNvPicPr>
          <p:nvPr/>
        </p:nvPicPr>
        <p:blipFill>
          <a:blip r:embed="rId1"/>
          <a:stretch>
            <a:fillRect/>
          </a:stretch>
        </p:blipFill>
        <p:spPr>
          <a:xfrm>
            <a:off x="7776058" y="3478378"/>
            <a:ext cx="358445" cy="358445"/>
          </a:xfrm>
          <a:prstGeom prst="rect">
            <a:avLst/>
          </a:prstGeom>
        </p:spPr>
      </p:pic>
      <p:sp>
        <p:nvSpPr>
          <p:cNvPr id="30" name="Text 26"/>
          <p:cNvSpPr txBox="1"/>
          <p:nvPr/>
        </p:nvSpPr>
        <p:spPr>
          <a:xfrm>
            <a:off x="8412480" y="3337560"/>
            <a:ext cx="3108960" cy="320040"/>
          </a:xfrm>
          <a:prstGeom prst="rect">
            <a:avLst/>
          </a:prstGeom>
          <a:noFill/>
          <a:ln/>
        </p:spPr>
        <p:txBody>
          <a:bodyPr wrap="square" lIns="0" tIns="0" rIns="0" bIns="0" rtlCol="0" anchor="t"/>
          <a:lstStyle/>
          <a:p>
            <a:pPr indent="0" marL="0">
              <a:buNone/>
            </a:pPr>
            <a:r>
              <a:rPr lang="ja-JP" altLang="en-US" sz="1500" b="1" dirty="0">
                <a:solidFill>
                  <a:schemeClr val="accent4"/>
                </a:solidFill>
              </a:rPr>
              <a:t>個別企業へズーム</a:t>
            </a:r>
            <a:endParaRPr lang="ja-JP" sz="1500" dirty="0"/>
          </a:p>
        </p:txBody>
      </p:sp>
      <p:sp>
        <p:nvSpPr>
          <p:cNvPr id="31" name="Text 27"/>
          <p:cNvSpPr txBox="1"/>
          <p:nvPr/>
        </p:nvSpPr>
        <p:spPr>
          <a:xfrm>
            <a:off x="8412480" y="3639312"/>
            <a:ext cx="3108960" cy="411480"/>
          </a:xfrm>
          <a:prstGeom prst="rect">
            <a:avLst/>
          </a:prstGeom>
          <a:noFill/>
          <a:ln/>
        </p:spPr>
        <p:txBody>
          <a:bodyPr wrap="square" lIns="0" tIns="0" rIns="0" bIns="0" rtlCol="0" anchor="t"/>
          <a:lstStyle/>
          <a:p>
            <a:pPr indent="0" marL="0">
              <a:buNone/>
            </a:pPr>
            <a:r>
              <a:rPr lang="ja-JP" altLang="en-US" sz="2200" b="1" dirty="0">
                <a:solidFill>
                  <a:schemeClr val="tx2"/>
                </a:solidFill>
              </a:rPr>
              <a:t>例：日本製鉄</a:t>
            </a:r>
            <a:endParaRPr lang="ja-JP" sz="2200" dirty="0"/>
          </a:p>
        </p:txBody>
      </p:sp>
      <p:sp>
        <p:nvSpPr>
          <p:cNvPr id="32" name="Text 28"/>
          <p:cNvSpPr txBox="1"/>
          <p:nvPr/>
        </p:nvSpPr>
        <p:spPr>
          <a:xfrm>
            <a:off x="7635240" y="4206240"/>
            <a:ext cx="3840480" cy="411480"/>
          </a:xfrm>
          <a:prstGeom prst="rect">
            <a:avLst/>
          </a:prstGeom>
          <a:noFill/>
          <a:ln/>
        </p:spPr>
        <p:txBody>
          <a:bodyPr wrap="square" lIns="0" tIns="0" rIns="0" bIns="0" rtlCol="0" anchor="t"/>
          <a:lstStyle/>
          <a:p>
            <a:pPr indent="0" marL="0">
              <a:buNone/>
            </a:pPr>
            <a:r>
              <a:rPr lang="ja-JP" altLang="en-US" sz="2000" dirty="0">
                <a:solidFill>
                  <a:schemeClr val="accent4"/>
                </a:solidFill>
              </a:rPr>
              <a:t>見るKPIの例：</a:t>
            </a:r>
            <a:pPr indent="0" marL="0">
              <a:buNone/>
            </a:pPr>
            <a:r>
              <a:rPr lang="ja-JP" altLang="en-US" sz="2000" b="1" dirty="0">
                <a:solidFill>
                  <a:schemeClr val="accent1"/>
                </a:solidFill>
              </a:rPr>
              <a:t>製品単価</a:t>
            </a:r>
            <a:endParaRPr lang="ja-JP" sz="2000" dirty="0"/>
          </a:p>
        </p:txBody>
      </p:sp>
      <p:sp>
        <p:nvSpPr>
          <p:cNvPr id="33" name="Text 29"/>
          <p:cNvSpPr txBox="1"/>
          <p:nvPr/>
        </p:nvSpPr>
        <p:spPr>
          <a:xfrm>
            <a:off x="7635240" y="4663440"/>
            <a:ext cx="3840480" cy="411480"/>
          </a:xfrm>
          <a:prstGeom prst="rect">
            <a:avLst/>
          </a:prstGeom>
          <a:noFill/>
          <a:ln/>
        </p:spPr>
        <p:txBody>
          <a:bodyPr wrap="square" lIns="0" tIns="0" rIns="0" bIns="0" rtlCol="0" anchor="t"/>
          <a:lstStyle/>
          <a:p>
            <a:pPr indent="0" marL="0">
              <a:buNone/>
            </a:pPr>
            <a:r>
              <a:rPr lang="ja-JP" altLang="en-US" sz="1600" dirty="0">
                <a:solidFill>
                  <a:schemeClr val="accent4"/>
                </a:solidFill>
              </a:rPr>
              <a:t>KPIは業界・企業によって異なる</a:t>
            </a:r>
            <a:endParaRPr lang="ja-JP" sz="1600" dirty="0"/>
          </a:p>
        </p:txBody>
      </p:sp>
      <p:sp>
        <p:nvSpPr>
          <p:cNvPr id="34" name="Text 30"/>
          <p:cNvSpPr txBox="1"/>
          <p:nvPr/>
        </p:nvSpPr>
        <p:spPr>
          <a:xfrm>
            <a:off x="548640" y="5440680"/>
            <a:ext cx="11091672" cy="457200"/>
          </a:xfrm>
          <a:prstGeom prst="rect">
            <a:avLst/>
          </a:prstGeom>
          <a:noFill/>
          <a:ln/>
        </p:spPr>
        <p:txBody>
          <a:bodyPr wrap="square" lIns="0" tIns="0" rIns="0" bIns="0" rtlCol="0" anchor="ctr"/>
          <a:lstStyle/>
          <a:p>
            <a:pPr indent="0" marL="0">
              <a:buNone/>
            </a:pPr>
            <a:r>
              <a:rPr lang="ja-JP" altLang="en-US" sz="2200" b="1" dirty="0">
                <a:solidFill>
                  <a:schemeClr val="tx2"/>
                </a:solidFill>
              </a:rPr>
              <a:t>全体像があるから、企業の違いが見える。</a:t>
            </a:r>
            <a:endParaRPr lang="ja-JP" sz="2200" dirty="0"/>
          </a:p>
        </p:txBody>
      </p:sp>
      <p:sp>
        <p:nvSpPr>
          <p:cNvPr id="35" name="Text 31"/>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※KPI＝重要業績評価指標（Key Performance Indicator）。</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02｜なぜ業界全体から研究するのか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どの業界にも使える7つの問い</a:t>
            </a:r>
            <a:endParaRPr lang="en-US" sz="3000" dirty="0"/>
          </a:p>
        </p:txBody>
      </p:sp>
      <p:sp>
        <p:nvSpPr>
          <p:cNvPr id="5" name="Text 2"/>
          <p:cNvSpPr txBox="1"/>
          <p:nvPr/>
        </p:nvSpPr>
        <p:spPr>
          <a:xfrm>
            <a:off x="548640" y="1572768"/>
            <a:ext cx="4572000" cy="365760"/>
          </a:xfrm>
          <a:prstGeom prst="rect">
            <a:avLst/>
          </a:prstGeom>
          <a:noFill/>
          <a:ln/>
        </p:spPr>
        <p:txBody>
          <a:bodyPr wrap="square" lIns="0" tIns="0" rIns="0" bIns="0" rtlCol="0" anchor="t"/>
          <a:lstStyle/>
          <a:p>
            <a:pPr indent="0" marL="0">
              <a:buNone/>
            </a:pPr>
            <a:r>
              <a:rPr lang="ja-JP" altLang="en-US" sz="1800" b="1" dirty="0">
                <a:solidFill>
                  <a:schemeClr val="accent1"/>
                </a:solidFill>
              </a:rPr>
              <a:t>リサーチ（①〜⑥）</a:t>
            </a:r>
            <a:endParaRPr lang="ja-JP" sz="1800" dirty="0"/>
          </a:p>
        </p:txBody>
      </p:sp>
      <p:sp>
        <p:nvSpPr>
          <p:cNvPr id="6" name="Text 3"/>
          <p:cNvSpPr txBox="1"/>
          <p:nvPr/>
        </p:nvSpPr>
        <p:spPr>
          <a:xfrm>
            <a:off x="8641080" y="1572768"/>
            <a:ext cx="3017520" cy="365760"/>
          </a:xfrm>
          <a:prstGeom prst="rect">
            <a:avLst/>
          </a:prstGeom>
          <a:noFill/>
          <a:ln/>
        </p:spPr>
        <p:txBody>
          <a:bodyPr wrap="square" lIns="0" tIns="0" rIns="0" bIns="0" rtlCol="0" anchor="t"/>
          <a:lstStyle/>
          <a:p>
            <a:pPr indent="0" marL="0">
              <a:buNone/>
            </a:pPr>
            <a:r>
              <a:rPr lang="ja-JP" altLang="en-US" sz="1800" b="1" dirty="0">
                <a:solidFill>
                  <a:srgbClr val="B86E10"/>
                </a:solidFill>
              </a:rPr>
              <a:t>自分への接続（⑦）</a:t>
            </a:r>
            <a:endParaRPr lang="ja-JP" sz="1800" dirty="0"/>
          </a:p>
        </p:txBody>
      </p:sp>
      <p:sp>
        <p:nvSpPr>
          <p:cNvPr id="7" name="Shape 4"/>
          <p:cNvSpPr/>
          <p:nvPr/>
        </p:nvSpPr>
        <p:spPr>
          <a:xfrm>
            <a:off x="548640" y="2011680"/>
            <a:ext cx="2240280" cy="1691640"/>
          </a:xfrm>
          <a:prstGeom prst="roundRect">
            <a:avLst>
              <a:gd name="adj" fmla="val 8649"/>
            </a:avLst>
          </a:prstGeom>
          <a:solidFill>
            <a:schemeClr val="bg2"/>
          </a:solidFill>
          <a:ln/>
        </p:spPr>
      </p:sp>
      <p:sp>
        <p:nvSpPr>
          <p:cNvPr id="8" name="Text 5"/>
          <p:cNvSpPr txBox="1"/>
          <p:nvPr/>
        </p:nvSpPr>
        <p:spPr>
          <a:xfrm>
            <a:off x="731520" y="2194560"/>
            <a:ext cx="548640" cy="548640"/>
          </a:xfrm>
          <a:prstGeom prst="ellipse">
            <a:avLst/>
          </a:prstGeom>
          <a:solidFill>
            <a:schemeClr val="accent1"/>
          </a:solidFill>
          <a:ln/>
        </p:spPr>
        <p:txBody>
          <a:bodyPr wrap="square" lIns="0" tIns="0" rIns="0" bIns="0" rtlCol="0" anchor="ctr"/>
          <a:lstStyle/>
          <a:p>
            <a:pPr algn="ctr" indent="0" marL="0">
              <a:buNone/>
            </a:pPr>
            <a:r>
              <a:rPr lang="ja-JP" altLang="en-US" sz="2200" b="1" dirty="0">
                <a:solidFill>
                  <a:schemeClr val="bg1"/>
                </a:solidFill>
              </a:rPr>
              <a:t>1</a:t>
            </a:r>
            <a:endParaRPr lang="ja-JP" sz="2200" dirty="0"/>
          </a:p>
        </p:txBody>
      </p:sp>
      <p:sp>
        <p:nvSpPr>
          <p:cNvPr id="9" name="Text 6"/>
          <p:cNvSpPr txBox="1"/>
          <p:nvPr/>
        </p:nvSpPr>
        <p:spPr>
          <a:xfrm>
            <a:off x="685800" y="2816352"/>
            <a:ext cx="2057400" cy="777240"/>
          </a:xfrm>
          <a:prstGeom prst="rect">
            <a:avLst/>
          </a:prstGeom>
          <a:noFill/>
          <a:ln/>
        </p:spPr>
        <p:txBody>
          <a:bodyPr wrap="square" lIns="0" tIns="0" rIns="0" bIns="0" rtlCol="0" anchor="t"/>
          <a:lstStyle/>
          <a:p>
            <a:pPr indent="0" marL="0">
              <a:buNone/>
            </a:pPr>
            <a:r>
              <a:rPr lang="ja-JP" altLang="en-US" sz="1900" b="1" dirty="0">
                <a:solidFill>
                  <a:schemeClr val="tx2"/>
                </a:solidFill>
              </a:rPr>
              <a:t>社会に</a:t>
            </a:r>
            <a:endParaRPr lang="ja-JP" sz="1900" dirty="0"/>
          </a:p>
          <a:p>
            <a:pPr indent="0" marL="0">
              <a:buNone/>
            </a:pPr>
            <a:r>
              <a:rPr lang="ja-JP" altLang="en-US" sz="1900" b="1" dirty="0">
                <a:solidFill>
                  <a:schemeClr val="tx2"/>
                </a:solidFill>
              </a:rPr>
              <a:t>何を届ける？</a:t>
            </a:r>
            <a:endParaRPr lang="ja-JP" sz="1900" dirty="0"/>
          </a:p>
        </p:txBody>
      </p:sp>
      <p:sp>
        <p:nvSpPr>
          <p:cNvPr id="10" name="Shape 7"/>
          <p:cNvSpPr/>
          <p:nvPr/>
        </p:nvSpPr>
        <p:spPr>
          <a:xfrm>
            <a:off x="2971800" y="2011680"/>
            <a:ext cx="2240280" cy="1691640"/>
          </a:xfrm>
          <a:prstGeom prst="roundRect">
            <a:avLst>
              <a:gd name="adj" fmla="val 8649"/>
            </a:avLst>
          </a:prstGeom>
          <a:solidFill>
            <a:schemeClr val="bg2"/>
          </a:solidFill>
          <a:ln/>
        </p:spPr>
      </p:sp>
      <p:sp>
        <p:nvSpPr>
          <p:cNvPr id="11" name="Text 8"/>
          <p:cNvSpPr txBox="1"/>
          <p:nvPr/>
        </p:nvSpPr>
        <p:spPr>
          <a:xfrm>
            <a:off x="3154680" y="2194560"/>
            <a:ext cx="548640" cy="548640"/>
          </a:xfrm>
          <a:prstGeom prst="ellipse">
            <a:avLst/>
          </a:prstGeom>
          <a:solidFill>
            <a:schemeClr val="accent1"/>
          </a:solidFill>
          <a:ln/>
        </p:spPr>
        <p:txBody>
          <a:bodyPr wrap="square" lIns="0" tIns="0" rIns="0" bIns="0" rtlCol="0" anchor="ctr"/>
          <a:lstStyle/>
          <a:p>
            <a:pPr algn="ctr" indent="0" marL="0">
              <a:buNone/>
            </a:pPr>
            <a:r>
              <a:rPr lang="ja-JP" altLang="en-US" sz="2200" b="1" dirty="0">
                <a:solidFill>
                  <a:schemeClr val="bg1"/>
                </a:solidFill>
              </a:rPr>
              <a:t>2</a:t>
            </a:r>
            <a:endParaRPr lang="ja-JP" sz="2200" dirty="0"/>
          </a:p>
        </p:txBody>
      </p:sp>
      <p:sp>
        <p:nvSpPr>
          <p:cNvPr id="12" name="Text 9"/>
          <p:cNvSpPr txBox="1"/>
          <p:nvPr/>
        </p:nvSpPr>
        <p:spPr>
          <a:xfrm>
            <a:off x="3108960" y="2816352"/>
            <a:ext cx="2057400" cy="777240"/>
          </a:xfrm>
          <a:prstGeom prst="rect">
            <a:avLst/>
          </a:prstGeom>
          <a:noFill/>
          <a:ln/>
        </p:spPr>
        <p:txBody>
          <a:bodyPr wrap="square" lIns="0" tIns="0" rIns="0" bIns="0" rtlCol="0" anchor="t"/>
          <a:lstStyle/>
          <a:p>
            <a:pPr indent="0" marL="0">
              <a:buNone/>
            </a:pPr>
            <a:r>
              <a:rPr lang="ja-JP" altLang="en-US" sz="1900" b="1" dirty="0">
                <a:solidFill>
                  <a:schemeClr val="tx2"/>
                </a:solidFill>
              </a:rPr>
              <a:t>どんな企業が</a:t>
            </a:r>
            <a:endParaRPr lang="ja-JP" sz="1900" dirty="0"/>
          </a:p>
          <a:p>
            <a:pPr indent="0" marL="0">
              <a:buNone/>
            </a:pPr>
            <a:r>
              <a:rPr lang="ja-JP" altLang="en-US" sz="1900" b="1" dirty="0">
                <a:solidFill>
                  <a:schemeClr val="tx2"/>
                </a:solidFill>
              </a:rPr>
              <a:t>いる？</a:t>
            </a:r>
            <a:endParaRPr lang="ja-JP" sz="1900" dirty="0"/>
          </a:p>
        </p:txBody>
      </p:sp>
      <p:sp>
        <p:nvSpPr>
          <p:cNvPr id="13" name="Shape 10"/>
          <p:cNvSpPr/>
          <p:nvPr/>
        </p:nvSpPr>
        <p:spPr>
          <a:xfrm>
            <a:off x="5394960" y="2011680"/>
            <a:ext cx="2240280" cy="1691640"/>
          </a:xfrm>
          <a:prstGeom prst="roundRect">
            <a:avLst>
              <a:gd name="adj" fmla="val 8649"/>
            </a:avLst>
          </a:prstGeom>
          <a:solidFill>
            <a:schemeClr val="bg2"/>
          </a:solidFill>
          <a:ln/>
        </p:spPr>
      </p:sp>
      <p:sp>
        <p:nvSpPr>
          <p:cNvPr id="14" name="Text 11"/>
          <p:cNvSpPr txBox="1"/>
          <p:nvPr/>
        </p:nvSpPr>
        <p:spPr>
          <a:xfrm>
            <a:off x="5577840" y="2194560"/>
            <a:ext cx="548640" cy="548640"/>
          </a:xfrm>
          <a:prstGeom prst="ellipse">
            <a:avLst/>
          </a:prstGeom>
          <a:solidFill>
            <a:schemeClr val="accent1"/>
          </a:solidFill>
          <a:ln/>
        </p:spPr>
        <p:txBody>
          <a:bodyPr wrap="square" lIns="0" tIns="0" rIns="0" bIns="0" rtlCol="0" anchor="ctr"/>
          <a:lstStyle/>
          <a:p>
            <a:pPr algn="ctr" indent="0" marL="0">
              <a:buNone/>
            </a:pPr>
            <a:r>
              <a:rPr lang="ja-JP" altLang="en-US" sz="2200" b="1" dirty="0">
                <a:solidFill>
                  <a:schemeClr val="bg1"/>
                </a:solidFill>
              </a:rPr>
              <a:t>3</a:t>
            </a:r>
            <a:endParaRPr lang="ja-JP" sz="2200" dirty="0"/>
          </a:p>
        </p:txBody>
      </p:sp>
      <p:sp>
        <p:nvSpPr>
          <p:cNvPr id="15" name="Text 12"/>
          <p:cNvSpPr txBox="1"/>
          <p:nvPr/>
        </p:nvSpPr>
        <p:spPr>
          <a:xfrm>
            <a:off x="5532120" y="2816352"/>
            <a:ext cx="2057400" cy="777240"/>
          </a:xfrm>
          <a:prstGeom prst="rect">
            <a:avLst/>
          </a:prstGeom>
          <a:noFill/>
          <a:ln/>
        </p:spPr>
        <p:txBody>
          <a:bodyPr wrap="square" lIns="0" tIns="0" rIns="0" bIns="0" rtlCol="0" anchor="t"/>
          <a:lstStyle/>
          <a:p>
            <a:pPr indent="0" marL="0">
              <a:buNone/>
            </a:pPr>
            <a:r>
              <a:rPr lang="ja-JP" altLang="en-US" sz="1900" b="1" dirty="0">
                <a:solidFill>
                  <a:schemeClr val="tx2"/>
                </a:solidFill>
              </a:rPr>
              <a:t>誰が顧客？</a:t>
            </a:r>
            <a:endParaRPr lang="ja-JP" sz="1900" dirty="0"/>
          </a:p>
        </p:txBody>
      </p:sp>
      <p:sp>
        <p:nvSpPr>
          <p:cNvPr id="16" name="Shape 13"/>
          <p:cNvSpPr/>
          <p:nvPr/>
        </p:nvSpPr>
        <p:spPr>
          <a:xfrm>
            <a:off x="548640" y="3886200"/>
            <a:ext cx="2240280" cy="1691640"/>
          </a:xfrm>
          <a:prstGeom prst="roundRect">
            <a:avLst>
              <a:gd name="adj" fmla="val 8649"/>
            </a:avLst>
          </a:prstGeom>
          <a:solidFill>
            <a:schemeClr val="bg2"/>
          </a:solidFill>
          <a:ln/>
        </p:spPr>
      </p:sp>
      <p:sp>
        <p:nvSpPr>
          <p:cNvPr id="17" name="Text 14"/>
          <p:cNvSpPr txBox="1"/>
          <p:nvPr/>
        </p:nvSpPr>
        <p:spPr>
          <a:xfrm>
            <a:off x="731520" y="4069080"/>
            <a:ext cx="548640" cy="548640"/>
          </a:xfrm>
          <a:prstGeom prst="ellipse">
            <a:avLst/>
          </a:prstGeom>
          <a:solidFill>
            <a:schemeClr val="accent1"/>
          </a:solidFill>
          <a:ln/>
        </p:spPr>
        <p:txBody>
          <a:bodyPr wrap="square" lIns="0" tIns="0" rIns="0" bIns="0" rtlCol="0" anchor="ctr"/>
          <a:lstStyle/>
          <a:p>
            <a:pPr algn="ctr" indent="0" marL="0">
              <a:buNone/>
            </a:pPr>
            <a:r>
              <a:rPr lang="ja-JP" altLang="en-US" sz="2200" b="1" dirty="0">
                <a:solidFill>
                  <a:schemeClr val="bg1"/>
                </a:solidFill>
              </a:rPr>
              <a:t>4</a:t>
            </a:r>
            <a:endParaRPr lang="ja-JP" sz="2200" dirty="0"/>
          </a:p>
        </p:txBody>
      </p:sp>
      <p:sp>
        <p:nvSpPr>
          <p:cNvPr id="18" name="Text 15"/>
          <p:cNvSpPr txBox="1"/>
          <p:nvPr/>
        </p:nvSpPr>
        <p:spPr>
          <a:xfrm>
            <a:off x="685800" y="4690872"/>
            <a:ext cx="2057400" cy="777240"/>
          </a:xfrm>
          <a:prstGeom prst="rect">
            <a:avLst/>
          </a:prstGeom>
          <a:noFill/>
          <a:ln/>
        </p:spPr>
        <p:txBody>
          <a:bodyPr wrap="square" lIns="0" tIns="0" rIns="0" bIns="0" rtlCol="0" anchor="t"/>
          <a:lstStyle/>
          <a:p>
            <a:pPr indent="0" marL="0">
              <a:buNone/>
            </a:pPr>
            <a:r>
              <a:rPr lang="ja-JP" altLang="en-US" sz="1900" b="1" dirty="0">
                <a:solidFill>
                  <a:schemeClr val="tx2"/>
                </a:solidFill>
              </a:rPr>
              <a:t>どうやって</a:t>
            </a:r>
            <a:endParaRPr lang="ja-JP" sz="1900" dirty="0"/>
          </a:p>
          <a:p>
            <a:pPr indent="0" marL="0">
              <a:buNone/>
            </a:pPr>
            <a:r>
              <a:rPr lang="ja-JP" altLang="en-US" sz="1900" b="1" dirty="0">
                <a:solidFill>
                  <a:schemeClr val="tx2"/>
                </a:solidFill>
              </a:rPr>
              <a:t>利益を生む？</a:t>
            </a:r>
            <a:endParaRPr lang="ja-JP" sz="1900" dirty="0"/>
          </a:p>
        </p:txBody>
      </p:sp>
      <p:sp>
        <p:nvSpPr>
          <p:cNvPr id="19" name="Shape 16"/>
          <p:cNvSpPr/>
          <p:nvPr/>
        </p:nvSpPr>
        <p:spPr>
          <a:xfrm>
            <a:off x="2971800" y="3886200"/>
            <a:ext cx="2240280" cy="1691640"/>
          </a:xfrm>
          <a:prstGeom prst="roundRect">
            <a:avLst>
              <a:gd name="adj" fmla="val 8649"/>
            </a:avLst>
          </a:prstGeom>
          <a:solidFill>
            <a:schemeClr val="bg2"/>
          </a:solidFill>
          <a:ln/>
        </p:spPr>
      </p:sp>
      <p:sp>
        <p:nvSpPr>
          <p:cNvPr id="20" name="Text 17"/>
          <p:cNvSpPr txBox="1"/>
          <p:nvPr/>
        </p:nvSpPr>
        <p:spPr>
          <a:xfrm>
            <a:off x="3154680" y="4069080"/>
            <a:ext cx="548640" cy="548640"/>
          </a:xfrm>
          <a:prstGeom prst="ellipse">
            <a:avLst/>
          </a:prstGeom>
          <a:solidFill>
            <a:schemeClr val="accent1"/>
          </a:solidFill>
          <a:ln/>
        </p:spPr>
        <p:txBody>
          <a:bodyPr wrap="square" lIns="0" tIns="0" rIns="0" bIns="0" rtlCol="0" anchor="ctr"/>
          <a:lstStyle/>
          <a:p>
            <a:pPr algn="ctr" indent="0" marL="0">
              <a:buNone/>
            </a:pPr>
            <a:r>
              <a:rPr lang="ja-JP" altLang="en-US" sz="2200" b="1" dirty="0">
                <a:solidFill>
                  <a:schemeClr val="bg1"/>
                </a:solidFill>
              </a:rPr>
              <a:t>5</a:t>
            </a:r>
            <a:endParaRPr lang="ja-JP" sz="2200" dirty="0"/>
          </a:p>
        </p:txBody>
      </p:sp>
      <p:sp>
        <p:nvSpPr>
          <p:cNvPr id="21" name="Text 18"/>
          <p:cNvSpPr txBox="1"/>
          <p:nvPr/>
        </p:nvSpPr>
        <p:spPr>
          <a:xfrm>
            <a:off x="3108960" y="4690872"/>
            <a:ext cx="2057400" cy="777240"/>
          </a:xfrm>
          <a:prstGeom prst="rect">
            <a:avLst/>
          </a:prstGeom>
          <a:noFill/>
          <a:ln/>
        </p:spPr>
        <p:txBody>
          <a:bodyPr wrap="square" lIns="0" tIns="0" rIns="0" bIns="0" rtlCol="0" anchor="t"/>
          <a:lstStyle/>
          <a:p>
            <a:pPr indent="0" marL="0">
              <a:buNone/>
            </a:pPr>
            <a:r>
              <a:rPr lang="ja-JP" altLang="en-US" sz="1900" b="1" dirty="0">
                <a:solidFill>
                  <a:schemeClr val="tx2"/>
                </a:solidFill>
              </a:rPr>
              <a:t>企業の強みは？</a:t>
            </a:r>
            <a:endParaRPr lang="ja-JP" sz="1900" dirty="0"/>
          </a:p>
        </p:txBody>
      </p:sp>
      <p:sp>
        <p:nvSpPr>
          <p:cNvPr id="22" name="Shape 19"/>
          <p:cNvSpPr/>
          <p:nvPr/>
        </p:nvSpPr>
        <p:spPr>
          <a:xfrm>
            <a:off x="5394960" y="3886200"/>
            <a:ext cx="2240280" cy="1691640"/>
          </a:xfrm>
          <a:prstGeom prst="roundRect">
            <a:avLst>
              <a:gd name="adj" fmla="val 8649"/>
            </a:avLst>
          </a:prstGeom>
          <a:solidFill>
            <a:schemeClr val="bg2"/>
          </a:solidFill>
          <a:ln/>
        </p:spPr>
      </p:sp>
      <p:sp>
        <p:nvSpPr>
          <p:cNvPr id="23" name="Text 20"/>
          <p:cNvSpPr txBox="1"/>
          <p:nvPr/>
        </p:nvSpPr>
        <p:spPr>
          <a:xfrm>
            <a:off x="5577840" y="4069080"/>
            <a:ext cx="548640" cy="548640"/>
          </a:xfrm>
          <a:prstGeom prst="ellipse">
            <a:avLst/>
          </a:prstGeom>
          <a:solidFill>
            <a:schemeClr val="accent1"/>
          </a:solidFill>
          <a:ln/>
        </p:spPr>
        <p:txBody>
          <a:bodyPr wrap="square" lIns="0" tIns="0" rIns="0" bIns="0" rtlCol="0" anchor="ctr"/>
          <a:lstStyle/>
          <a:p>
            <a:pPr algn="ctr" indent="0" marL="0">
              <a:buNone/>
            </a:pPr>
            <a:r>
              <a:rPr lang="ja-JP" altLang="en-US" sz="2200" b="1" dirty="0">
                <a:solidFill>
                  <a:schemeClr val="bg1"/>
                </a:solidFill>
              </a:rPr>
              <a:t>6</a:t>
            </a:r>
            <a:endParaRPr lang="ja-JP" sz="2200" dirty="0"/>
          </a:p>
        </p:txBody>
      </p:sp>
      <p:sp>
        <p:nvSpPr>
          <p:cNvPr id="24" name="Text 21"/>
          <p:cNvSpPr txBox="1"/>
          <p:nvPr/>
        </p:nvSpPr>
        <p:spPr>
          <a:xfrm>
            <a:off x="5532120" y="4690872"/>
            <a:ext cx="2057400" cy="777240"/>
          </a:xfrm>
          <a:prstGeom prst="rect">
            <a:avLst/>
          </a:prstGeom>
          <a:noFill/>
          <a:ln/>
        </p:spPr>
        <p:txBody>
          <a:bodyPr wrap="square" lIns="0" tIns="0" rIns="0" bIns="0" rtlCol="0" anchor="t"/>
          <a:lstStyle/>
          <a:p>
            <a:pPr indent="0" marL="0">
              <a:buNone/>
            </a:pPr>
            <a:r>
              <a:rPr lang="ja-JP" altLang="en-US" sz="1900" b="1" dirty="0">
                <a:solidFill>
                  <a:schemeClr val="tx2"/>
                </a:solidFill>
              </a:rPr>
              <a:t>どんなニュースが</a:t>
            </a:r>
            <a:endParaRPr lang="ja-JP" sz="1900" dirty="0"/>
          </a:p>
          <a:p>
            <a:pPr indent="0" marL="0">
              <a:buNone/>
            </a:pPr>
            <a:r>
              <a:rPr lang="ja-JP" altLang="en-US" sz="1900" b="1" dirty="0">
                <a:solidFill>
                  <a:schemeClr val="tx2"/>
                </a:solidFill>
              </a:rPr>
              <a:t>影響する？</a:t>
            </a:r>
            <a:endParaRPr lang="ja-JP" sz="1900" dirty="0"/>
          </a:p>
        </p:txBody>
      </p:sp>
      <p:sp>
        <p:nvSpPr>
          <p:cNvPr id="25" name="Shape 22"/>
          <p:cNvSpPr/>
          <p:nvPr/>
        </p:nvSpPr>
        <p:spPr>
          <a:xfrm>
            <a:off x="7818120" y="3520440"/>
            <a:ext cx="640080" cy="548640"/>
          </a:xfrm>
          <a:prstGeom prst="rightArrow">
            <a:avLst/>
          </a:prstGeom>
          <a:solidFill>
            <a:schemeClr val="accent3"/>
          </a:solidFill>
          <a:ln/>
        </p:spPr>
      </p:sp>
      <p:sp>
        <p:nvSpPr>
          <p:cNvPr id="26" name="Shape 23"/>
          <p:cNvSpPr/>
          <p:nvPr/>
        </p:nvSpPr>
        <p:spPr>
          <a:xfrm>
            <a:off x="8641080" y="2011680"/>
            <a:ext cx="2999232" cy="3566160"/>
          </a:xfrm>
          <a:prstGeom prst="roundRect">
            <a:avLst>
              <a:gd name="adj" fmla="val 6098"/>
            </a:avLst>
          </a:prstGeom>
          <a:solidFill>
            <a:schemeClr val="accent3"/>
          </a:solidFill>
          <a:ln/>
          <a:effectLst>
            <a:outerShdw sx="100000" sy="100000" kx="0" ky="0" algn="bl" rotWithShape="0" blurRad="101600" dist="25400" dir="5400000">
              <a:srgbClr val="12243A">
                <a:alpha val="14000"/>
              </a:srgbClr>
            </a:outerShdw>
          </a:effectLst>
        </p:spPr>
      </p:sp>
      <p:sp>
        <p:nvSpPr>
          <p:cNvPr id="27" name="Text 24"/>
          <p:cNvSpPr txBox="1"/>
          <p:nvPr/>
        </p:nvSpPr>
        <p:spPr>
          <a:xfrm>
            <a:off x="8869680" y="2240280"/>
            <a:ext cx="685800" cy="685800"/>
          </a:xfrm>
          <a:prstGeom prst="ellipse">
            <a:avLst/>
          </a:prstGeom>
          <a:solidFill>
            <a:schemeClr val="tx2"/>
          </a:solidFill>
          <a:ln/>
        </p:spPr>
        <p:txBody>
          <a:bodyPr wrap="square" lIns="0" tIns="0" rIns="0" bIns="0" rtlCol="0" anchor="ctr"/>
          <a:lstStyle/>
          <a:p>
            <a:pPr algn="ctr" indent="0" marL="0">
              <a:buNone/>
            </a:pPr>
            <a:r>
              <a:rPr lang="ja-JP" altLang="en-US" sz="2800" b="1" dirty="0">
                <a:solidFill>
                  <a:schemeClr val="bg1"/>
                </a:solidFill>
              </a:rPr>
              <a:t>7</a:t>
            </a:r>
            <a:endParaRPr lang="ja-JP" sz="2800" dirty="0"/>
          </a:p>
        </p:txBody>
      </p:sp>
      <p:pic>
        <p:nvPicPr>
          <p:cNvPr id="28" name="Image 0" descr="TbHeart">    </p:cNvPr>
          <p:cNvPicPr>
            <a:picLocks noChangeAspect="1"/>
          </p:cNvPicPr>
          <p:nvPr/>
        </p:nvPicPr>
        <p:blipFill>
          <a:blip r:embed="rId1"/>
          <a:stretch>
            <a:fillRect/>
          </a:stretch>
        </p:blipFill>
        <p:spPr>
          <a:xfrm>
            <a:off x="10698480" y="2286000"/>
            <a:ext cx="640080" cy="640080"/>
          </a:xfrm>
          <a:prstGeom prst="rect">
            <a:avLst/>
          </a:prstGeom>
        </p:spPr>
      </p:pic>
      <p:sp>
        <p:nvSpPr>
          <p:cNvPr id="29" name="Text 25"/>
          <p:cNvSpPr txBox="1"/>
          <p:nvPr/>
        </p:nvSpPr>
        <p:spPr>
          <a:xfrm>
            <a:off x="8869680" y="3200400"/>
            <a:ext cx="2651760" cy="1280160"/>
          </a:xfrm>
          <a:prstGeom prst="rect">
            <a:avLst/>
          </a:prstGeom>
          <a:noFill/>
          <a:ln/>
        </p:spPr>
        <p:txBody>
          <a:bodyPr wrap="square" lIns="0" tIns="0" rIns="0" bIns="0" rtlCol="0" anchor="t"/>
          <a:lstStyle/>
          <a:p>
            <a:pPr indent="0" marL="0">
              <a:buNone/>
            </a:pPr>
            <a:r>
              <a:rPr lang="ja-JP" altLang="en-US" sz="2600" b="1" dirty="0">
                <a:solidFill>
                  <a:schemeClr val="tx2"/>
                </a:solidFill>
              </a:rPr>
              <a:t>自分は何に</a:t>
            </a:r>
            <a:endParaRPr lang="ja-JP" sz="2600" dirty="0"/>
          </a:p>
          <a:p>
            <a:pPr indent="0" marL="0">
              <a:buNone/>
            </a:pPr>
            <a:r>
              <a:rPr lang="ja-JP" altLang="en-US" sz="2600" b="1" dirty="0">
                <a:solidFill>
                  <a:schemeClr val="tx2"/>
                </a:solidFill>
              </a:rPr>
              <a:t>興味・共感する？</a:t>
            </a:r>
            <a:endParaRPr lang="ja-JP" sz="2600" dirty="0"/>
          </a:p>
        </p:txBody>
      </p:sp>
      <p:sp>
        <p:nvSpPr>
          <p:cNvPr id="30" name="Text 26"/>
          <p:cNvSpPr txBox="1"/>
          <p:nvPr/>
        </p:nvSpPr>
        <p:spPr>
          <a:xfrm>
            <a:off x="8869680" y="4572000"/>
            <a:ext cx="2651760" cy="731520"/>
          </a:xfrm>
          <a:prstGeom prst="rect">
            <a:avLst/>
          </a:prstGeom>
          <a:noFill/>
          <a:ln/>
        </p:spPr>
        <p:txBody>
          <a:bodyPr wrap="square" lIns="0" tIns="0" rIns="0" bIns="0" rtlCol="0" anchor="t"/>
          <a:lstStyle/>
          <a:p>
            <a:pPr indent="0" marL="0">
              <a:buNone/>
            </a:pPr>
            <a:r>
              <a:rPr lang="ja-JP" altLang="en-US" sz="1600" dirty="0">
                <a:solidFill>
                  <a:schemeClr val="tx2"/>
                </a:solidFill>
              </a:rPr>
              <a:t>調べた内容を、自分の選択肢に変える</a:t>
            </a:r>
            <a:endParaRPr lang="ja-JP" sz="1600" dirty="0"/>
          </a:p>
        </p:txBody>
      </p:sp>
      <p:sp>
        <p:nvSpPr>
          <p:cNvPr id="31" name="Text 27"/>
          <p:cNvSpPr txBox="1"/>
          <p:nvPr/>
        </p:nvSpPr>
        <p:spPr>
          <a:xfrm>
            <a:off x="548640" y="5806440"/>
            <a:ext cx="11091672" cy="411480"/>
          </a:xfrm>
          <a:prstGeom prst="rect">
            <a:avLst/>
          </a:prstGeom>
          <a:noFill/>
          <a:ln/>
        </p:spPr>
        <p:txBody>
          <a:bodyPr wrap="square" lIns="0" tIns="0" rIns="0" bIns="0" rtlCol="0" anchor="t"/>
          <a:lstStyle/>
          <a:p>
            <a:pPr indent="0" marL="0">
              <a:buNone/>
            </a:pPr>
            <a:r>
              <a:rPr lang="ja-JP" altLang="en-US" sz="1800" b="1" dirty="0">
                <a:solidFill>
                  <a:schemeClr val="accent1"/>
                </a:solidFill>
              </a:rPr>
              <a:t>金属業界だけでなく、食品・IT・医薬品など、どの業界にも使える。</a:t>
            </a:r>
            <a:endParaRPr lang="ja-JP" sz="18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03｜金属業界の全体像を理解する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そもそも金属業界とは？</a:t>
            </a:r>
            <a:endParaRPr lang="en-US" sz="3000" dirty="0"/>
          </a:p>
        </p:txBody>
      </p:sp>
      <p:sp>
        <p:nvSpPr>
          <p:cNvPr id="5" name="Shape 2"/>
          <p:cNvSpPr/>
          <p:nvPr/>
        </p:nvSpPr>
        <p:spPr>
          <a:xfrm>
            <a:off x="548640" y="1600200"/>
            <a:ext cx="11091672" cy="713232"/>
          </a:xfrm>
          <a:prstGeom prst="roundRect">
            <a:avLst>
              <a:gd name="adj" fmla="val 17949"/>
            </a:avLst>
          </a:prstGeom>
          <a:solidFill>
            <a:schemeClr val="bg2"/>
          </a:solidFill>
          <a:ln/>
        </p:spPr>
      </p:sp>
      <p:sp>
        <p:nvSpPr>
          <p:cNvPr id="6" name="Text 3"/>
          <p:cNvSpPr txBox="1"/>
          <p:nvPr/>
        </p:nvSpPr>
        <p:spPr>
          <a:xfrm>
            <a:off x="822960" y="1600200"/>
            <a:ext cx="10607040" cy="713232"/>
          </a:xfrm>
          <a:prstGeom prst="rect">
            <a:avLst/>
          </a:prstGeom>
          <a:noFill/>
          <a:ln/>
        </p:spPr>
        <p:txBody>
          <a:bodyPr wrap="square" lIns="0" tIns="0" rIns="0" bIns="0" rtlCol="0" anchor="ctr"/>
          <a:lstStyle/>
          <a:p>
            <a:pPr indent="0" marL="0">
              <a:buNone/>
            </a:pPr>
            <a:r>
              <a:rPr lang="ja-JP" altLang="en-US" sz="2400" b="1" dirty="0">
                <a:solidFill>
                  <a:schemeClr val="accent1"/>
                </a:solidFill>
              </a:rPr>
              <a:t>金属業界 ＝ </a:t>
            </a:r>
            <a:pPr indent="0" marL="0">
              <a:buNone/>
            </a:pPr>
            <a:r>
              <a:rPr lang="ja-JP" altLang="en-US" sz="2400" b="1" dirty="0">
                <a:solidFill>
                  <a:schemeClr val="tx2"/>
                </a:solidFill>
              </a:rPr>
              <a:t>金属を「取り出し、使える形にし、届ける」産業</a:t>
            </a:r>
            <a:endParaRPr lang="ja-JP" sz="2400" dirty="0"/>
          </a:p>
        </p:txBody>
      </p:sp>
      <p:sp>
        <p:nvSpPr>
          <p:cNvPr id="7" name="Shape 4"/>
          <p:cNvSpPr/>
          <p:nvPr/>
        </p:nvSpPr>
        <p:spPr>
          <a:xfrm>
            <a:off x="548640" y="2560320"/>
            <a:ext cx="4892040" cy="585216"/>
          </a:xfrm>
          <a:prstGeom prst="roundRect">
            <a:avLst>
              <a:gd name="adj" fmla="val 15625"/>
            </a:avLst>
          </a:prstGeom>
          <a:solidFill>
            <a:schemeClr val="tx2"/>
          </a:solidFill>
          <a:ln/>
        </p:spPr>
      </p:sp>
      <p:sp>
        <p:nvSpPr>
          <p:cNvPr id="8" name="Text 5"/>
          <p:cNvSpPr txBox="1"/>
          <p:nvPr/>
        </p:nvSpPr>
        <p:spPr>
          <a:xfrm>
            <a:off x="685800" y="2651760"/>
            <a:ext cx="402336" cy="402336"/>
          </a:xfrm>
          <a:prstGeom prst="ellipse">
            <a:avLst/>
          </a:prstGeom>
          <a:solidFill>
            <a:schemeClr val="bg1"/>
          </a:solidFill>
          <a:ln/>
        </p:spPr>
        <p:txBody>
          <a:bodyPr wrap="square" lIns="0" tIns="0" rIns="0" bIns="0" rtlCol="0" anchor="ctr"/>
          <a:lstStyle/>
          <a:p>
            <a:pPr algn="ctr" indent="0" marL="0">
              <a:buNone/>
            </a:pPr>
            <a:r>
              <a:rPr lang="ja-JP" altLang="en-US" sz="1600" b="1" dirty="0">
                <a:solidFill>
                  <a:schemeClr val="tx2"/>
                </a:solidFill>
              </a:rPr>
              <a:t>1</a:t>
            </a:r>
            <a:endParaRPr lang="ja-JP" sz="1600" dirty="0"/>
          </a:p>
        </p:txBody>
      </p:sp>
      <p:pic>
        <p:nvPicPr>
          <p:cNvPr id="9" name="Image 0" descr="TbPick">    </p:cNvPr>
          <p:cNvPicPr>
            <a:picLocks noChangeAspect="1"/>
          </p:cNvPicPr>
          <p:nvPr/>
        </p:nvPicPr>
        <p:blipFill>
          <a:blip r:embed="rId1"/>
          <a:stretch>
            <a:fillRect/>
          </a:stretch>
        </p:blipFill>
        <p:spPr>
          <a:xfrm>
            <a:off x="1261872" y="2670048"/>
            <a:ext cx="365760" cy="365760"/>
          </a:xfrm>
          <a:prstGeom prst="rect">
            <a:avLst/>
          </a:prstGeom>
        </p:spPr>
      </p:pic>
      <p:sp>
        <p:nvSpPr>
          <p:cNvPr id="10" name="Text 6"/>
          <p:cNvSpPr txBox="1"/>
          <p:nvPr/>
        </p:nvSpPr>
        <p:spPr>
          <a:xfrm>
            <a:off x="1783080" y="2560320"/>
            <a:ext cx="3474720" cy="585216"/>
          </a:xfrm>
          <a:prstGeom prst="rect">
            <a:avLst/>
          </a:prstGeom>
          <a:noFill/>
          <a:ln/>
        </p:spPr>
        <p:txBody>
          <a:bodyPr wrap="square" lIns="0" tIns="0" rIns="0" bIns="0" rtlCol="0" anchor="ctr"/>
          <a:lstStyle/>
          <a:p>
            <a:pPr indent="0" marL="0">
              <a:buNone/>
            </a:pPr>
            <a:r>
              <a:rPr lang="ja-JP" altLang="en-US" sz="2200" b="1" dirty="0">
                <a:solidFill>
                  <a:schemeClr val="bg1"/>
                </a:solidFill>
              </a:rPr>
              <a:t>資源開発</a:t>
            </a:r>
            <a:endParaRPr lang="ja-JP" sz="2200" dirty="0"/>
          </a:p>
        </p:txBody>
      </p:sp>
      <p:sp>
        <p:nvSpPr>
          <p:cNvPr id="11" name="Shape 7"/>
          <p:cNvSpPr/>
          <p:nvPr/>
        </p:nvSpPr>
        <p:spPr>
          <a:xfrm>
            <a:off x="548640" y="3246120"/>
            <a:ext cx="4892040" cy="585216"/>
          </a:xfrm>
          <a:prstGeom prst="roundRect">
            <a:avLst>
              <a:gd name="adj" fmla="val 15625"/>
            </a:avLst>
          </a:prstGeom>
          <a:solidFill>
            <a:schemeClr val="tx2"/>
          </a:solidFill>
          <a:ln/>
        </p:spPr>
      </p:sp>
      <p:sp>
        <p:nvSpPr>
          <p:cNvPr id="12" name="Text 8"/>
          <p:cNvSpPr txBox="1"/>
          <p:nvPr/>
        </p:nvSpPr>
        <p:spPr>
          <a:xfrm>
            <a:off x="685800" y="3337560"/>
            <a:ext cx="402336" cy="402336"/>
          </a:xfrm>
          <a:prstGeom prst="ellipse">
            <a:avLst/>
          </a:prstGeom>
          <a:solidFill>
            <a:schemeClr val="bg1"/>
          </a:solidFill>
          <a:ln/>
        </p:spPr>
        <p:txBody>
          <a:bodyPr wrap="square" lIns="0" tIns="0" rIns="0" bIns="0" rtlCol="0" anchor="ctr"/>
          <a:lstStyle/>
          <a:p>
            <a:pPr algn="ctr" indent="0" marL="0">
              <a:buNone/>
            </a:pPr>
            <a:r>
              <a:rPr lang="ja-JP" altLang="en-US" sz="1600" b="1" dirty="0">
                <a:solidFill>
                  <a:schemeClr val="tx2"/>
                </a:solidFill>
              </a:rPr>
              <a:t>2</a:t>
            </a:r>
            <a:endParaRPr lang="ja-JP" sz="1600" dirty="0"/>
          </a:p>
        </p:txBody>
      </p:sp>
      <p:pic>
        <p:nvPicPr>
          <p:cNvPr id="13" name="Image 1" descr="TbFlame">    </p:cNvPr>
          <p:cNvPicPr>
            <a:picLocks noChangeAspect="1"/>
          </p:cNvPicPr>
          <p:nvPr/>
        </p:nvPicPr>
        <p:blipFill>
          <a:blip r:embed="rId2"/>
          <a:stretch>
            <a:fillRect/>
          </a:stretch>
        </p:blipFill>
        <p:spPr>
          <a:xfrm>
            <a:off x="1261872" y="3355848"/>
            <a:ext cx="365760" cy="365760"/>
          </a:xfrm>
          <a:prstGeom prst="rect">
            <a:avLst/>
          </a:prstGeom>
        </p:spPr>
      </p:pic>
      <p:sp>
        <p:nvSpPr>
          <p:cNvPr id="14" name="Text 9"/>
          <p:cNvSpPr txBox="1"/>
          <p:nvPr/>
        </p:nvSpPr>
        <p:spPr>
          <a:xfrm>
            <a:off x="1783080" y="3246120"/>
            <a:ext cx="3474720" cy="585216"/>
          </a:xfrm>
          <a:prstGeom prst="rect">
            <a:avLst/>
          </a:prstGeom>
          <a:noFill/>
          <a:ln/>
        </p:spPr>
        <p:txBody>
          <a:bodyPr wrap="square" lIns="0" tIns="0" rIns="0" bIns="0" rtlCol="0" anchor="ctr"/>
          <a:lstStyle/>
          <a:p>
            <a:pPr indent="0" marL="0">
              <a:buNone/>
            </a:pPr>
            <a:r>
              <a:rPr lang="ja-JP" altLang="en-US" sz="2200" b="1" dirty="0">
                <a:solidFill>
                  <a:schemeClr val="bg1"/>
                </a:solidFill>
              </a:rPr>
              <a:t>製鉄・製錬</a:t>
            </a:r>
            <a:endParaRPr lang="ja-JP" sz="2200" dirty="0"/>
          </a:p>
        </p:txBody>
      </p:sp>
      <p:sp>
        <p:nvSpPr>
          <p:cNvPr id="15" name="Shape 10"/>
          <p:cNvSpPr/>
          <p:nvPr/>
        </p:nvSpPr>
        <p:spPr>
          <a:xfrm>
            <a:off x="548640" y="3931920"/>
            <a:ext cx="4892040" cy="585216"/>
          </a:xfrm>
          <a:prstGeom prst="roundRect">
            <a:avLst>
              <a:gd name="adj" fmla="val 15625"/>
            </a:avLst>
          </a:prstGeom>
          <a:solidFill>
            <a:schemeClr val="tx2"/>
          </a:solidFill>
          <a:ln/>
        </p:spPr>
      </p:sp>
      <p:sp>
        <p:nvSpPr>
          <p:cNvPr id="16" name="Text 11"/>
          <p:cNvSpPr txBox="1"/>
          <p:nvPr/>
        </p:nvSpPr>
        <p:spPr>
          <a:xfrm>
            <a:off x="685800" y="4023360"/>
            <a:ext cx="402336" cy="402336"/>
          </a:xfrm>
          <a:prstGeom prst="ellipse">
            <a:avLst/>
          </a:prstGeom>
          <a:solidFill>
            <a:schemeClr val="bg1"/>
          </a:solidFill>
          <a:ln/>
        </p:spPr>
        <p:txBody>
          <a:bodyPr wrap="square" lIns="0" tIns="0" rIns="0" bIns="0" rtlCol="0" anchor="ctr"/>
          <a:lstStyle/>
          <a:p>
            <a:pPr algn="ctr" indent="0" marL="0">
              <a:buNone/>
            </a:pPr>
            <a:r>
              <a:rPr lang="ja-JP" altLang="en-US" sz="1600" b="1" dirty="0">
                <a:solidFill>
                  <a:schemeClr val="tx2"/>
                </a:solidFill>
              </a:rPr>
              <a:t>3</a:t>
            </a:r>
            <a:endParaRPr lang="ja-JP" sz="1600" dirty="0"/>
          </a:p>
        </p:txBody>
      </p:sp>
      <p:pic>
        <p:nvPicPr>
          <p:cNvPr id="17" name="Image 2" descr="TbTool">    </p:cNvPr>
          <p:cNvPicPr>
            <a:picLocks noChangeAspect="1"/>
          </p:cNvPicPr>
          <p:nvPr/>
        </p:nvPicPr>
        <p:blipFill>
          <a:blip r:embed="rId3"/>
          <a:stretch>
            <a:fillRect/>
          </a:stretch>
        </p:blipFill>
        <p:spPr>
          <a:xfrm>
            <a:off x="1261872" y="4041648"/>
            <a:ext cx="365760" cy="365760"/>
          </a:xfrm>
          <a:prstGeom prst="rect">
            <a:avLst/>
          </a:prstGeom>
        </p:spPr>
      </p:pic>
      <p:sp>
        <p:nvSpPr>
          <p:cNvPr id="18" name="Text 12"/>
          <p:cNvSpPr txBox="1"/>
          <p:nvPr/>
        </p:nvSpPr>
        <p:spPr>
          <a:xfrm>
            <a:off x="1783080" y="3931920"/>
            <a:ext cx="3474720" cy="585216"/>
          </a:xfrm>
          <a:prstGeom prst="rect">
            <a:avLst/>
          </a:prstGeom>
          <a:noFill/>
          <a:ln/>
        </p:spPr>
        <p:txBody>
          <a:bodyPr wrap="square" lIns="0" tIns="0" rIns="0" bIns="0" rtlCol="0" anchor="ctr"/>
          <a:lstStyle/>
          <a:p>
            <a:pPr indent="0" marL="0">
              <a:buNone/>
            </a:pPr>
            <a:r>
              <a:rPr lang="ja-JP" altLang="en-US" sz="2200" b="1" dirty="0">
                <a:solidFill>
                  <a:schemeClr val="bg1"/>
                </a:solidFill>
              </a:rPr>
              <a:t>加工</a:t>
            </a:r>
            <a:endParaRPr lang="ja-JP" sz="2200" dirty="0"/>
          </a:p>
        </p:txBody>
      </p:sp>
      <p:sp>
        <p:nvSpPr>
          <p:cNvPr id="19" name="Shape 13"/>
          <p:cNvSpPr/>
          <p:nvPr/>
        </p:nvSpPr>
        <p:spPr>
          <a:xfrm>
            <a:off x="548640" y="4617720"/>
            <a:ext cx="4892040" cy="585216"/>
          </a:xfrm>
          <a:prstGeom prst="roundRect">
            <a:avLst>
              <a:gd name="adj" fmla="val 15625"/>
            </a:avLst>
          </a:prstGeom>
          <a:solidFill>
            <a:schemeClr val="tx2"/>
          </a:solidFill>
          <a:ln/>
        </p:spPr>
      </p:sp>
      <p:sp>
        <p:nvSpPr>
          <p:cNvPr id="20" name="Text 14"/>
          <p:cNvSpPr txBox="1"/>
          <p:nvPr/>
        </p:nvSpPr>
        <p:spPr>
          <a:xfrm>
            <a:off x="685800" y="4709160"/>
            <a:ext cx="402336" cy="402336"/>
          </a:xfrm>
          <a:prstGeom prst="ellipse">
            <a:avLst/>
          </a:prstGeom>
          <a:solidFill>
            <a:schemeClr val="bg1"/>
          </a:solidFill>
          <a:ln/>
        </p:spPr>
        <p:txBody>
          <a:bodyPr wrap="square" lIns="0" tIns="0" rIns="0" bIns="0" rtlCol="0" anchor="ctr"/>
          <a:lstStyle/>
          <a:p>
            <a:pPr algn="ctr" indent="0" marL="0">
              <a:buNone/>
            </a:pPr>
            <a:r>
              <a:rPr lang="ja-JP" altLang="en-US" sz="1600" b="1" dirty="0">
                <a:solidFill>
                  <a:schemeClr val="tx2"/>
                </a:solidFill>
              </a:rPr>
              <a:t>4</a:t>
            </a:r>
            <a:endParaRPr lang="ja-JP" sz="1600" dirty="0"/>
          </a:p>
        </p:txBody>
      </p:sp>
      <p:pic>
        <p:nvPicPr>
          <p:cNvPr id="21" name="Image 3" descr="TbTruck">    </p:cNvPr>
          <p:cNvPicPr>
            <a:picLocks noChangeAspect="1"/>
          </p:cNvPicPr>
          <p:nvPr/>
        </p:nvPicPr>
        <p:blipFill>
          <a:blip r:embed="rId4"/>
          <a:stretch>
            <a:fillRect/>
          </a:stretch>
        </p:blipFill>
        <p:spPr>
          <a:xfrm>
            <a:off x="1261872" y="4727448"/>
            <a:ext cx="365760" cy="365760"/>
          </a:xfrm>
          <a:prstGeom prst="rect">
            <a:avLst/>
          </a:prstGeom>
        </p:spPr>
      </p:pic>
      <p:sp>
        <p:nvSpPr>
          <p:cNvPr id="22" name="Text 15"/>
          <p:cNvSpPr txBox="1"/>
          <p:nvPr/>
        </p:nvSpPr>
        <p:spPr>
          <a:xfrm>
            <a:off x="1783080" y="4617720"/>
            <a:ext cx="3474720" cy="585216"/>
          </a:xfrm>
          <a:prstGeom prst="rect">
            <a:avLst/>
          </a:prstGeom>
          <a:noFill/>
          <a:ln/>
        </p:spPr>
        <p:txBody>
          <a:bodyPr wrap="square" lIns="0" tIns="0" rIns="0" bIns="0" rtlCol="0" anchor="ctr"/>
          <a:lstStyle/>
          <a:p>
            <a:pPr indent="0" marL="0">
              <a:buNone/>
            </a:pPr>
            <a:r>
              <a:rPr lang="ja-JP" altLang="en-US" sz="2200" b="1" dirty="0">
                <a:solidFill>
                  <a:schemeClr val="bg1"/>
                </a:solidFill>
              </a:rPr>
              <a:t>商社・物流</a:t>
            </a:r>
            <a:endParaRPr lang="ja-JP" sz="2200" dirty="0"/>
          </a:p>
        </p:txBody>
      </p:sp>
      <p:sp>
        <p:nvSpPr>
          <p:cNvPr id="23" name="Shape 16"/>
          <p:cNvSpPr/>
          <p:nvPr/>
        </p:nvSpPr>
        <p:spPr>
          <a:xfrm>
            <a:off x="548640" y="5303520"/>
            <a:ext cx="4892040" cy="585216"/>
          </a:xfrm>
          <a:prstGeom prst="roundRect">
            <a:avLst>
              <a:gd name="adj" fmla="val 15625"/>
            </a:avLst>
          </a:prstGeom>
          <a:solidFill>
            <a:schemeClr val="accent1"/>
          </a:solidFill>
          <a:ln/>
        </p:spPr>
      </p:sp>
      <p:sp>
        <p:nvSpPr>
          <p:cNvPr id="24" name="Text 17"/>
          <p:cNvSpPr txBox="1"/>
          <p:nvPr/>
        </p:nvSpPr>
        <p:spPr>
          <a:xfrm>
            <a:off x="685800" y="5394960"/>
            <a:ext cx="402336" cy="402336"/>
          </a:xfrm>
          <a:prstGeom prst="ellipse">
            <a:avLst/>
          </a:prstGeom>
          <a:solidFill>
            <a:schemeClr val="bg1"/>
          </a:solidFill>
          <a:ln/>
        </p:spPr>
        <p:txBody>
          <a:bodyPr wrap="square" lIns="0" tIns="0" rIns="0" bIns="0" rtlCol="0" anchor="ctr"/>
          <a:lstStyle/>
          <a:p>
            <a:pPr algn="ctr" indent="0" marL="0">
              <a:buNone/>
            </a:pPr>
            <a:r>
              <a:rPr lang="ja-JP" altLang="en-US" sz="1600" b="1" dirty="0">
                <a:solidFill>
                  <a:schemeClr val="accent1"/>
                </a:solidFill>
              </a:rPr>
              <a:t>5</a:t>
            </a:r>
            <a:endParaRPr lang="ja-JP" sz="1600" dirty="0"/>
          </a:p>
        </p:txBody>
      </p:sp>
      <p:pic>
        <p:nvPicPr>
          <p:cNvPr id="25" name="Image 4" descr="TbRecycle">    </p:cNvPr>
          <p:cNvPicPr>
            <a:picLocks noChangeAspect="1"/>
          </p:cNvPicPr>
          <p:nvPr/>
        </p:nvPicPr>
        <p:blipFill>
          <a:blip r:embed="rId5"/>
          <a:stretch>
            <a:fillRect/>
          </a:stretch>
        </p:blipFill>
        <p:spPr>
          <a:xfrm>
            <a:off x="1261872" y="5413248"/>
            <a:ext cx="365760" cy="365760"/>
          </a:xfrm>
          <a:prstGeom prst="rect">
            <a:avLst/>
          </a:prstGeom>
        </p:spPr>
      </p:pic>
      <p:sp>
        <p:nvSpPr>
          <p:cNvPr id="26" name="Text 18"/>
          <p:cNvSpPr txBox="1"/>
          <p:nvPr/>
        </p:nvSpPr>
        <p:spPr>
          <a:xfrm>
            <a:off x="1783080" y="5303520"/>
            <a:ext cx="3474720" cy="585216"/>
          </a:xfrm>
          <a:prstGeom prst="rect">
            <a:avLst/>
          </a:prstGeom>
          <a:noFill/>
          <a:ln/>
        </p:spPr>
        <p:txBody>
          <a:bodyPr wrap="square" lIns="0" tIns="0" rIns="0" bIns="0" rtlCol="0" anchor="ctr"/>
          <a:lstStyle/>
          <a:p>
            <a:pPr indent="0" marL="0">
              <a:buNone/>
            </a:pPr>
            <a:r>
              <a:rPr lang="ja-JP" altLang="en-US" sz="2200" b="1" dirty="0">
                <a:solidFill>
                  <a:schemeClr val="bg1"/>
                </a:solidFill>
              </a:rPr>
              <a:t>回収・再生</a:t>
            </a:r>
            <a:endParaRPr lang="ja-JP" sz="2200" dirty="0"/>
          </a:p>
        </p:txBody>
      </p:sp>
      <p:pic>
        <p:nvPicPr>
          <p:cNvPr id="27" name="Image 5" descr="イメージ図（一般的なイラスト。実在企業の設備ではありません）">    </p:cNvPr>
          <p:cNvPicPr>
            <a:picLocks noChangeAspect="1"/>
          </p:cNvPicPr>
          <p:nvPr/>
        </p:nvPicPr>
        <p:blipFill>
          <a:blip r:embed="rId6"/>
          <a:stretch>
            <a:fillRect/>
          </a:stretch>
        </p:blipFill>
        <p:spPr>
          <a:xfrm>
            <a:off x="5760720" y="2560320"/>
            <a:ext cx="5879592" cy="3328416"/>
          </a:xfrm>
          <a:prstGeom prst="rect">
            <a:avLst/>
          </a:prstGeom>
        </p:spPr>
      </p:pic>
      <p:sp>
        <p:nvSpPr>
          <p:cNvPr id="28" name="Shape 19"/>
          <p:cNvSpPr/>
          <p:nvPr/>
        </p:nvSpPr>
        <p:spPr>
          <a:xfrm>
            <a:off x="9902952" y="4297680"/>
            <a:ext cx="1645920" cy="1481328"/>
          </a:xfrm>
          <a:prstGeom prst="roundRect">
            <a:avLst>
              <a:gd name="adj" fmla="val 7407"/>
            </a:avLst>
          </a:prstGeom>
          <a:solidFill>
            <a:schemeClr val="bg1"/>
          </a:solidFill>
          <a:ln/>
          <a:effectLst>
            <a:outerShdw sx="100000" sy="100000" kx="0" ky="0" algn="bl" rotWithShape="0" blurRad="101600" dist="25400" dir="5400000">
              <a:srgbClr val="12243A">
                <a:alpha val="14000"/>
              </a:srgbClr>
            </a:outerShdw>
          </a:effectLst>
        </p:spPr>
      </p:sp>
      <p:pic>
        <p:nvPicPr>
          <p:cNvPr id="29" name="Image 6" descr="イメージ図（一般的なイラスト。実在企業の設備ではありません）">    </p:cNvPr>
          <p:cNvPicPr>
            <a:picLocks noChangeAspect="1"/>
          </p:cNvPicPr>
          <p:nvPr/>
        </p:nvPicPr>
        <p:blipFill>
          <a:blip r:embed="rId7"/>
          <a:stretch>
            <a:fillRect/>
          </a:stretch>
        </p:blipFill>
        <p:spPr>
          <a:xfrm>
            <a:off x="9957816" y="4352544"/>
            <a:ext cx="1536192" cy="1371600"/>
          </a:xfrm>
          <a:prstGeom prst="rect">
            <a:avLst/>
          </a:prstGeom>
        </p:spPr>
      </p:pic>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03｜金属業界の全体像を理解する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金属は社会のどこで使われる？</a:t>
            </a:r>
            <a:endParaRPr lang="en-US" sz="3000" dirty="0"/>
          </a:p>
        </p:txBody>
      </p:sp>
      <p:sp>
        <p:nvSpPr>
          <p:cNvPr id="5" name="Shape 2"/>
          <p:cNvSpPr/>
          <p:nvPr/>
        </p:nvSpPr>
        <p:spPr>
          <a:xfrm>
            <a:off x="548640" y="1691640"/>
            <a:ext cx="2039112" cy="3520440"/>
          </a:xfrm>
          <a:prstGeom prst="roundRect">
            <a:avLst>
              <a:gd name="adj" fmla="val 7175"/>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6" name="Shape 3"/>
          <p:cNvSpPr/>
          <p:nvPr/>
        </p:nvSpPr>
        <p:spPr>
          <a:xfrm>
            <a:off x="658368" y="1801368"/>
            <a:ext cx="1819656" cy="1783080"/>
          </a:xfrm>
          <a:prstGeom prst="roundRect">
            <a:avLst>
              <a:gd name="adj" fmla="val 6154"/>
            </a:avLst>
          </a:prstGeom>
          <a:solidFill>
            <a:schemeClr val="tx2"/>
          </a:solidFill>
          <a:ln/>
        </p:spPr>
      </p:sp>
      <p:pic>
        <p:nvPicPr>
          <p:cNvPr id="7" name="Image 0" descr="TbBuildingBridge2">    </p:cNvPr>
          <p:cNvPicPr>
            <a:picLocks noChangeAspect="1"/>
          </p:cNvPicPr>
          <p:nvPr/>
        </p:nvPicPr>
        <p:blipFill>
          <a:blip r:embed="rId1"/>
          <a:stretch>
            <a:fillRect/>
          </a:stretch>
        </p:blipFill>
        <p:spPr>
          <a:xfrm>
            <a:off x="1014984" y="2130552"/>
            <a:ext cx="1115568" cy="1115568"/>
          </a:xfrm>
          <a:prstGeom prst="rect">
            <a:avLst/>
          </a:prstGeom>
        </p:spPr>
      </p:pic>
      <p:sp>
        <p:nvSpPr>
          <p:cNvPr id="8" name="Text 4"/>
          <p:cNvSpPr txBox="1"/>
          <p:nvPr/>
        </p:nvSpPr>
        <p:spPr>
          <a:xfrm>
            <a:off x="685800" y="3749040"/>
            <a:ext cx="1783080" cy="685800"/>
          </a:xfrm>
          <a:prstGeom prst="rect">
            <a:avLst/>
          </a:prstGeom>
          <a:noFill/>
          <a:ln/>
        </p:spPr>
        <p:txBody>
          <a:bodyPr wrap="square" lIns="0" tIns="0" rIns="0" bIns="0" rtlCol="0" anchor="ctr"/>
          <a:lstStyle/>
          <a:p>
            <a:pPr algn="ctr" indent="0" marL="0">
              <a:buNone/>
            </a:pPr>
            <a:r>
              <a:rPr lang="ja-JP" altLang="en-US" sz="2100" b="1" dirty="0">
                <a:solidFill>
                  <a:schemeClr val="tx2"/>
                </a:solidFill>
              </a:rPr>
              <a:t>建物・橋</a:t>
            </a:r>
            <a:endParaRPr lang="ja-JP" sz="2100" dirty="0"/>
          </a:p>
        </p:txBody>
      </p:sp>
      <p:sp>
        <p:nvSpPr>
          <p:cNvPr id="9" name="Text 5"/>
          <p:cNvSpPr txBox="1"/>
          <p:nvPr/>
        </p:nvSpPr>
        <p:spPr>
          <a:xfrm>
            <a:off x="594360" y="4480560"/>
            <a:ext cx="1947672" cy="502920"/>
          </a:xfrm>
          <a:prstGeom prst="rect">
            <a:avLst/>
          </a:prstGeom>
          <a:noFill/>
          <a:ln/>
        </p:spPr>
        <p:txBody>
          <a:bodyPr wrap="square" lIns="0" tIns="0" rIns="0" bIns="0" rtlCol="0" anchor="ctr"/>
          <a:lstStyle/>
          <a:p>
            <a:pPr algn="ctr" indent="0" marL="0">
              <a:buNone/>
            </a:pPr>
            <a:r>
              <a:rPr lang="ja-JP" altLang="en-US" sz="1700" b="1" dirty="0">
                <a:solidFill>
                  <a:schemeClr val="accent1"/>
                </a:solidFill>
              </a:rPr>
              <a:t>鉄骨、鉄筋</a:t>
            </a:r>
            <a:endParaRPr lang="ja-JP" sz="1700" dirty="0"/>
          </a:p>
        </p:txBody>
      </p:sp>
      <p:sp>
        <p:nvSpPr>
          <p:cNvPr id="10" name="Shape 6"/>
          <p:cNvSpPr/>
          <p:nvPr/>
        </p:nvSpPr>
        <p:spPr>
          <a:xfrm>
            <a:off x="2812694" y="1691640"/>
            <a:ext cx="2039112" cy="3520440"/>
          </a:xfrm>
          <a:prstGeom prst="roundRect">
            <a:avLst>
              <a:gd name="adj" fmla="val 7175"/>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11" name="Shape 7"/>
          <p:cNvSpPr/>
          <p:nvPr/>
        </p:nvSpPr>
        <p:spPr>
          <a:xfrm>
            <a:off x="2922422" y="1801368"/>
            <a:ext cx="1819656" cy="1783080"/>
          </a:xfrm>
          <a:prstGeom prst="roundRect">
            <a:avLst>
              <a:gd name="adj" fmla="val 6154"/>
            </a:avLst>
          </a:prstGeom>
          <a:solidFill>
            <a:schemeClr val="accent1"/>
          </a:solidFill>
          <a:ln/>
        </p:spPr>
      </p:sp>
      <p:pic>
        <p:nvPicPr>
          <p:cNvPr id="12" name="Image 1" descr="TbCar">    </p:cNvPr>
          <p:cNvPicPr>
            <a:picLocks noChangeAspect="1"/>
          </p:cNvPicPr>
          <p:nvPr/>
        </p:nvPicPr>
        <p:blipFill>
          <a:blip r:embed="rId2"/>
          <a:stretch>
            <a:fillRect/>
          </a:stretch>
        </p:blipFill>
        <p:spPr>
          <a:xfrm>
            <a:off x="3279038" y="2130552"/>
            <a:ext cx="1115568" cy="1115568"/>
          </a:xfrm>
          <a:prstGeom prst="rect">
            <a:avLst/>
          </a:prstGeom>
        </p:spPr>
      </p:pic>
      <p:sp>
        <p:nvSpPr>
          <p:cNvPr id="13" name="Text 8"/>
          <p:cNvSpPr txBox="1"/>
          <p:nvPr/>
        </p:nvSpPr>
        <p:spPr>
          <a:xfrm>
            <a:off x="2949854" y="3749040"/>
            <a:ext cx="1783080" cy="685800"/>
          </a:xfrm>
          <a:prstGeom prst="rect">
            <a:avLst/>
          </a:prstGeom>
          <a:noFill/>
          <a:ln/>
        </p:spPr>
        <p:txBody>
          <a:bodyPr wrap="square" lIns="0" tIns="0" rIns="0" bIns="0" rtlCol="0" anchor="ctr"/>
          <a:lstStyle/>
          <a:p>
            <a:pPr algn="ctr" indent="0" marL="0">
              <a:buNone/>
            </a:pPr>
            <a:r>
              <a:rPr lang="ja-JP" altLang="en-US" sz="2100" b="1" dirty="0">
                <a:solidFill>
                  <a:schemeClr val="tx2"/>
                </a:solidFill>
              </a:rPr>
              <a:t>自動車・鉄道</a:t>
            </a:r>
            <a:endParaRPr lang="ja-JP" sz="2100" dirty="0"/>
          </a:p>
        </p:txBody>
      </p:sp>
      <p:sp>
        <p:nvSpPr>
          <p:cNvPr id="14" name="Text 9"/>
          <p:cNvSpPr txBox="1"/>
          <p:nvPr/>
        </p:nvSpPr>
        <p:spPr>
          <a:xfrm>
            <a:off x="2858414" y="4480560"/>
            <a:ext cx="1947672" cy="502920"/>
          </a:xfrm>
          <a:prstGeom prst="rect">
            <a:avLst/>
          </a:prstGeom>
          <a:noFill/>
          <a:ln/>
        </p:spPr>
        <p:txBody>
          <a:bodyPr wrap="square" lIns="0" tIns="0" rIns="0" bIns="0" rtlCol="0" anchor="ctr"/>
          <a:lstStyle/>
          <a:p>
            <a:pPr algn="ctr" indent="0" marL="0">
              <a:buNone/>
            </a:pPr>
            <a:r>
              <a:rPr lang="ja-JP" altLang="en-US" sz="1700" b="1" dirty="0">
                <a:solidFill>
                  <a:schemeClr val="accent1"/>
                </a:solidFill>
              </a:rPr>
              <a:t>鋼板、アルミ</a:t>
            </a:r>
            <a:endParaRPr lang="ja-JP" sz="1700" dirty="0"/>
          </a:p>
        </p:txBody>
      </p:sp>
      <p:sp>
        <p:nvSpPr>
          <p:cNvPr id="15" name="Shape 10"/>
          <p:cNvSpPr/>
          <p:nvPr/>
        </p:nvSpPr>
        <p:spPr>
          <a:xfrm>
            <a:off x="5076749" y="1691640"/>
            <a:ext cx="2039112" cy="3520440"/>
          </a:xfrm>
          <a:prstGeom prst="roundRect">
            <a:avLst>
              <a:gd name="adj" fmla="val 7175"/>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16" name="Shape 11"/>
          <p:cNvSpPr/>
          <p:nvPr/>
        </p:nvSpPr>
        <p:spPr>
          <a:xfrm>
            <a:off x="5186477" y="1801368"/>
            <a:ext cx="1819656" cy="1783080"/>
          </a:xfrm>
          <a:prstGeom prst="roundRect">
            <a:avLst>
              <a:gd name="adj" fmla="val 6154"/>
            </a:avLst>
          </a:prstGeom>
          <a:solidFill>
            <a:schemeClr val="tx2"/>
          </a:solidFill>
          <a:ln/>
        </p:spPr>
      </p:sp>
      <p:pic>
        <p:nvPicPr>
          <p:cNvPr id="17" name="Image 2" descr="TbBolt">    </p:cNvPr>
          <p:cNvPicPr>
            <a:picLocks noChangeAspect="1"/>
          </p:cNvPicPr>
          <p:nvPr/>
        </p:nvPicPr>
        <p:blipFill>
          <a:blip r:embed="rId3"/>
          <a:stretch>
            <a:fillRect/>
          </a:stretch>
        </p:blipFill>
        <p:spPr>
          <a:xfrm>
            <a:off x="5543093" y="2130552"/>
            <a:ext cx="1115568" cy="1115568"/>
          </a:xfrm>
          <a:prstGeom prst="rect">
            <a:avLst/>
          </a:prstGeom>
        </p:spPr>
      </p:pic>
      <p:sp>
        <p:nvSpPr>
          <p:cNvPr id="18" name="Text 12"/>
          <p:cNvSpPr txBox="1"/>
          <p:nvPr/>
        </p:nvSpPr>
        <p:spPr>
          <a:xfrm>
            <a:off x="5213909" y="3749040"/>
            <a:ext cx="1783080" cy="685800"/>
          </a:xfrm>
          <a:prstGeom prst="rect">
            <a:avLst/>
          </a:prstGeom>
          <a:noFill/>
          <a:ln/>
        </p:spPr>
        <p:txBody>
          <a:bodyPr wrap="square" lIns="0" tIns="0" rIns="0" bIns="0" rtlCol="0" anchor="ctr"/>
          <a:lstStyle/>
          <a:p>
            <a:pPr algn="ctr" indent="0" marL="0">
              <a:buNone/>
            </a:pPr>
            <a:r>
              <a:rPr lang="ja-JP" altLang="en-US" sz="2100" b="1" dirty="0">
                <a:solidFill>
                  <a:schemeClr val="tx2"/>
                </a:solidFill>
              </a:rPr>
              <a:t>送電</a:t>
            </a:r>
            <a:endParaRPr lang="ja-JP" sz="2100" dirty="0"/>
          </a:p>
        </p:txBody>
      </p:sp>
      <p:sp>
        <p:nvSpPr>
          <p:cNvPr id="19" name="Text 13"/>
          <p:cNvSpPr txBox="1"/>
          <p:nvPr/>
        </p:nvSpPr>
        <p:spPr>
          <a:xfrm>
            <a:off x="5122469" y="4480560"/>
            <a:ext cx="1947672" cy="502920"/>
          </a:xfrm>
          <a:prstGeom prst="rect">
            <a:avLst/>
          </a:prstGeom>
          <a:noFill/>
          <a:ln/>
        </p:spPr>
        <p:txBody>
          <a:bodyPr wrap="square" lIns="0" tIns="0" rIns="0" bIns="0" rtlCol="0" anchor="ctr"/>
          <a:lstStyle/>
          <a:p>
            <a:pPr algn="ctr" indent="0" marL="0">
              <a:buNone/>
            </a:pPr>
            <a:r>
              <a:rPr lang="ja-JP" altLang="en-US" sz="1700" b="1" dirty="0">
                <a:solidFill>
                  <a:schemeClr val="accent1"/>
                </a:solidFill>
              </a:rPr>
              <a:t>銅、アルミ</a:t>
            </a:r>
            <a:endParaRPr lang="ja-JP" sz="1700" dirty="0"/>
          </a:p>
        </p:txBody>
      </p:sp>
      <p:sp>
        <p:nvSpPr>
          <p:cNvPr id="20" name="Shape 14"/>
          <p:cNvSpPr/>
          <p:nvPr/>
        </p:nvSpPr>
        <p:spPr>
          <a:xfrm>
            <a:off x="7340803" y="1691640"/>
            <a:ext cx="2039112" cy="3520440"/>
          </a:xfrm>
          <a:prstGeom prst="roundRect">
            <a:avLst>
              <a:gd name="adj" fmla="val 7175"/>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21" name="Shape 15"/>
          <p:cNvSpPr/>
          <p:nvPr/>
        </p:nvSpPr>
        <p:spPr>
          <a:xfrm>
            <a:off x="7450531" y="1801368"/>
            <a:ext cx="1819656" cy="1783080"/>
          </a:xfrm>
          <a:prstGeom prst="roundRect">
            <a:avLst>
              <a:gd name="adj" fmla="val 6154"/>
            </a:avLst>
          </a:prstGeom>
          <a:solidFill>
            <a:schemeClr val="accent1"/>
          </a:solidFill>
          <a:ln/>
        </p:spPr>
      </p:sp>
      <p:pic>
        <p:nvPicPr>
          <p:cNvPr id="22" name="Image 3" descr="TbDeviceMobile">    </p:cNvPr>
          <p:cNvPicPr>
            <a:picLocks noChangeAspect="1"/>
          </p:cNvPicPr>
          <p:nvPr/>
        </p:nvPicPr>
        <p:blipFill>
          <a:blip r:embed="rId4"/>
          <a:stretch>
            <a:fillRect/>
          </a:stretch>
        </p:blipFill>
        <p:spPr>
          <a:xfrm>
            <a:off x="7807147" y="2130552"/>
            <a:ext cx="1115568" cy="1115568"/>
          </a:xfrm>
          <a:prstGeom prst="rect">
            <a:avLst/>
          </a:prstGeom>
        </p:spPr>
      </p:pic>
      <p:sp>
        <p:nvSpPr>
          <p:cNvPr id="23" name="Text 16"/>
          <p:cNvSpPr txBox="1"/>
          <p:nvPr/>
        </p:nvSpPr>
        <p:spPr>
          <a:xfrm>
            <a:off x="7477963" y="3749040"/>
            <a:ext cx="1783080" cy="685800"/>
          </a:xfrm>
          <a:prstGeom prst="rect">
            <a:avLst/>
          </a:prstGeom>
          <a:noFill/>
          <a:ln/>
        </p:spPr>
        <p:txBody>
          <a:bodyPr wrap="square" lIns="0" tIns="0" rIns="0" bIns="0" rtlCol="0" anchor="ctr"/>
          <a:lstStyle/>
          <a:p>
            <a:pPr algn="ctr" indent="0" marL="0">
              <a:buNone/>
            </a:pPr>
            <a:r>
              <a:rPr lang="ja-JP" altLang="en-US" sz="2100" b="1" dirty="0">
                <a:solidFill>
                  <a:schemeClr val="tx2"/>
                </a:solidFill>
              </a:rPr>
              <a:t>スマホ・</a:t>
            </a:r>
            <a:endParaRPr lang="ja-JP" sz="2100" dirty="0"/>
          </a:p>
          <a:p>
            <a:pPr algn="ctr" indent="0" marL="0">
              <a:buNone/>
            </a:pPr>
            <a:r>
              <a:rPr lang="ja-JP" altLang="en-US" sz="2100" b="1" dirty="0">
                <a:solidFill>
                  <a:schemeClr val="tx2"/>
                </a:solidFill>
              </a:rPr>
              <a:t>電子機器</a:t>
            </a:r>
            <a:endParaRPr lang="ja-JP" sz="2100" dirty="0"/>
          </a:p>
        </p:txBody>
      </p:sp>
      <p:sp>
        <p:nvSpPr>
          <p:cNvPr id="24" name="Text 17"/>
          <p:cNvSpPr txBox="1"/>
          <p:nvPr/>
        </p:nvSpPr>
        <p:spPr>
          <a:xfrm>
            <a:off x="7386523" y="4480560"/>
            <a:ext cx="1947672" cy="502920"/>
          </a:xfrm>
          <a:prstGeom prst="rect">
            <a:avLst/>
          </a:prstGeom>
          <a:noFill/>
          <a:ln/>
        </p:spPr>
        <p:txBody>
          <a:bodyPr wrap="square" lIns="0" tIns="0" rIns="0" bIns="0" rtlCol="0" anchor="ctr"/>
          <a:lstStyle/>
          <a:p>
            <a:pPr algn="ctr" indent="0" marL="0">
              <a:buNone/>
            </a:pPr>
            <a:r>
              <a:rPr lang="ja-JP" altLang="en-US" sz="1700" b="1" dirty="0">
                <a:solidFill>
                  <a:schemeClr val="accent1"/>
                </a:solidFill>
              </a:rPr>
              <a:t>銅、高純度金属</a:t>
            </a:r>
            <a:endParaRPr lang="ja-JP" sz="1700" dirty="0"/>
          </a:p>
        </p:txBody>
      </p:sp>
      <p:sp>
        <p:nvSpPr>
          <p:cNvPr id="25" name="Shape 18"/>
          <p:cNvSpPr/>
          <p:nvPr/>
        </p:nvSpPr>
        <p:spPr>
          <a:xfrm>
            <a:off x="9604858" y="1691640"/>
            <a:ext cx="2039112" cy="3520440"/>
          </a:xfrm>
          <a:prstGeom prst="roundRect">
            <a:avLst>
              <a:gd name="adj" fmla="val 7175"/>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26" name="Shape 19"/>
          <p:cNvSpPr/>
          <p:nvPr/>
        </p:nvSpPr>
        <p:spPr>
          <a:xfrm>
            <a:off x="9714586" y="1801368"/>
            <a:ext cx="1819656" cy="1783080"/>
          </a:xfrm>
          <a:prstGeom prst="roundRect">
            <a:avLst>
              <a:gd name="adj" fmla="val 6154"/>
            </a:avLst>
          </a:prstGeom>
          <a:solidFill>
            <a:schemeClr val="tx2"/>
          </a:solidFill>
          <a:ln/>
        </p:spPr>
      </p:sp>
      <p:pic>
        <p:nvPicPr>
          <p:cNvPr id="27" name="Image 4" descr="TbPlane">    </p:cNvPr>
          <p:cNvPicPr>
            <a:picLocks noChangeAspect="1"/>
          </p:cNvPicPr>
          <p:nvPr/>
        </p:nvPicPr>
        <p:blipFill>
          <a:blip r:embed="rId5"/>
          <a:stretch>
            <a:fillRect/>
          </a:stretch>
        </p:blipFill>
        <p:spPr>
          <a:xfrm>
            <a:off x="10071202" y="2130552"/>
            <a:ext cx="1115568" cy="1115568"/>
          </a:xfrm>
          <a:prstGeom prst="rect">
            <a:avLst/>
          </a:prstGeom>
        </p:spPr>
      </p:pic>
      <p:sp>
        <p:nvSpPr>
          <p:cNvPr id="28" name="Text 20"/>
          <p:cNvSpPr txBox="1"/>
          <p:nvPr/>
        </p:nvSpPr>
        <p:spPr>
          <a:xfrm>
            <a:off x="9742018" y="3749040"/>
            <a:ext cx="1783080" cy="685800"/>
          </a:xfrm>
          <a:prstGeom prst="rect">
            <a:avLst/>
          </a:prstGeom>
          <a:noFill/>
          <a:ln/>
        </p:spPr>
        <p:txBody>
          <a:bodyPr wrap="square" lIns="0" tIns="0" rIns="0" bIns="0" rtlCol="0" anchor="ctr"/>
          <a:lstStyle/>
          <a:p>
            <a:pPr algn="ctr" indent="0" marL="0">
              <a:buNone/>
            </a:pPr>
            <a:r>
              <a:rPr lang="ja-JP" altLang="en-US" sz="2100" b="1" dirty="0">
                <a:solidFill>
                  <a:schemeClr val="tx2"/>
                </a:solidFill>
              </a:rPr>
              <a:t>医療・航空</a:t>
            </a:r>
            <a:endParaRPr lang="ja-JP" sz="2100" dirty="0"/>
          </a:p>
        </p:txBody>
      </p:sp>
      <p:sp>
        <p:nvSpPr>
          <p:cNvPr id="29" name="Text 21"/>
          <p:cNvSpPr txBox="1"/>
          <p:nvPr/>
        </p:nvSpPr>
        <p:spPr>
          <a:xfrm>
            <a:off x="9650578" y="4480560"/>
            <a:ext cx="1947672" cy="502920"/>
          </a:xfrm>
          <a:prstGeom prst="rect">
            <a:avLst/>
          </a:prstGeom>
          <a:noFill/>
          <a:ln/>
        </p:spPr>
        <p:txBody>
          <a:bodyPr wrap="square" lIns="0" tIns="0" rIns="0" bIns="0" rtlCol="0" anchor="ctr"/>
          <a:lstStyle/>
          <a:p>
            <a:pPr algn="ctr" indent="0" marL="0">
              <a:buNone/>
            </a:pPr>
            <a:r>
              <a:rPr lang="ja-JP" altLang="en-US" sz="1700" b="1" dirty="0">
                <a:solidFill>
                  <a:schemeClr val="accent1"/>
                </a:solidFill>
              </a:rPr>
              <a:t>特殊合金、チタン</a:t>
            </a:r>
            <a:endParaRPr lang="ja-JP" sz="1700" dirty="0"/>
          </a:p>
        </p:txBody>
      </p:sp>
      <p:sp>
        <p:nvSpPr>
          <p:cNvPr id="30" name="Text 22"/>
          <p:cNvSpPr txBox="1"/>
          <p:nvPr/>
        </p:nvSpPr>
        <p:spPr>
          <a:xfrm>
            <a:off x="548640" y="5486400"/>
            <a:ext cx="11091672" cy="457200"/>
          </a:xfrm>
          <a:prstGeom prst="rect">
            <a:avLst/>
          </a:prstGeom>
          <a:noFill/>
          <a:ln/>
        </p:spPr>
        <p:txBody>
          <a:bodyPr wrap="square" lIns="0" tIns="0" rIns="0" bIns="0" rtlCol="0" anchor="ctr"/>
          <a:lstStyle/>
          <a:p>
            <a:pPr algn="ctr" indent="0" marL="0">
              <a:buNone/>
            </a:pPr>
            <a:r>
              <a:rPr lang="ja-JP" altLang="en-US" sz="2200" b="1" dirty="0">
                <a:solidFill>
                  <a:schemeClr val="tx2"/>
                </a:solidFill>
              </a:rPr>
              <a:t>金属が目立つのではなく、完成品の性能を支えている。</a:t>
            </a:r>
            <a:endParaRPr lang="ja-JP" sz="2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03｜金属業界の全体像を理解する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金属の種類によって、得意なことが違う</a:t>
            </a:r>
            <a:endParaRPr lang="en-US" sz="3000" dirty="0"/>
          </a:p>
        </p:txBody>
      </p:sp>
      <p:sp>
        <p:nvSpPr>
          <p:cNvPr id="5" name="Text 2"/>
          <p:cNvSpPr txBox="1"/>
          <p:nvPr/>
        </p:nvSpPr>
        <p:spPr>
          <a:xfrm>
            <a:off x="777240" y="1600200"/>
            <a:ext cx="2286000" cy="320040"/>
          </a:xfrm>
          <a:prstGeom prst="rect">
            <a:avLst/>
          </a:prstGeom>
          <a:noFill/>
          <a:ln/>
        </p:spPr>
        <p:txBody>
          <a:bodyPr wrap="square" lIns="0" tIns="0" rIns="0" bIns="0" rtlCol="0" anchor="t"/>
          <a:lstStyle/>
          <a:p>
            <a:pPr indent="0" marL="0">
              <a:buNone/>
            </a:pPr>
            <a:r>
              <a:rPr lang="ja-JP" altLang="en-US" sz="1600" b="1" dirty="0">
                <a:solidFill>
                  <a:schemeClr val="accent4"/>
                </a:solidFill>
              </a:rPr>
              <a:t>金属</a:t>
            </a:r>
            <a:endParaRPr lang="ja-JP" sz="1600" dirty="0"/>
          </a:p>
        </p:txBody>
      </p:sp>
      <p:sp>
        <p:nvSpPr>
          <p:cNvPr id="6" name="Text 3"/>
          <p:cNvSpPr txBox="1"/>
          <p:nvPr/>
        </p:nvSpPr>
        <p:spPr>
          <a:xfrm>
            <a:off x="3520440" y="1600200"/>
            <a:ext cx="3657600" cy="320040"/>
          </a:xfrm>
          <a:prstGeom prst="rect">
            <a:avLst/>
          </a:prstGeom>
          <a:noFill/>
          <a:ln/>
        </p:spPr>
        <p:txBody>
          <a:bodyPr wrap="square" lIns="0" tIns="0" rIns="0" bIns="0" rtlCol="0" anchor="t"/>
          <a:lstStyle/>
          <a:p>
            <a:pPr indent="0" marL="0">
              <a:buNone/>
            </a:pPr>
            <a:r>
              <a:rPr lang="ja-JP" altLang="en-US" sz="1600" b="1" dirty="0">
                <a:solidFill>
                  <a:schemeClr val="accent4"/>
                </a:solidFill>
              </a:rPr>
              <a:t>得意なこと</a:t>
            </a:r>
            <a:endParaRPr lang="ja-JP" sz="1600" dirty="0"/>
          </a:p>
        </p:txBody>
      </p:sp>
      <p:sp>
        <p:nvSpPr>
          <p:cNvPr id="7" name="Text 4"/>
          <p:cNvSpPr txBox="1"/>
          <p:nvPr/>
        </p:nvSpPr>
        <p:spPr>
          <a:xfrm>
            <a:off x="8001000" y="1600200"/>
            <a:ext cx="3474720" cy="320040"/>
          </a:xfrm>
          <a:prstGeom prst="rect">
            <a:avLst/>
          </a:prstGeom>
          <a:noFill/>
          <a:ln/>
        </p:spPr>
        <p:txBody>
          <a:bodyPr wrap="square" lIns="0" tIns="0" rIns="0" bIns="0" rtlCol="0" anchor="t"/>
          <a:lstStyle/>
          <a:p>
            <a:pPr indent="0" marL="0">
              <a:buNone/>
            </a:pPr>
            <a:r>
              <a:rPr lang="ja-JP" altLang="en-US" sz="1600" b="1" dirty="0">
                <a:solidFill>
                  <a:schemeClr val="accent4"/>
                </a:solidFill>
              </a:rPr>
              <a:t>主な用途</a:t>
            </a:r>
            <a:endParaRPr lang="ja-JP" sz="1600" dirty="0"/>
          </a:p>
        </p:txBody>
      </p:sp>
      <p:sp>
        <p:nvSpPr>
          <p:cNvPr id="8" name="Shape 5"/>
          <p:cNvSpPr/>
          <p:nvPr/>
        </p:nvSpPr>
        <p:spPr>
          <a:xfrm>
            <a:off x="548640" y="1965960"/>
            <a:ext cx="11091672" cy="603504"/>
          </a:xfrm>
          <a:prstGeom prst="roundRect">
            <a:avLst>
              <a:gd name="adj" fmla="val 15152"/>
            </a:avLst>
          </a:prstGeom>
          <a:solidFill>
            <a:schemeClr val="bg2"/>
          </a:solidFill>
          <a:ln/>
        </p:spPr>
      </p:sp>
      <p:pic>
        <p:nvPicPr>
          <p:cNvPr id="9" name="Image 0" descr="鉄鋼の質感イメージ">    </p:cNvPr>
          <p:cNvPicPr>
            <a:picLocks noChangeAspect="1"/>
          </p:cNvPicPr>
          <p:nvPr/>
        </p:nvPicPr>
        <p:blipFill>
          <a:blip r:embed="rId1"/>
          <a:stretch>
            <a:fillRect/>
          </a:stretch>
        </p:blipFill>
        <p:spPr>
          <a:xfrm>
            <a:off x="685800" y="2020824"/>
            <a:ext cx="493776" cy="493776"/>
          </a:xfrm>
          <a:prstGeom prst="rect">
            <a:avLst/>
          </a:prstGeom>
        </p:spPr>
      </p:pic>
      <p:sp>
        <p:nvSpPr>
          <p:cNvPr id="10" name="Text 6"/>
          <p:cNvSpPr txBox="1"/>
          <p:nvPr/>
        </p:nvSpPr>
        <p:spPr>
          <a:xfrm>
            <a:off x="1371600" y="1965960"/>
            <a:ext cx="2011680" cy="603504"/>
          </a:xfrm>
          <a:prstGeom prst="rect">
            <a:avLst/>
          </a:prstGeom>
          <a:noFill/>
          <a:ln/>
        </p:spPr>
        <p:txBody>
          <a:bodyPr wrap="square" lIns="0" tIns="0" rIns="0" bIns="0" rtlCol="0" anchor="ctr"/>
          <a:lstStyle/>
          <a:p>
            <a:pPr indent="0" marL="0">
              <a:buNone/>
            </a:pPr>
            <a:r>
              <a:rPr lang="ja-JP" altLang="en-US" sz="2200" b="1" dirty="0">
                <a:solidFill>
                  <a:schemeClr val="tx2"/>
                </a:solidFill>
              </a:rPr>
              <a:t>鉄鋼</a:t>
            </a:r>
            <a:endParaRPr lang="ja-JP" sz="2200" dirty="0"/>
          </a:p>
        </p:txBody>
      </p:sp>
      <p:sp>
        <p:nvSpPr>
          <p:cNvPr id="11" name="Text 7"/>
          <p:cNvSpPr txBox="1"/>
          <p:nvPr/>
        </p:nvSpPr>
        <p:spPr>
          <a:xfrm>
            <a:off x="3520440" y="1965960"/>
            <a:ext cx="4297680" cy="603504"/>
          </a:xfrm>
          <a:prstGeom prst="rect">
            <a:avLst/>
          </a:prstGeom>
          <a:noFill/>
          <a:ln/>
        </p:spPr>
        <p:txBody>
          <a:bodyPr wrap="square" lIns="0" tIns="0" rIns="0" bIns="0" rtlCol="0" anchor="ctr"/>
          <a:lstStyle/>
          <a:p>
            <a:pPr indent="0" marL="0">
              <a:buNone/>
            </a:pPr>
            <a:r>
              <a:rPr lang="ja-JP" altLang="en-US" sz="2000" b="1" dirty="0">
                <a:solidFill>
                  <a:schemeClr val="accent1"/>
                </a:solidFill>
              </a:rPr>
              <a:t>強度とコストのバランス</a:t>
            </a:r>
            <a:endParaRPr lang="ja-JP" sz="2000" dirty="0"/>
          </a:p>
        </p:txBody>
      </p:sp>
      <p:sp>
        <p:nvSpPr>
          <p:cNvPr id="12" name="Text 8"/>
          <p:cNvSpPr txBox="1"/>
          <p:nvPr/>
        </p:nvSpPr>
        <p:spPr>
          <a:xfrm>
            <a:off x="8001000" y="1965960"/>
            <a:ext cx="3520440" cy="603504"/>
          </a:xfrm>
          <a:prstGeom prst="rect">
            <a:avLst/>
          </a:prstGeom>
          <a:noFill/>
          <a:ln/>
        </p:spPr>
        <p:txBody>
          <a:bodyPr wrap="square" lIns="0" tIns="0" rIns="0" bIns="0" rtlCol="0" anchor="ctr"/>
          <a:lstStyle/>
          <a:p>
            <a:pPr indent="0" marL="0">
              <a:buNone/>
            </a:pPr>
            <a:r>
              <a:rPr lang="ja-JP" altLang="en-US" sz="2000" dirty="0">
                <a:solidFill>
                  <a:schemeClr val="tx1"/>
                </a:solidFill>
              </a:rPr>
              <a:t>橋・車体</a:t>
            </a:r>
            <a:endParaRPr lang="ja-JP" sz="2000" dirty="0"/>
          </a:p>
        </p:txBody>
      </p:sp>
      <p:sp>
        <p:nvSpPr>
          <p:cNvPr id="13" name="Shape 9"/>
          <p:cNvSpPr/>
          <p:nvPr/>
        </p:nvSpPr>
        <p:spPr>
          <a:xfrm>
            <a:off x="548640" y="2660904"/>
            <a:ext cx="11091672" cy="603504"/>
          </a:xfrm>
          <a:prstGeom prst="roundRect">
            <a:avLst>
              <a:gd name="adj" fmla="val 15152"/>
            </a:avLst>
          </a:prstGeom>
          <a:solidFill>
            <a:schemeClr val="bg1"/>
          </a:solidFill>
          <a:ln w="15875">
            <a:solidFill>
              <a:schemeClr val="accent5"/>
            </a:solidFill>
            <a:prstDash val="solid"/>
          </a:ln>
        </p:spPr>
      </p:sp>
      <p:pic>
        <p:nvPicPr>
          <p:cNvPr id="14" name="Image 1" descr="アルミの質感イメージ">    </p:cNvPr>
          <p:cNvPicPr>
            <a:picLocks noChangeAspect="1"/>
          </p:cNvPicPr>
          <p:nvPr/>
        </p:nvPicPr>
        <p:blipFill>
          <a:blip r:embed="rId2"/>
          <a:stretch>
            <a:fillRect/>
          </a:stretch>
        </p:blipFill>
        <p:spPr>
          <a:xfrm>
            <a:off x="685800" y="2715768"/>
            <a:ext cx="493776" cy="493776"/>
          </a:xfrm>
          <a:prstGeom prst="rect">
            <a:avLst/>
          </a:prstGeom>
        </p:spPr>
      </p:pic>
      <p:sp>
        <p:nvSpPr>
          <p:cNvPr id="15" name="Text 10"/>
          <p:cNvSpPr txBox="1"/>
          <p:nvPr/>
        </p:nvSpPr>
        <p:spPr>
          <a:xfrm>
            <a:off x="1371600" y="2660904"/>
            <a:ext cx="2011680" cy="603504"/>
          </a:xfrm>
          <a:prstGeom prst="rect">
            <a:avLst/>
          </a:prstGeom>
          <a:noFill/>
          <a:ln/>
        </p:spPr>
        <p:txBody>
          <a:bodyPr wrap="square" lIns="0" tIns="0" rIns="0" bIns="0" rtlCol="0" anchor="ctr"/>
          <a:lstStyle/>
          <a:p>
            <a:pPr indent="0" marL="0">
              <a:buNone/>
            </a:pPr>
            <a:r>
              <a:rPr lang="ja-JP" altLang="en-US" sz="2200" b="1" dirty="0">
                <a:solidFill>
                  <a:schemeClr val="tx2"/>
                </a:solidFill>
              </a:rPr>
              <a:t>アルミ</a:t>
            </a:r>
            <a:endParaRPr lang="ja-JP" sz="2200" dirty="0"/>
          </a:p>
        </p:txBody>
      </p:sp>
      <p:sp>
        <p:nvSpPr>
          <p:cNvPr id="16" name="Text 11"/>
          <p:cNvSpPr txBox="1"/>
          <p:nvPr/>
        </p:nvSpPr>
        <p:spPr>
          <a:xfrm>
            <a:off x="3520440" y="2660904"/>
            <a:ext cx="4297680" cy="603504"/>
          </a:xfrm>
          <a:prstGeom prst="rect">
            <a:avLst/>
          </a:prstGeom>
          <a:noFill/>
          <a:ln/>
        </p:spPr>
        <p:txBody>
          <a:bodyPr wrap="square" lIns="0" tIns="0" rIns="0" bIns="0" rtlCol="0" anchor="ctr"/>
          <a:lstStyle/>
          <a:p>
            <a:pPr indent="0" marL="0">
              <a:buNone/>
            </a:pPr>
            <a:r>
              <a:rPr lang="ja-JP" altLang="en-US" sz="2000" b="1" dirty="0">
                <a:solidFill>
                  <a:schemeClr val="accent1"/>
                </a:solidFill>
              </a:rPr>
              <a:t>軽い</a:t>
            </a:r>
            <a:endParaRPr lang="ja-JP" sz="2000" dirty="0"/>
          </a:p>
        </p:txBody>
      </p:sp>
      <p:sp>
        <p:nvSpPr>
          <p:cNvPr id="17" name="Text 12"/>
          <p:cNvSpPr txBox="1"/>
          <p:nvPr/>
        </p:nvSpPr>
        <p:spPr>
          <a:xfrm>
            <a:off x="8001000" y="2660904"/>
            <a:ext cx="3520440" cy="603504"/>
          </a:xfrm>
          <a:prstGeom prst="rect">
            <a:avLst/>
          </a:prstGeom>
          <a:noFill/>
          <a:ln/>
        </p:spPr>
        <p:txBody>
          <a:bodyPr wrap="square" lIns="0" tIns="0" rIns="0" bIns="0" rtlCol="0" anchor="ctr"/>
          <a:lstStyle/>
          <a:p>
            <a:pPr indent="0" marL="0">
              <a:buNone/>
            </a:pPr>
            <a:r>
              <a:rPr lang="ja-JP" altLang="en-US" sz="2000" dirty="0">
                <a:solidFill>
                  <a:schemeClr val="tx1"/>
                </a:solidFill>
              </a:rPr>
              <a:t>輸送機器・飲料缶</a:t>
            </a:r>
            <a:endParaRPr lang="ja-JP" sz="2000" dirty="0"/>
          </a:p>
        </p:txBody>
      </p:sp>
      <p:sp>
        <p:nvSpPr>
          <p:cNvPr id="18" name="Shape 13"/>
          <p:cNvSpPr/>
          <p:nvPr/>
        </p:nvSpPr>
        <p:spPr>
          <a:xfrm>
            <a:off x="548640" y="3355848"/>
            <a:ext cx="11091672" cy="603504"/>
          </a:xfrm>
          <a:prstGeom prst="roundRect">
            <a:avLst>
              <a:gd name="adj" fmla="val 15152"/>
            </a:avLst>
          </a:prstGeom>
          <a:solidFill>
            <a:schemeClr val="bg2"/>
          </a:solidFill>
          <a:ln/>
        </p:spPr>
      </p:sp>
      <p:pic>
        <p:nvPicPr>
          <p:cNvPr id="19" name="Image 2" descr="銅の質感イメージ">    </p:cNvPr>
          <p:cNvPicPr>
            <a:picLocks noChangeAspect="1"/>
          </p:cNvPicPr>
          <p:nvPr/>
        </p:nvPicPr>
        <p:blipFill>
          <a:blip r:embed="rId3"/>
          <a:stretch>
            <a:fillRect/>
          </a:stretch>
        </p:blipFill>
        <p:spPr>
          <a:xfrm>
            <a:off x="685800" y="3410712"/>
            <a:ext cx="493776" cy="493776"/>
          </a:xfrm>
          <a:prstGeom prst="rect">
            <a:avLst/>
          </a:prstGeom>
        </p:spPr>
      </p:pic>
      <p:sp>
        <p:nvSpPr>
          <p:cNvPr id="20" name="Text 14"/>
          <p:cNvSpPr txBox="1"/>
          <p:nvPr/>
        </p:nvSpPr>
        <p:spPr>
          <a:xfrm>
            <a:off x="1371600" y="3355848"/>
            <a:ext cx="2011680" cy="603504"/>
          </a:xfrm>
          <a:prstGeom prst="rect">
            <a:avLst/>
          </a:prstGeom>
          <a:noFill/>
          <a:ln/>
        </p:spPr>
        <p:txBody>
          <a:bodyPr wrap="square" lIns="0" tIns="0" rIns="0" bIns="0" rtlCol="0" anchor="ctr"/>
          <a:lstStyle/>
          <a:p>
            <a:pPr indent="0" marL="0">
              <a:buNone/>
            </a:pPr>
            <a:r>
              <a:rPr lang="ja-JP" altLang="en-US" sz="2200" b="1" dirty="0">
                <a:solidFill>
                  <a:schemeClr val="tx2"/>
                </a:solidFill>
              </a:rPr>
              <a:t>銅</a:t>
            </a:r>
            <a:endParaRPr lang="ja-JP" sz="2200" dirty="0"/>
          </a:p>
        </p:txBody>
      </p:sp>
      <p:sp>
        <p:nvSpPr>
          <p:cNvPr id="21" name="Text 15"/>
          <p:cNvSpPr txBox="1"/>
          <p:nvPr/>
        </p:nvSpPr>
        <p:spPr>
          <a:xfrm>
            <a:off x="3520440" y="3355848"/>
            <a:ext cx="4297680" cy="603504"/>
          </a:xfrm>
          <a:prstGeom prst="rect">
            <a:avLst/>
          </a:prstGeom>
          <a:noFill/>
          <a:ln/>
        </p:spPr>
        <p:txBody>
          <a:bodyPr wrap="square" lIns="0" tIns="0" rIns="0" bIns="0" rtlCol="0" anchor="ctr"/>
          <a:lstStyle/>
          <a:p>
            <a:pPr indent="0" marL="0">
              <a:buNone/>
            </a:pPr>
            <a:r>
              <a:rPr lang="ja-JP" altLang="en-US" sz="2000" b="1" dirty="0">
                <a:solidFill>
                  <a:schemeClr val="accent1"/>
                </a:solidFill>
              </a:rPr>
              <a:t>電気を通す</a:t>
            </a:r>
            <a:endParaRPr lang="ja-JP" sz="2000" dirty="0"/>
          </a:p>
        </p:txBody>
      </p:sp>
      <p:sp>
        <p:nvSpPr>
          <p:cNvPr id="22" name="Text 16"/>
          <p:cNvSpPr txBox="1"/>
          <p:nvPr/>
        </p:nvSpPr>
        <p:spPr>
          <a:xfrm>
            <a:off x="8001000" y="3355848"/>
            <a:ext cx="3520440" cy="603504"/>
          </a:xfrm>
          <a:prstGeom prst="rect">
            <a:avLst/>
          </a:prstGeom>
          <a:noFill/>
          <a:ln/>
        </p:spPr>
        <p:txBody>
          <a:bodyPr wrap="square" lIns="0" tIns="0" rIns="0" bIns="0" rtlCol="0" anchor="ctr"/>
          <a:lstStyle/>
          <a:p>
            <a:pPr indent="0" marL="0">
              <a:buNone/>
            </a:pPr>
            <a:r>
              <a:rPr lang="ja-JP" altLang="en-US" sz="2000" dirty="0">
                <a:solidFill>
                  <a:schemeClr val="tx1"/>
                </a:solidFill>
              </a:rPr>
              <a:t>送電線・電子機器</a:t>
            </a:r>
            <a:endParaRPr lang="ja-JP" sz="2000" dirty="0"/>
          </a:p>
        </p:txBody>
      </p:sp>
      <p:sp>
        <p:nvSpPr>
          <p:cNvPr id="23" name="Shape 17"/>
          <p:cNvSpPr/>
          <p:nvPr/>
        </p:nvSpPr>
        <p:spPr>
          <a:xfrm>
            <a:off x="548640" y="4050792"/>
            <a:ext cx="11091672" cy="603504"/>
          </a:xfrm>
          <a:prstGeom prst="roundRect">
            <a:avLst>
              <a:gd name="adj" fmla="val 15152"/>
            </a:avLst>
          </a:prstGeom>
          <a:solidFill>
            <a:schemeClr val="bg1"/>
          </a:solidFill>
          <a:ln w="15875">
            <a:solidFill>
              <a:schemeClr val="accent5"/>
            </a:solidFill>
            <a:prstDash val="solid"/>
          </a:ln>
        </p:spPr>
      </p:sp>
      <p:pic>
        <p:nvPicPr>
          <p:cNvPr id="24" name="Image 3" descr="ニッケルの質感イメージ">    </p:cNvPr>
          <p:cNvPicPr>
            <a:picLocks noChangeAspect="1"/>
          </p:cNvPicPr>
          <p:nvPr/>
        </p:nvPicPr>
        <p:blipFill>
          <a:blip r:embed="rId4"/>
          <a:stretch>
            <a:fillRect/>
          </a:stretch>
        </p:blipFill>
        <p:spPr>
          <a:xfrm>
            <a:off x="685800" y="4105656"/>
            <a:ext cx="493776" cy="493776"/>
          </a:xfrm>
          <a:prstGeom prst="rect">
            <a:avLst/>
          </a:prstGeom>
        </p:spPr>
      </p:pic>
      <p:sp>
        <p:nvSpPr>
          <p:cNvPr id="25" name="Text 18"/>
          <p:cNvSpPr txBox="1"/>
          <p:nvPr/>
        </p:nvSpPr>
        <p:spPr>
          <a:xfrm>
            <a:off x="1371600" y="4050792"/>
            <a:ext cx="2011680" cy="603504"/>
          </a:xfrm>
          <a:prstGeom prst="rect">
            <a:avLst/>
          </a:prstGeom>
          <a:noFill/>
          <a:ln/>
        </p:spPr>
        <p:txBody>
          <a:bodyPr wrap="square" lIns="0" tIns="0" rIns="0" bIns="0" rtlCol="0" anchor="ctr"/>
          <a:lstStyle/>
          <a:p>
            <a:pPr indent="0" marL="0">
              <a:buNone/>
            </a:pPr>
            <a:r>
              <a:rPr lang="ja-JP" altLang="en-US" sz="2200" b="1" dirty="0">
                <a:solidFill>
                  <a:schemeClr val="tx2"/>
                </a:solidFill>
              </a:rPr>
              <a:t>ニッケル</a:t>
            </a:r>
            <a:endParaRPr lang="ja-JP" sz="2200" dirty="0"/>
          </a:p>
        </p:txBody>
      </p:sp>
      <p:sp>
        <p:nvSpPr>
          <p:cNvPr id="26" name="Text 19"/>
          <p:cNvSpPr txBox="1"/>
          <p:nvPr/>
        </p:nvSpPr>
        <p:spPr>
          <a:xfrm>
            <a:off x="3520440" y="4050792"/>
            <a:ext cx="4297680" cy="603504"/>
          </a:xfrm>
          <a:prstGeom prst="rect">
            <a:avLst/>
          </a:prstGeom>
          <a:noFill/>
          <a:ln/>
        </p:spPr>
        <p:txBody>
          <a:bodyPr wrap="square" lIns="0" tIns="0" rIns="0" bIns="0" rtlCol="0" anchor="ctr"/>
          <a:lstStyle/>
          <a:p>
            <a:pPr indent="0" marL="0">
              <a:buNone/>
            </a:pPr>
            <a:r>
              <a:rPr lang="ja-JP" altLang="en-US" sz="2000" b="1" dirty="0">
                <a:solidFill>
                  <a:schemeClr val="accent1"/>
                </a:solidFill>
              </a:rPr>
              <a:t>合金の耐食性など</a:t>
            </a:r>
            <a:endParaRPr lang="ja-JP" sz="2000" dirty="0"/>
          </a:p>
        </p:txBody>
      </p:sp>
      <p:sp>
        <p:nvSpPr>
          <p:cNvPr id="27" name="Text 20"/>
          <p:cNvSpPr txBox="1"/>
          <p:nvPr/>
        </p:nvSpPr>
        <p:spPr>
          <a:xfrm>
            <a:off x="8001000" y="4050792"/>
            <a:ext cx="3520440" cy="603504"/>
          </a:xfrm>
          <a:prstGeom prst="rect">
            <a:avLst/>
          </a:prstGeom>
          <a:noFill/>
          <a:ln/>
        </p:spPr>
        <p:txBody>
          <a:bodyPr wrap="square" lIns="0" tIns="0" rIns="0" bIns="0" rtlCol="0" anchor="ctr"/>
          <a:lstStyle/>
          <a:p>
            <a:pPr indent="0" marL="0">
              <a:buNone/>
            </a:pPr>
            <a:r>
              <a:rPr lang="ja-JP" altLang="en-US" sz="2000" dirty="0">
                <a:solidFill>
                  <a:schemeClr val="tx1"/>
                </a:solidFill>
              </a:rPr>
              <a:t>ステンレス・電池材料</a:t>
            </a:r>
            <a:endParaRPr lang="ja-JP" sz="2000" dirty="0"/>
          </a:p>
        </p:txBody>
      </p:sp>
      <p:sp>
        <p:nvSpPr>
          <p:cNvPr id="28" name="Shape 21"/>
          <p:cNvSpPr/>
          <p:nvPr/>
        </p:nvSpPr>
        <p:spPr>
          <a:xfrm>
            <a:off x="548640" y="4745736"/>
            <a:ext cx="11091672" cy="603504"/>
          </a:xfrm>
          <a:prstGeom prst="roundRect">
            <a:avLst>
              <a:gd name="adj" fmla="val 15152"/>
            </a:avLst>
          </a:prstGeom>
          <a:solidFill>
            <a:schemeClr val="bg2"/>
          </a:solidFill>
          <a:ln/>
        </p:spPr>
      </p:sp>
      <p:pic>
        <p:nvPicPr>
          <p:cNvPr id="29" name="Image 4" descr="チタンの質感イメージ">    </p:cNvPr>
          <p:cNvPicPr>
            <a:picLocks noChangeAspect="1"/>
          </p:cNvPicPr>
          <p:nvPr/>
        </p:nvPicPr>
        <p:blipFill>
          <a:blip r:embed="rId5"/>
          <a:stretch>
            <a:fillRect/>
          </a:stretch>
        </p:blipFill>
        <p:spPr>
          <a:xfrm>
            <a:off x="685800" y="4800600"/>
            <a:ext cx="493776" cy="493776"/>
          </a:xfrm>
          <a:prstGeom prst="rect">
            <a:avLst/>
          </a:prstGeom>
        </p:spPr>
      </p:pic>
      <p:sp>
        <p:nvSpPr>
          <p:cNvPr id="30" name="Text 22"/>
          <p:cNvSpPr txBox="1"/>
          <p:nvPr/>
        </p:nvSpPr>
        <p:spPr>
          <a:xfrm>
            <a:off x="1371600" y="4745736"/>
            <a:ext cx="2011680" cy="603504"/>
          </a:xfrm>
          <a:prstGeom prst="rect">
            <a:avLst/>
          </a:prstGeom>
          <a:noFill/>
          <a:ln/>
        </p:spPr>
        <p:txBody>
          <a:bodyPr wrap="square" lIns="0" tIns="0" rIns="0" bIns="0" rtlCol="0" anchor="ctr"/>
          <a:lstStyle/>
          <a:p>
            <a:pPr indent="0" marL="0">
              <a:buNone/>
            </a:pPr>
            <a:r>
              <a:rPr lang="ja-JP" altLang="en-US" sz="2200" b="1" dirty="0">
                <a:solidFill>
                  <a:schemeClr val="tx2"/>
                </a:solidFill>
              </a:rPr>
              <a:t>チタン</a:t>
            </a:r>
            <a:endParaRPr lang="ja-JP" sz="2200" dirty="0"/>
          </a:p>
        </p:txBody>
      </p:sp>
      <p:sp>
        <p:nvSpPr>
          <p:cNvPr id="31" name="Text 23"/>
          <p:cNvSpPr txBox="1"/>
          <p:nvPr/>
        </p:nvSpPr>
        <p:spPr>
          <a:xfrm>
            <a:off x="3520440" y="4745736"/>
            <a:ext cx="4297680" cy="603504"/>
          </a:xfrm>
          <a:prstGeom prst="rect">
            <a:avLst/>
          </a:prstGeom>
          <a:noFill/>
          <a:ln/>
        </p:spPr>
        <p:txBody>
          <a:bodyPr wrap="square" lIns="0" tIns="0" rIns="0" bIns="0" rtlCol="0" anchor="ctr"/>
          <a:lstStyle/>
          <a:p>
            <a:pPr indent="0" marL="0">
              <a:buNone/>
            </a:pPr>
            <a:r>
              <a:rPr lang="ja-JP" altLang="en-US" sz="2000" b="1" dirty="0">
                <a:solidFill>
                  <a:schemeClr val="accent1"/>
                </a:solidFill>
              </a:rPr>
              <a:t>軽さに対する強度・耐食性</a:t>
            </a:r>
            <a:endParaRPr lang="ja-JP" sz="2000" dirty="0"/>
          </a:p>
        </p:txBody>
      </p:sp>
      <p:sp>
        <p:nvSpPr>
          <p:cNvPr id="32" name="Text 24"/>
          <p:cNvSpPr txBox="1"/>
          <p:nvPr/>
        </p:nvSpPr>
        <p:spPr>
          <a:xfrm>
            <a:off x="8001000" y="4745736"/>
            <a:ext cx="3520440" cy="603504"/>
          </a:xfrm>
          <a:prstGeom prst="rect">
            <a:avLst/>
          </a:prstGeom>
          <a:noFill/>
          <a:ln/>
        </p:spPr>
        <p:txBody>
          <a:bodyPr wrap="square" lIns="0" tIns="0" rIns="0" bIns="0" rtlCol="0" anchor="ctr"/>
          <a:lstStyle/>
          <a:p>
            <a:pPr indent="0" marL="0">
              <a:buNone/>
            </a:pPr>
            <a:r>
              <a:rPr lang="ja-JP" altLang="en-US" sz="2000" dirty="0">
                <a:solidFill>
                  <a:schemeClr val="tx1"/>
                </a:solidFill>
              </a:rPr>
              <a:t>航空・医療</a:t>
            </a:r>
            <a:endParaRPr lang="ja-JP" sz="2000" dirty="0"/>
          </a:p>
        </p:txBody>
      </p:sp>
      <p:sp>
        <p:nvSpPr>
          <p:cNvPr id="33" name="Text 25"/>
          <p:cNvSpPr txBox="1"/>
          <p:nvPr/>
        </p:nvSpPr>
        <p:spPr>
          <a:xfrm>
            <a:off x="548640" y="5532120"/>
            <a:ext cx="11091672" cy="457200"/>
          </a:xfrm>
          <a:prstGeom prst="rect">
            <a:avLst/>
          </a:prstGeom>
          <a:noFill/>
          <a:ln/>
        </p:spPr>
        <p:txBody>
          <a:bodyPr wrap="square" lIns="0" tIns="0" rIns="0" bIns="0" rtlCol="0" anchor="ctr"/>
          <a:lstStyle/>
          <a:p>
            <a:pPr indent="0" marL="0">
              <a:buNone/>
            </a:pPr>
            <a:r>
              <a:rPr lang="ja-JP" altLang="en-US" sz="2200" b="1" dirty="0">
                <a:solidFill>
                  <a:schemeClr val="tx2"/>
                </a:solidFill>
              </a:rPr>
              <a:t>単純な優劣ではなく、必要な機能とコストの兼ね合いで使い分ける。</a:t>
            </a:r>
            <a:endParaRPr lang="ja-JP" sz="2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03｜金属業界の全体像を理解する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高炉と電炉：鉄の作り方は違う</a:t>
            </a:r>
            <a:endParaRPr lang="en-US" sz="3000" dirty="0"/>
          </a:p>
        </p:txBody>
      </p:sp>
      <p:sp>
        <p:nvSpPr>
          <p:cNvPr id="5" name="Text 2"/>
          <p:cNvSpPr txBox="1"/>
          <p:nvPr/>
        </p:nvSpPr>
        <p:spPr>
          <a:xfrm>
            <a:off x="548640" y="1600200"/>
            <a:ext cx="5413248" cy="502920"/>
          </a:xfrm>
          <a:prstGeom prst="roundRect">
            <a:avLst>
              <a:gd name="adj" fmla="val 50000"/>
            </a:avLst>
          </a:prstGeom>
          <a:solidFill>
            <a:schemeClr val="tx2"/>
          </a:solidFill>
          <a:ln/>
        </p:spPr>
        <p:txBody>
          <a:bodyPr wrap="square" lIns="0" tIns="0" rIns="0" bIns="0" rtlCol="0" anchor="ctr"/>
          <a:lstStyle/>
          <a:p>
            <a:pPr algn="ctr" indent="0" marL="0">
              <a:buNone/>
            </a:pPr>
            <a:r>
              <a:rPr lang="ja-JP" altLang="en-US" sz="2200" b="1" dirty="0">
                <a:solidFill>
                  <a:schemeClr val="bg1"/>
                </a:solidFill>
              </a:rPr>
              <a:t>高炉・転炉</a:t>
            </a:r>
            <a:endParaRPr lang="ja-JP" sz="2200" dirty="0"/>
          </a:p>
        </p:txBody>
      </p:sp>
      <p:sp>
        <p:nvSpPr>
          <p:cNvPr id="6" name="Shape 3"/>
          <p:cNvSpPr/>
          <p:nvPr/>
        </p:nvSpPr>
        <p:spPr>
          <a:xfrm>
            <a:off x="548640" y="2514600"/>
            <a:ext cx="1828800" cy="713232"/>
          </a:xfrm>
          <a:prstGeom prst="roundRect">
            <a:avLst>
              <a:gd name="adj" fmla="val 12821"/>
            </a:avLst>
          </a:prstGeom>
          <a:solidFill>
            <a:schemeClr val="bg2"/>
          </a:solidFill>
          <a:ln/>
        </p:spPr>
      </p:sp>
      <p:pic>
        <p:nvPicPr>
          <p:cNvPr id="7" name="Image 0" descr="TbMountain">    </p:cNvPr>
          <p:cNvPicPr>
            <a:picLocks noChangeAspect="1"/>
          </p:cNvPicPr>
          <p:nvPr/>
        </p:nvPicPr>
        <p:blipFill>
          <a:blip r:embed="rId1"/>
          <a:stretch>
            <a:fillRect/>
          </a:stretch>
        </p:blipFill>
        <p:spPr>
          <a:xfrm>
            <a:off x="640080" y="2697480"/>
            <a:ext cx="347472" cy="347472"/>
          </a:xfrm>
          <a:prstGeom prst="rect">
            <a:avLst/>
          </a:prstGeom>
        </p:spPr>
      </p:pic>
      <p:sp>
        <p:nvSpPr>
          <p:cNvPr id="8" name="Text 4"/>
          <p:cNvSpPr txBox="1"/>
          <p:nvPr/>
        </p:nvSpPr>
        <p:spPr>
          <a:xfrm>
            <a:off x="1033272" y="2514600"/>
            <a:ext cx="1325880" cy="713232"/>
          </a:xfrm>
          <a:prstGeom prst="rect">
            <a:avLst/>
          </a:prstGeom>
          <a:noFill/>
          <a:ln/>
        </p:spPr>
        <p:txBody>
          <a:bodyPr wrap="square" lIns="0" tIns="0" rIns="0" bIns="0" rtlCol="0" anchor="ctr"/>
          <a:lstStyle/>
          <a:p>
            <a:pPr indent="0" marL="0">
              <a:buNone/>
            </a:pPr>
            <a:r>
              <a:rPr lang="ja-JP" altLang="en-US" sz="1500" b="1" dirty="0">
                <a:solidFill>
                  <a:schemeClr val="tx2"/>
                </a:solidFill>
              </a:rPr>
              <a:t>鉄鉱石</a:t>
            </a:r>
            <a:endParaRPr lang="ja-JP" sz="1500" dirty="0"/>
          </a:p>
        </p:txBody>
      </p:sp>
      <p:sp>
        <p:nvSpPr>
          <p:cNvPr id="9" name="Shape 5"/>
          <p:cNvSpPr/>
          <p:nvPr/>
        </p:nvSpPr>
        <p:spPr>
          <a:xfrm>
            <a:off x="548640" y="3383280"/>
            <a:ext cx="1828800" cy="713232"/>
          </a:xfrm>
          <a:prstGeom prst="roundRect">
            <a:avLst>
              <a:gd name="adj" fmla="val 12821"/>
            </a:avLst>
          </a:prstGeom>
          <a:solidFill>
            <a:schemeClr val="bg2"/>
          </a:solidFill>
          <a:ln/>
        </p:spPr>
      </p:sp>
      <p:pic>
        <p:nvPicPr>
          <p:cNvPr id="10" name="Image 1" descr="TbFlame">    </p:cNvPr>
          <p:cNvPicPr>
            <a:picLocks noChangeAspect="1"/>
          </p:cNvPicPr>
          <p:nvPr/>
        </p:nvPicPr>
        <p:blipFill>
          <a:blip r:embed="rId2"/>
          <a:stretch>
            <a:fillRect/>
          </a:stretch>
        </p:blipFill>
        <p:spPr>
          <a:xfrm>
            <a:off x="640080" y="3566160"/>
            <a:ext cx="347472" cy="347472"/>
          </a:xfrm>
          <a:prstGeom prst="rect">
            <a:avLst/>
          </a:prstGeom>
        </p:spPr>
      </p:pic>
      <p:sp>
        <p:nvSpPr>
          <p:cNvPr id="11" name="Text 6"/>
          <p:cNvSpPr txBox="1"/>
          <p:nvPr/>
        </p:nvSpPr>
        <p:spPr>
          <a:xfrm>
            <a:off x="1033272" y="3383280"/>
            <a:ext cx="1325880" cy="713232"/>
          </a:xfrm>
          <a:prstGeom prst="rect">
            <a:avLst/>
          </a:prstGeom>
          <a:noFill/>
          <a:ln/>
        </p:spPr>
        <p:txBody>
          <a:bodyPr wrap="square" lIns="0" tIns="0" rIns="0" bIns="0" rtlCol="0" anchor="ctr"/>
          <a:lstStyle/>
          <a:p>
            <a:pPr indent="0" marL="0">
              <a:buNone/>
            </a:pPr>
            <a:r>
              <a:rPr lang="ja-JP" altLang="en-US" sz="1500" b="1" dirty="0">
                <a:solidFill>
                  <a:schemeClr val="tx2"/>
                </a:solidFill>
              </a:rPr>
              <a:t>コークスなど</a:t>
            </a:r>
            <a:endParaRPr lang="ja-JP" sz="1500" dirty="0"/>
          </a:p>
        </p:txBody>
      </p:sp>
      <p:sp>
        <p:nvSpPr>
          <p:cNvPr id="12" name="Shape 7"/>
          <p:cNvSpPr/>
          <p:nvPr/>
        </p:nvSpPr>
        <p:spPr>
          <a:xfrm>
            <a:off x="2432304" y="3127248"/>
            <a:ext cx="310896" cy="347472"/>
          </a:xfrm>
          <a:prstGeom prst="rightArrow">
            <a:avLst/>
          </a:prstGeom>
          <a:solidFill>
            <a:schemeClr val="accent2"/>
          </a:solidFill>
          <a:ln/>
        </p:spPr>
      </p:sp>
      <p:pic>
        <p:nvPicPr>
          <p:cNvPr id="13" name="Image 2" descr="高炉・転炉の模式図（イメージ）">    </p:cNvPr>
          <p:cNvPicPr>
            <a:picLocks noChangeAspect="1"/>
          </p:cNvPicPr>
          <p:nvPr/>
        </p:nvPicPr>
        <p:blipFill>
          <a:blip r:embed="rId3"/>
          <a:stretch>
            <a:fillRect/>
          </a:stretch>
        </p:blipFill>
        <p:spPr>
          <a:xfrm>
            <a:off x="2788920" y="2286000"/>
            <a:ext cx="1371600" cy="1828800"/>
          </a:xfrm>
          <a:prstGeom prst="rect">
            <a:avLst/>
          </a:prstGeom>
        </p:spPr>
      </p:pic>
      <p:sp>
        <p:nvSpPr>
          <p:cNvPr id="14" name="Shape 8"/>
          <p:cNvSpPr/>
          <p:nvPr/>
        </p:nvSpPr>
        <p:spPr>
          <a:xfrm>
            <a:off x="4233672" y="3127248"/>
            <a:ext cx="310896" cy="347472"/>
          </a:xfrm>
          <a:prstGeom prst="rightArrow">
            <a:avLst/>
          </a:prstGeom>
          <a:solidFill>
            <a:schemeClr val="accent2"/>
          </a:solidFill>
          <a:ln/>
        </p:spPr>
      </p:sp>
      <p:sp>
        <p:nvSpPr>
          <p:cNvPr id="15" name="Text 9"/>
          <p:cNvSpPr txBox="1"/>
          <p:nvPr/>
        </p:nvSpPr>
        <p:spPr>
          <a:xfrm>
            <a:off x="4590288" y="2377440"/>
            <a:ext cx="1371600" cy="685800"/>
          </a:xfrm>
          <a:prstGeom prst="rect">
            <a:avLst/>
          </a:prstGeom>
          <a:noFill/>
          <a:ln/>
        </p:spPr>
        <p:txBody>
          <a:bodyPr wrap="square" lIns="0" tIns="0" rIns="0" bIns="0" rtlCol="0" anchor="b"/>
          <a:lstStyle/>
          <a:p>
            <a:pPr algn="ctr" indent="0" marL="0">
              <a:buNone/>
            </a:pPr>
            <a:r>
              <a:rPr lang="ja-JP" altLang="en-US" sz="1700" b="1" dirty="0">
                <a:solidFill>
                  <a:schemeClr val="accent1"/>
                </a:solidFill>
              </a:rPr>
              <a:t>還元・精錬</a:t>
            </a:r>
            <a:endParaRPr lang="ja-JP" sz="1700" dirty="0"/>
          </a:p>
        </p:txBody>
      </p:sp>
      <p:sp>
        <p:nvSpPr>
          <p:cNvPr id="16" name="Text 10"/>
          <p:cNvSpPr txBox="1"/>
          <p:nvPr/>
        </p:nvSpPr>
        <p:spPr>
          <a:xfrm>
            <a:off x="4636008" y="3108960"/>
            <a:ext cx="1280160" cy="594360"/>
          </a:xfrm>
          <a:prstGeom prst="roundRect">
            <a:avLst>
              <a:gd name="adj" fmla="val 18462"/>
            </a:avLst>
          </a:prstGeom>
          <a:solidFill>
            <a:schemeClr val="tx2"/>
          </a:solidFill>
          <a:ln/>
        </p:spPr>
        <p:txBody>
          <a:bodyPr wrap="square" lIns="0" tIns="0" rIns="0" bIns="0" rtlCol="0" anchor="ctr"/>
          <a:lstStyle/>
          <a:p>
            <a:pPr algn="ctr" indent="0" marL="0">
              <a:buNone/>
            </a:pPr>
            <a:r>
              <a:rPr lang="ja-JP" altLang="en-US" sz="2200" b="1" dirty="0">
                <a:solidFill>
                  <a:schemeClr val="bg1"/>
                </a:solidFill>
              </a:rPr>
              <a:t>鋼材</a:t>
            </a:r>
            <a:endParaRPr lang="ja-JP" sz="2200" dirty="0"/>
          </a:p>
        </p:txBody>
      </p:sp>
      <p:sp>
        <p:nvSpPr>
          <p:cNvPr id="17" name="Text 11"/>
          <p:cNvSpPr txBox="1"/>
          <p:nvPr/>
        </p:nvSpPr>
        <p:spPr>
          <a:xfrm>
            <a:off x="548640" y="4315968"/>
            <a:ext cx="5413248" cy="457200"/>
          </a:xfrm>
          <a:prstGeom prst="rect">
            <a:avLst/>
          </a:prstGeom>
          <a:noFill/>
          <a:ln/>
        </p:spPr>
        <p:txBody>
          <a:bodyPr wrap="square" lIns="0" tIns="0" rIns="0" bIns="0" rtlCol="0" anchor="ctr"/>
          <a:lstStyle/>
          <a:p>
            <a:pPr algn="ctr" indent="0" marL="0">
              <a:buNone/>
            </a:pPr>
            <a:r>
              <a:rPr lang="ja-JP" altLang="en-US" sz="1700" dirty="0">
                <a:solidFill>
                  <a:schemeClr val="tx1"/>
                </a:solidFill>
              </a:rPr>
              <a:t>鉄鉱石＋コークスなど → 還元・精錬 → 鋼材</a:t>
            </a:r>
            <a:endParaRPr lang="ja-JP" sz="1700" dirty="0"/>
          </a:p>
        </p:txBody>
      </p:sp>
      <p:sp>
        <p:nvSpPr>
          <p:cNvPr id="18" name="Text 12"/>
          <p:cNvSpPr txBox="1"/>
          <p:nvPr/>
        </p:nvSpPr>
        <p:spPr>
          <a:xfrm>
            <a:off x="6227064" y="1600200"/>
            <a:ext cx="5413248" cy="502920"/>
          </a:xfrm>
          <a:prstGeom prst="roundRect">
            <a:avLst>
              <a:gd name="adj" fmla="val 50000"/>
            </a:avLst>
          </a:prstGeom>
          <a:solidFill>
            <a:schemeClr val="accent1"/>
          </a:solidFill>
          <a:ln/>
        </p:spPr>
        <p:txBody>
          <a:bodyPr wrap="square" lIns="0" tIns="0" rIns="0" bIns="0" rtlCol="0" anchor="ctr"/>
          <a:lstStyle/>
          <a:p>
            <a:pPr algn="ctr" indent="0" marL="0">
              <a:buNone/>
            </a:pPr>
            <a:r>
              <a:rPr lang="ja-JP" altLang="en-US" sz="2200" b="1" dirty="0">
                <a:solidFill>
                  <a:schemeClr val="bg1"/>
                </a:solidFill>
              </a:rPr>
              <a:t>電炉</a:t>
            </a:r>
            <a:endParaRPr lang="ja-JP" sz="2200" dirty="0"/>
          </a:p>
        </p:txBody>
      </p:sp>
      <p:sp>
        <p:nvSpPr>
          <p:cNvPr id="19" name="Shape 13"/>
          <p:cNvSpPr/>
          <p:nvPr/>
        </p:nvSpPr>
        <p:spPr>
          <a:xfrm>
            <a:off x="6227064" y="2514600"/>
            <a:ext cx="1828800" cy="713232"/>
          </a:xfrm>
          <a:prstGeom prst="roundRect">
            <a:avLst>
              <a:gd name="adj" fmla="val 12821"/>
            </a:avLst>
          </a:prstGeom>
          <a:solidFill>
            <a:schemeClr val="bg2"/>
          </a:solidFill>
          <a:ln/>
        </p:spPr>
      </p:sp>
      <p:pic>
        <p:nvPicPr>
          <p:cNvPr id="20" name="Image 3" descr="TbRecycle">    </p:cNvPr>
          <p:cNvPicPr>
            <a:picLocks noChangeAspect="1"/>
          </p:cNvPicPr>
          <p:nvPr/>
        </p:nvPicPr>
        <p:blipFill>
          <a:blip r:embed="rId4"/>
          <a:stretch>
            <a:fillRect/>
          </a:stretch>
        </p:blipFill>
        <p:spPr>
          <a:xfrm>
            <a:off x="6318504" y="2697480"/>
            <a:ext cx="347472" cy="347472"/>
          </a:xfrm>
          <a:prstGeom prst="rect">
            <a:avLst/>
          </a:prstGeom>
        </p:spPr>
      </p:pic>
      <p:sp>
        <p:nvSpPr>
          <p:cNvPr id="21" name="Text 14"/>
          <p:cNvSpPr txBox="1"/>
          <p:nvPr/>
        </p:nvSpPr>
        <p:spPr>
          <a:xfrm>
            <a:off x="6711696" y="2514600"/>
            <a:ext cx="1325880" cy="713232"/>
          </a:xfrm>
          <a:prstGeom prst="rect">
            <a:avLst/>
          </a:prstGeom>
          <a:noFill/>
          <a:ln/>
        </p:spPr>
        <p:txBody>
          <a:bodyPr wrap="square" lIns="0" tIns="0" rIns="0" bIns="0" rtlCol="0" anchor="ctr"/>
          <a:lstStyle/>
          <a:p>
            <a:pPr indent="0" marL="0">
              <a:buNone/>
            </a:pPr>
            <a:r>
              <a:rPr lang="ja-JP" altLang="en-US" sz="1500" b="1" dirty="0">
                <a:solidFill>
                  <a:schemeClr val="tx2"/>
                </a:solidFill>
              </a:rPr>
              <a:t>鉄スクラップ</a:t>
            </a:r>
            <a:endParaRPr lang="ja-JP" sz="1500" dirty="0"/>
          </a:p>
        </p:txBody>
      </p:sp>
      <p:sp>
        <p:nvSpPr>
          <p:cNvPr id="22" name="Shape 15"/>
          <p:cNvSpPr/>
          <p:nvPr/>
        </p:nvSpPr>
        <p:spPr>
          <a:xfrm>
            <a:off x="6227064" y="3383280"/>
            <a:ext cx="1828800" cy="713232"/>
          </a:xfrm>
          <a:prstGeom prst="roundRect">
            <a:avLst>
              <a:gd name="adj" fmla="val 12821"/>
            </a:avLst>
          </a:prstGeom>
          <a:solidFill>
            <a:schemeClr val="bg2"/>
          </a:solidFill>
          <a:ln/>
        </p:spPr>
      </p:sp>
      <p:pic>
        <p:nvPicPr>
          <p:cNvPr id="23" name="Image 4" descr="TbBolt">    </p:cNvPr>
          <p:cNvPicPr>
            <a:picLocks noChangeAspect="1"/>
          </p:cNvPicPr>
          <p:nvPr/>
        </p:nvPicPr>
        <p:blipFill>
          <a:blip r:embed="rId5"/>
          <a:stretch>
            <a:fillRect/>
          </a:stretch>
        </p:blipFill>
        <p:spPr>
          <a:xfrm>
            <a:off x="6318504" y="3566160"/>
            <a:ext cx="347472" cy="347472"/>
          </a:xfrm>
          <a:prstGeom prst="rect">
            <a:avLst/>
          </a:prstGeom>
        </p:spPr>
      </p:pic>
      <p:sp>
        <p:nvSpPr>
          <p:cNvPr id="24" name="Text 16"/>
          <p:cNvSpPr txBox="1"/>
          <p:nvPr/>
        </p:nvSpPr>
        <p:spPr>
          <a:xfrm>
            <a:off x="6711696" y="3383280"/>
            <a:ext cx="1325880" cy="713232"/>
          </a:xfrm>
          <a:prstGeom prst="rect">
            <a:avLst/>
          </a:prstGeom>
          <a:noFill/>
          <a:ln/>
        </p:spPr>
        <p:txBody>
          <a:bodyPr wrap="square" lIns="0" tIns="0" rIns="0" bIns="0" rtlCol="0" anchor="ctr"/>
          <a:lstStyle/>
          <a:p>
            <a:pPr indent="0" marL="0">
              <a:buNone/>
            </a:pPr>
            <a:r>
              <a:rPr lang="ja-JP" altLang="en-US" sz="1500" b="1" dirty="0">
                <a:solidFill>
                  <a:schemeClr val="tx2"/>
                </a:solidFill>
              </a:rPr>
              <a:t>電力</a:t>
            </a:r>
            <a:endParaRPr lang="ja-JP" sz="1500" dirty="0"/>
          </a:p>
        </p:txBody>
      </p:sp>
      <p:sp>
        <p:nvSpPr>
          <p:cNvPr id="25" name="Shape 17"/>
          <p:cNvSpPr/>
          <p:nvPr/>
        </p:nvSpPr>
        <p:spPr>
          <a:xfrm>
            <a:off x="8110728" y="3127248"/>
            <a:ext cx="310896" cy="347472"/>
          </a:xfrm>
          <a:prstGeom prst="rightArrow">
            <a:avLst/>
          </a:prstGeom>
          <a:solidFill>
            <a:schemeClr val="accent2"/>
          </a:solidFill>
          <a:ln/>
        </p:spPr>
      </p:sp>
      <p:pic>
        <p:nvPicPr>
          <p:cNvPr id="26" name="Image 5" descr="電炉の模式図（イメージ）">    </p:cNvPr>
          <p:cNvPicPr>
            <a:picLocks noChangeAspect="1"/>
          </p:cNvPicPr>
          <p:nvPr/>
        </p:nvPicPr>
        <p:blipFill>
          <a:blip r:embed="rId6"/>
          <a:stretch>
            <a:fillRect/>
          </a:stretch>
        </p:blipFill>
        <p:spPr>
          <a:xfrm>
            <a:off x="8467344" y="2286000"/>
            <a:ext cx="1371600" cy="1828800"/>
          </a:xfrm>
          <a:prstGeom prst="rect">
            <a:avLst/>
          </a:prstGeom>
        </p:spPr>
      </p:pic>
      <p:sp>
        <p:nvSpPr>
          <p:cNvPr id="27" name="Shape 18"/>
          <p:cNvSpPr/>
          <p:nvPr/>
        </p:nvSpPr>
        <p:spPr>
          <a:xfrm>
            <a:off x="9912096" y="3127248"/>
            <a:ext cx="310896" cy="347472"/>
          </a:xfrm>
          <a:prstGeom prst="rightArrow">
            <a:avLst/>
          </a:prstGeom>
          <a:solidFill>
            <a:schemeClr val="accent2"/>
          </a:solidFill>
          <a:ln/>
        </p:spPr>
      </p:sp>
      <p:sp>
        <p:nvSpPr>
          <p:cNvPr id="28" name="Text 19"/>
          <p:cNvSpPr txBox="1"/>
          <p:nvPr/>
        </p:nvSpPr>
        <p:spPr>
          <a:xfrm>
            <a:off x="10268712" y="2377440"/>
            <a:ext cx="1371600" cy="685800"/>
          </a:xfrm>
          <a:prstGeom prst="rect">
            <a:avLst/>
          </a:prstGeom>
          <a:noFill/>
          <a:ln/>
        </p:spPr>
        <p:txBody>
          <a:bodyPr wrap="square" lIns="0" tIns="0" rIns="0" bIns="0" rtlCol="0" anchor="b"/>
          <a:lstStyle/>
          <a:p>
            <a:pPr algn="ctr" indent="0" marL="0">
              <a:buNone/>
            </a:pPr>
            <a:r>
              <a:rPr lang="ja-JP" altLang="en-US" sz="1700" b="1" dirty="0">
                <a:solidFill>
                  <a:schemeClr val="accent1"/>
                </a:solidFill>
              </a:rPr>
              <a:t>溶解・</a:t>
            </a:r>
            <a:endParaRPr lang="ja-JP" sz="1700" dirty="0"/>
          </a:p>
          <a:p>
            <a:pPr algn="ctr" indent="0" marL="0">
              <a:buNone/>
            </a:pPr>
            <a:r>
              <a:rPr lang="ja-JP" altLang="en-US" sz="1700" b="1" dirty="0">
                <a:solidFill>
                  <a:schemeClr val="accent1"/>
                </a:solidFill>
              </a:rPr>
              <a:t>成分調整</a:t>
            </a:r>
            <a:endParaRPr lang="ja-JP" sz="1700" dirty="0"/>
          </a:p>
        </p:txBody>
      </p:sp>
      <p:sp>
        <p:nvSpPr>
          <p:cNvPr id="29" name="Text 20"/>
          <p:cNvSpPr txBox="1"/>
          <p:nvPr/>
        </p:nvSpPr>
        <p:spPr>
          <a:xfrm>
            <a:off x="10314432" y="3108960"/>
            <a:ext cx="1280160" cy="594360"/>
          </a:xfrm>
          <a:prstGeom prst="roundRect">
            <a:avLst>
              <a:gd name="adj" fmla="val 18462"/>
            </a:avLst>
          </a:prstGeom>
          <a:solidFill>
            <a:schemeClr val="tx2"/>
          </a:solidFill>
          <a:ln/>
        </p:spPr>
        <p:txBody>
          <a:bodyPr wrap="square" lIns="0" tIns="0" rIns="0" bIns="0" rtlCol="0" anchor="ctr"/>
          <a:lstStyle/>
          <a:p>
            <a:pPr algn="ctr" indent="0" marL="0">
              <a:buNone/>
            </a:pPr>
            <a:r>
              <a:rPr lang="ja-JP" altLang="en-US" sz="2200" b="1" dirty="0">
                <a:solidFill>
                  <a:schemeClr val="bg1"/>
                </a:solidFill>
              </a:rPr>
              <a:t>鋼材</a:t>
            </a:r>
            <a:endParaRPr lang="ja-JP" sz="2200" dirty="0"/>
          </a:p>
        </p:txBody>
      </p:sp>
      <p:sp>
        <p:nvSpPr>
          <p:cNvPr id="30" name="Text 21"/>
          <p:cNvSpPr txBox="1"/>
          <p:nvPr/>
        </p:nvSpPr>
        <p:spPr>
          <a:xfrm>
            <a:off x="6227064" y="4315968"/>
            <a:ext cx="5413248" cy="457200"/>
          </a:xfrm>
          <a:prstGeom prst="rect">
            <a:avLst/>
          </a:prstGeom>
          <a:noFill/>
          <a:ln/>
        </p:spPr>
        <p:txBody>
          <a:bodyPr wrap="square" lIns="0" tIns="0" rIns="0" bIns="0" rtlCol="0" anchor="ctr"/>
          <a:lstStyle/>
          <a:p>
            <a:pPr algn="ctr" indent="0" marL="0">
              <a:buNone/>
            </a:pPr>
            <a:r>
              <a:rPr lang="ja-JP" altLang="en-US" sz="1700" dirty="0">
                <a:solidFill>
                  <a:schemeClr val="tx1"/>
                </a:solidFill>
              </a:rPr>
              <a:t>鉄スクラップ＋電力 → 溶解・成分調整 → 鋼材</a:t>
            </a:r>
            <a:endParaRPr lang="ja-JP" sz="1700" dirty="0"/>
          </a:p>
        </p:txBody>
      </p:sp>
      <p:sp>
        <p:nvSpPr>
          <p:cNvPr id="31" name="Shape 22"/>
          <p:cNvSpPr/>
          <p:nvPr/>
        </p:nvSpPr>
        <p:spPr>
          <a:xfrm>
            <a:off x="6099048" y="2286000"/>
            <a:ext cx="914" cy="2377440"/>
          </a:xfrm>
          <a:prstGeom prst="line">
            <a:avLst/>
          </a:prstGeom>
          <a:noFill/>
          <a:ln w="19050">
            <a:solidFill>
              <a:schemeClr val="accent5"/>
            </a:solidFill>
            <a:prstDash val="dash"/>
          </a:ln>
        </p:spPr>
      </p:sp>
      <p:sp>
        <p:nvSpPr>
          <p:cNvPr id="32" name="Shape 23"/>
          <p:cNvSpPr/>
          <p:nvPr/>
        </p:nvSpPr>
        <p:spPr>
          <a:xfrm>
            <a:off x="548640" y="4983480"/>
            <a:ext cx="5413248" cy="868680"/>
          </a:xfrm>
          <a:prstGeom prst="roundRect">
            <a:avLst>
              <a:gd name="adj" fmla="val 12632"/>
            </a:avLst>
          </a:prstGeom>
          <a:solidFill>
            <a:schemeClr val="bg2"/>
          </a:solidFill>
          <a:ln/>
        </p:spPr>
      </p:sp>
      <p:sp>
        <p:nvSpPr>
          <p:cNvPr id="33" name="Text 24"/>
          <p:cNvSpPr txBox="1"/>
          <p:nvPr/>
        </p:nvSpPr>
        <p:spPr>
          <a:xfrm>
            <a:off x="731520" y="5184648"/>
            <a:ext cx="868680" cy="457200"/>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非鉄</a:t>
            </a:r>
            <a:endParaRPr lang="ja-JP" sz="1600" dirty="0"/>
          </a:p>
        </p:txBody>
      </p:sp>
      <p:sp>
        <p:nvSpPr>
          <p:cNvPr id="34" name="Text 25"/>
          <p:cNvSpPr txBox="1"/>
          <p:nvPr/>
        </p:nvSpPr>
        <p:spPr>
          <a:xfrm>
            <a:off x="1783080" y="4983480"/>
            <a:ext cx="4069080" cy="868680"/>
          </a:xfrm>
          <a:prstGeom prst="rect">
            <a:avLst/>
          </a:prstGeom>
          <a:noFill/>
          <a:ln/>
        </p:spPr>
        <p:txBody>
          <a:bodyPr wrap="square" lIns="0" tIns="0" rIns="0" bIns="0" rtlCol="0" anchor="ctr"/>
          <a:lstStyle/>
          <a:p>
            <a:pPr indent="0" marL="0">
              <a:buNone/>
            </a:pPr>
            <a:r>
              <a:rPr lang="ja-JP" altLang="en-US" sz="2000" b="1" dirty="0">
                <a:solidFill>
                  <a:schemeClr val="tx2"/>
                </a:solidFill>
              </a:rPr>
              <a:t>銅・アルミは別の製錬プロセス</a:t>
            </a:r>
            <a:endParaRPr lang="ja-JP" sz="2000" dirty="0"/>
          </a:p>
        </p:txBody>
      </p:sp>
      <p:sp>
        <p:nvSpPr>
          <p:cNvPr id="35" name="Shape 26"/>
          <p:cNvSpPr/>
          <p:nvPr/>
        </p:nvSpPr>
        <p:spPr>
          <a:xfrm>
            <a:off x="6227064" y="4983480"/>
            <a:ext cx="5413248" cy="868680"/>
          </a:xfrm>
          <a:prstGeom prst="roundRect">
            <a:avLst>
              <a:gd name="adj" fmla="val 12632"/>
            </a:avLst>
          </a:prstGeom>
          <a:solidFill>
            <a:schemeClr val="tx2"/>
          </a:solidFill>
          <a:ln/>
        </p:spPr>
      </p:sp>
      <p:sp>
        <p:nvSpPr>
          <p:cNvPr id="36" name="Text 27"/>
          <p:cNvSpPr txBox="1"/>
          <p:nvPr/>
        </p:nvSpPr>
        <p:spPr>
          <a:xfrm>
            <a:off x="6446520" y="4983480"/>
            <a:ext cx="5029200" cy="868680"/>
          </a:xfrm>
          <a:prstGeom prst="rect">
            <a:avLst/>
          </a:prstGeom>
          <a:noFill/>
          <a:ln/>
        </p:spPr>
        <p:txBody>
          <a:bodyPr wrap="square" lIns="0" tIns="0" rIns="0" bIns="0" rtlCol="0" anchor="ctr"/>
          <a:lstStyle/>
          <a:p>
            <a:pPr indent="0" marL="0">
              <a:buNone/>
            </a:pPr>
            <a:r>
              <a:rPr lang="ja-JP" altLang="en-US" sz="1900" b="1" dirty="0">
                <a:solidFill>
                  <a:schemeClr val="bg1"/>
                </a:solidFill>
              </a:rPr>
              <a:t>原料・エネルギー・設備が違うと、</a:t>
            </a:r>
            <a:endParaRPr lang="ja-JP" sz="1900" dirty="0"/>
          </a:p>
          <a:p>
            <a:pPr indent="0" marL="0">
              <a:buNone/>
            </a:pPr>
            <a:r>
              <a:rPr lang="ja-JP" altLang="en-US" sz="1900" b="1" dirty="0">
                <a:solidFill>
                  <a:schemeClr val="bg1"/>
                </a:solidFill>
              </a:rPr>
              <a:t>利益の動き方も変わる。</a:t>
            </a:r>
            <a:endParaRPr lang="ja-JP" sz="19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03｜金属業界の全体像を理解する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金属が社会に届くまでのサプライチェーン</a:t>
            </a:r>
            <a:endParaRPr lang="en-US" sz="3000" dirty="0"/>
          </a:p>
        </p:txBody>
      </p:sp>
      <p:sp>
        <p:nvSpPr>
          <p:cNvPr id="5" name="Shape 2"/>
          <p:cNvSpPr/>
          <p:nvPr/>
        </p:nvSpPr>
        <p:spPr>
          <a:xfrm flipV="1">
            <a:off x="10808208" y="1874520"/>
            <a:ext cx="914" cy="457200"/>
          </a:xfrm>
          <a:prstGeom prst="line">
            <a:avLst/>
          </a:prstGeom>
          <a:noFill/>
          <a:ln w="38100">
            <a:solidFill>
              <a:schemeClr val="accent1"/>
            </a:solidFill>
            <a:prstDash val="solid"/>
          </a:ln>
        </p:spPr>
      </p:sp>
      <p:sp>
        <p:nvSpPr>
          <p:cNvPr id="6" name="Shape 3"/>
          <p:cNvSpPr/>
          <p:nvPr/>
        </p:nvSpPr>
        <p:spPr>
          <a:xfrm flipH="1">
            <a:off x="3730752" y="1874520"/>
            <a:ext cx="7077456" cy="914"/>
          </a:xfrm>
          <a:prstGeom prst="line">
            <a:avLst/>
          </a:prstGeom>
          <a:noFill/>
          <a:ln w="38100">
            <a:solidFill>
              <a:schemeClr val="accent1"/>
            </a:solidFill>
            <a:prstDash val="solid"/>
          </a:ln>
        </p:spPr>
      </p:sp>
      <p:sp>
        <p:nvSpPr>
          <p:cNvPr id="7" name="Shape 4"/>
          <p:cNvSpPr/>
          <p:nvPr/>
        </p:nvSpPr>
        <p:spPr>
          <a:xfrm>
            <a:off x="3730752" y="1874520"/>
            <a:ext cx="914" cy="411480"/>
          </a:xfrm>
          <a:prstGeom prst="line">
            <a:avLst/>
          </a:prstGeom>
          <a:noFill/>
          <a:ln w="38100">
            <a:solidFill>
              <a:schemeClr val="accent1"/>
            </a:solidFill>
            <a:prstDash val="solid"/>
            <a:tailEnd type="triangle"/>
          </a:ln>
        </p:spPr>
      </p:sp>
      <p:sp>
        <p:nvSpPr>
          <p:cNvPr id="8" name="Shape 5"/>
          <p:cNvSpPr/>
          <p:nvPr/>
        </p:nvSpPr>
        <p:spPr>
          <a:xfrm>
            <a:off x="4343400" y="1645920"/>
            <a:ext cx="5532120" cy="457200"/>
          </a:xfrm>
          <a:prstGeom prst="roundRect">
            <a:avLst>
              <a:gd name="adj" fmla="val 50000"/>
            </a:avLst>
          </a:prstGeom>
          <a:solidFill>
            <a:schemeClr val="bg1"/>
          </a:solidFill>
          <a:ln w="19050">
            <a:solidFill>
              <a:schemeClr val="accent1"/>
            </a:solidFill>
            <a:prstDash val="solid"/>
          </a:ln>
        </p:spPr>
      </p:sp>
      <p:pic>
        <p:nvPicPr>
          <p:cNvPr id="9" name="Image 0" descr="TbRecycle">    </p:cNvPr>
          <p:cNvPicPr>
            <a:picLocks noChangeAspect="1"/>
          </p:cNvPicPr>
          <p:nvPr/>
        </p:nvPicPr>
        <p:blipFill>
          <a:blip r:embed="rId1"/>
          <a:stretch>
            <a:fillRect/>
          </a:stretch>
        </p:blipFill>
        <p:spPr>
          <a:xfrm>
            <a:off x="4498848" y="1700784"/>
            <a:ext cx="347472" cy="347472"/>
          </a:xfrm>
          <a:prstGeom prst="rect">
            <a:avLst/>
          </a:prstGeom>
        </p:spPr>
      </p:pic>
      <p:sp>
        <p:nvSpPr>
          <p:cNvPr id="10" name="Text 6"/>
          <p:cNvSpPr txBox="1"/>
          <p:nvPr/>
        </p:nvSpPr>
        <p:spPr>
          <a:xfrm>
            <a:off x="4919472" y="1645920"/>
            <a:ext cx="4892040" cy="457200"/>
          </a:xfrm>
          <a:prstGeom prst="rect">
            <a:avLst/>
          </a:prstGeom>
          <a:noFill/>
          <a:ln/>
        </p:spPr>
        <p:txBody>
          <a:bodyPr wrap="square" lIns="0" tIns="0" rIns="0" bIns="0" rtlCol="0" anchor="ctr"/>
          <a:lstStyle/>
          <a:p>
            <a:pPr indent="0" marL="0">
              <a:buNone/>
            </a:pPr>
            <a:r>
              <a:rPr lang="ja-JP" altLang="en-US" sz="1700" b="1" dirty="0">
                <a:solidFill>
                  <a:schemeClr val="accent1"/>
                </a:solidFill>
              </a:rPr>
              <a:t>使い終わった金属は回収され、再び原料になる。</a:t>
            </a:r>
            <a:endParaRPr lang="ja-JP" sz="1700" dirty="0"/>
          </a:p>
        </p:txBody>
      </p:sp>
      <p:sp>
        <p:nvSpPr>
          <p:cNvPr id="11" name="Shape 7"/>
          <p:cNvSpPr/>
          <p:nvPr/>
        </p:nvSpPr>
        <p:spPr>
          <a:xfrm>
            <a:off x="868680" y="2331720"/>
            <a:ext cx="1005840" cy="1005840"/>
          </a:xfrm>
          <a:prstGeom prst="ellipse">
            <a:avLst/>
          </a:prstGeom>
          <a:solidFill>
            <a:schemeClr val="tx2"/>
          </a:solidFill>
          <a:ln/>
        </p:spPr>
      </p:sp>
      <p:pic>
        <p:nvPicPr>
          <p:cNvPr id="12" name="Image 1" descr="TbPick">    </p:cNvPr>
          <p:cNvPicPr>
            <a:picLocks noChangeAspect="1"/>
          </p:cNvPicPr>
          <p:nvPr/>
        </p:nvPicPr>
        <p:blipFill>
          <a:blip r:embed="rId2"/>
          <a:stretch>
            <a:fillRect/>
          </a:stretch>
        </p:blipFill>
        <p:spPr>
          <a:xfrm>
            <a:off x="1089965" y="2553005"/>
            <a:ext cx="563270" cy="563270"/>
          </a:xfrm>
          <a:prstGeom prst="rect">
            <a:avLst/>
          </a:prstGeom>
        </p:spPr>
      </p:pic>
      <p:sp>
        <p:nvSpPr>
          <p:cNvPr id="13" name="Text 8"/>
          <p:cNvSpPr txBox="1"/>
          <p:nvPr/>
        </p:nvSpPr>
        <p:spPr>
          <a:xfrm>
            <a:off x="320040" y="3401568"/>
            <a:ext cx="2103120" cy="411480"/>
          </a:xfrm>
          <a:prstGeom prst="rect">
            <a:avLst/>
          </a:prstGeom>
          <a:noFill/>
          <a:ln/>
        </p:spPr>
        <p:txBody>
          <a:bodyPr wrap="square" lIns="0" tIns="0" rIns="0" bIns="0" rtlCol="0" anchor="t"/>
          <a:lstStyle/>
          <a:p>
            <a:pPr algn="ctr" indent="0" marL="0">
              <a:buNone/>
            </a:pPr>
            <a:r>
              <a:rPr lang="ja-JP" altLang="en-US" sz="1900" b="1" dirty="0">
                <a:solidFill>
                  <a:schemeClr val="tx2"/>
                </a:solidFill>
              </a:rPr>
              <a:t>資源開発</a:t>
            </a:r>
            <a:endParaRPr lang="ja-JP" sz="1900" dirty="0"/>
          </a:p>
        </p:txBody>
      </p:sp>
      <p:sp>
        <p:nvSpPr>
          <p:cNvPr id="14" name="Shape 9"/>
          <p:cNvSpPr/>
          <p:nvPr/>
        </p:nvSpPr>
        <p:spPr>
          <a:xfrm>
            <a:off x="2029968" y="2670048"/>
            <a:ext cx="1024128" cy="329184"/>
          </a:xfrm>
          <a:prstGeom prst="rightArrow">
            <a:avLst/>
          </a:prstGeom>
          <a:solidFill>
            <a:schemeClr val="accent5"/>
          </a:solidFill>
          <a:ln/>
        </p:spPr>
      </p:sp>
      <p:sp>
        <p:nvSpPr>
          <p:cNvPr id="15" name="Shape 10"/>
          <p:cNvSpPr/>
          <p:nvPr/>
        </p:nvSpPr>
        <p:spPr>
          <a:xfrm>
            <a:off x="3227832" y="2331720"/>
            <a:ext cx="1005840" cy="1005840"/>
          </a:xfrm>
          <a:prstGeom prst="ellipse">
            <a:avLst/>
          </a:prstGeom>
          <a:solidFill>
            <a:srgbClr val="1C3A57"/>
          </a:solidFill>
          <a:ln/>
        </p:spPr>
      </p:sp>
      <p:pic>
        <p:nvPicPr>
          <p:cNvPr id="16" name="Image 2" descr="TbFlame">    </p:cNvPr>
          <p:cNvPicPr>
            <a:picLocks noChangeAspect="1"/>
          </p:cNvPicPr>
          <p:nvPr/>
        </p:nvPicPr>
        <p:blipFill>
          <a:blip r:embed="rId3"/>
          <a:stretch>
            <a:fillRect/>
          </a:stretch>
        </p:blipFill>
        <p:spPr>
          <a:xfrm>
            <a:off x="3449117" y="2553005"/>
            <a:ext cx="563270" cy="563270"/>
          </a:xfrm>
          <a:prstGeom prst="rect">
            <a:avLst/>
          </a:prstGeom>
        </p:spPr>
      </p:pic>
      <p:sp>
        <p:nvSpPr>
          <p:cNvPr id="17" name="Text 11"/>
          <p:cNvSpPr txBox="1"/>
          <p:nvPr/>
        </p:nvSpPr>
        <p:spPr>
          <a:xfrm>
            <a:off x="2679192" y="3401568"/>
            <a:ext cx="2103120" cy="411480"/>
          </a:xfrm>
          <a:prstGeom prst="rect">
            <a:avLst/>
          </a:prstGeom>
          <a:noFill/>
          <a:ln/>
        </p:spPr>
        <p:txBody>
          <a:bodyPr wrap="square" lIns="0" tIns="0" rIns="0" bIns="0" rtlCol="0" anchor="t"/>
          <a:lstStyle/>
          <a:p>
            <a:pPr algn="ctr" indent="0" marL="0">
              <a:buNone/>
            </a:pPr>
            <a:r>
              <a:rPr lang="ja-JP" altLang="en-US" sz="1900" b="1" dirty="0">
                <a:solidFill>
                  <a:schemeClr val="tx2"/>
                </a:solidFill>
              </a:rPr>
              <a:t>製鉄・製錬</a:t>
            </a:r>
            <a:endParaRPr lang="ja-JP" sz="1900" dirty="0"/>
          </a:p>
        </p:txBody>
      </p:sp>
      <p:sp>
        <p:nvSpPr>
          <p:cNvPr id="18" name="Shape 12"/>
          <p:cNvSpPr/>
          <p:nvPr/>
        </p:nvSpPr>
        <p:spPr>
          <a:xfrm>
            <a:off x="4389120" y="2670048"/>
            <a:ext cx="1024128" cy="329184"/>
          </a:xfrm>
          <a:prstGeom prst="rightArrow">
            <a:avLst/>
          </a:prstGeom>
          <a:solidFill>
            <a:schemeClr val="accent5"/>
          </a:solidFill>
          <a:ln/>
        </p:spPr>
      </p:sp>
      <p:sp>
        <p:nvSpPr>
          <p:cNvPr id="19" name="Shape 13"/>
          <p:cNvSpPr/>
          <p:nvPr/>
        </p:nvSpPr>
        <p:spPr>
          <a:xfrm>
            <a:off x="5586984" y="2331720"/>
            <a:ext cx="1005840" cy="1005840"/>
          </a:xfrm>
          <a:prstGeom prst="ellipse">
            <a:avLst/>
          </a:prstGeom>
          <a:solidFill>
            <a:srgbClr val="1C3A57"/>
          </a:solidFill>
          <a:ln/>
        </p:spPr>
      </p:sp>
      <p:pic>
        <p:nvPicPr>
          <p:cNvPr id="20" name="Image 3" descr="TbTool">    </p:cNvPr>
          <p:cNvPicPr>
            <a:picLocks noChangeAspect="1"/>
          </p:cNvPicPr>
          <p:nvPr/>
        </p:nvPicPr>
        <p:blipFill>
          <a:blip r:embed="rId4"/>
          <a:stretch>
            <a:fillRect/>
          </a:stretch>
        </p:blipFill>
        <p:spPr>
          <a:xfrm>
            <a:off x="5808269" y="2553005"/>
            <a:ext cx="563270" cy="563270"/>
          </a:xfrm>
          <a:prstGeom prst="rect">
            <a:avLst/>
          </a:prstGeom>
        </p:spPr>
      </p:pic>
      <p:sp>
        <p:nvSpPr>
          <p:cNvPr id="21" name="Text 14"/>
          <p:cNvSpPr txBox="1"/>
          <p:nvPr/>
        </p:nvSpPr>
        <p:spPr>
          <a:xfrm>
            <a:off x="5038344" y="3401568"/>
            <a:ext cx="2103120" cy="411480"/>
          </a:xfrm>
          <a:prstGeom prst="rect">
            <a:avLst/>
          </a:prstGeom>
          <a:noFill/>
          <a:ln/>
        </p:spPr>
        <p:txBody>
          <a:bodyPr wrap="square" lIns="0" tIns="0" rIns="0" bIns="0" rtlCol="0" anchor="t"/>
          <a:lstStyle/>
          <a:p>
            <a:pPr algn="ctr" indent="0" marL="0">
              <a:buNone/>
            </a:pPr>
            <a:r>
              <a:rPr lang="ja-JP" altLang="en-US" sz="1900" b="1" dirty="0">
                <a:solidFill>
                  <a:schemeClr val="tx2"/>
                </a:solidFill>
              </a:rPr>
              <a:t>材料製造・加工</a:t>
            </a:r>
            <a:endParaRPr lang="ja-JP" sz="1900" dirty="0"/>
          </a:p>
        </p:txBody>
      </p:sp>
      <p:sp>
        <p:nvSpPr>
          <p:cNvPr id="22" name="Shape 15"/>
          <p:cNvSpPr/>
          <p:nvPr/>
        </p:nvSpPr>
        <p:spPr>
          <a:xfrm>
            <a:off x="6748272" y="2670048"/>
            <a:ext cx="1024128" cy="329184"/>
          </a:xfrm>
          <a:prstGeom prst="rightArrow">
            <a:avLst/>
          </a:prstGeom>
          <a:solidFill>
            <a:schemeClr val="accent5"/>
          </a:solidFill>
          <a:ln/>
        </p:spPr>
      </p:sp>
      <p:sp>
        <p:nvSpPr>
          <p:cNvPr id="23" name="Shape 16"/>
          <p:cNvSpPr/>
          <p:nvPr/>
        </p:nvSpPr>
        <p:spPr>
          <a:xfrm>
            <a:off x="7946136" y="2331720"/>
            <a:ext cx="1005840" cy="1005840"/>
          </a:xfrm>
          <a:prstGeom prst="ellipse">
            <a:avLst/>
          </a:prstGeom>
          <a:solidFill>
            <a:srgbClr val="1C3A57"/>
          </a:solidFill>
          <a:ln/>
        </p:spPr>
      </p:sp>
      <p:pic>
        <p:nvPicPr>
          <p:cNvPr id="24" name="Image 4" descr="TbTruck">    </p:cNvPr>
          <p:cNvPicPr>
            <a:picLocks noChangeAspect="1"/>
          </p:cNvPicPr>
          <p:nvPr/>
        </p:nvPicPr>
        <p:blipFill>
          <a:blip r:embed="rId5"/>
          <a:stretch>
            <a:fillRect/>
          </a:stretch>
        </p:blipFill>
        <p:spPr>
          <a:xfrm>
            <a:off x="8167421" y="2553005"/>
            <a:ext cx="563270" cy="563270"/>
          </a:xfrm>
          <a:prstGeom prst="rect">
            <a:avLst/>
          </a:prstGeom>
        </p:spPr>
      </p:pic>
      <p:sp>
        <p:nvSpPr>
          <p:cNvPr id="25" name="Text 17"/>
          <p:cNvSpPr txBox="1"/>
          <p:nvPr/>
        </p:nvSpPr>
        <p:spPr>
          <a:xfrm>
            <a:off x="7397496" y="3401568"/>
            <a:ext cx="2103120" cy="411480"/>
          </a:xfrm>
          <a:prstGeom prst="rect">
            <a:avLst/>
          </a:prstGeom>
          <a:noFill/>
          <a:ln/>
        </p:spPr>
        <p:txBody>
          <a:bodyPr wrap="square" lIns="0" tIns="0" rIns="0" bIns="0" rtlCol="0" anchor="t"/>
          <a:lstStyle/>
          <a:p>
            <a:pPr algn="ctr" indent="0" marL="0">
              <a:buNone/>
            </a:pPr>
            <a:r>
              <a:rPr lang="ja-JP" altLang="en-US" sz="1900" b="1" dirty="0">
                <a:solidFill>
                  <a:schemeClr val="tx2"/>
                </a:solidFill>
              </a:rPr>
              <a:t>流通</a:t>
            </a:r>
            <a:endParaRPr lang="ja-JP" sz="1900" dirty="0"/>
          </a:p>
        </p:txBody>
      </p:sp>
      <p:sp>
        <p:nvSpPr>
          <p:cNvPr id="26" name="Shape 18"/>
          <p:cNvSpPr/>
          <p:nvPr/>
        </p:nvSpPr>
        <p:spPr>
          <a:xfrm>
            <a:off x="9107424" y="2670048"/>
            <a:ext cx="1024128" cy="329184"/>
          </a:xfrm>
          <a:prstGeom prst="rightArrow">
            <a:avLst/>
          </a:prstGeom>
          <a:solidFill>
            <a:schemeClr val="accent5"/>
          </a:solidFill>
          <a:ln/>
        </p:spPr>
      </p:sp>
      <p:sp>
        <p:nvSpPr>
          <p:cNvPr id="27" name="Shape 19"/>
          <p:cNvSpPr/>
          <p:nvPr/>
        </p:nvSpPr>
        <p:spPr>
          <a:xfrm>
            <a:off x="10305288" y="2331720"/>
            <a:ext cx="1005840" cy="1005840"/>
          </a:xfrm>
          <a:prstGeom prst="ellipse">
            <a:avLst/>
          </a:prstGeom>
          <a:solidFill>
            <a:schemeClr val="accent1"/>
          </a:solidFill>
          <a:ln/>
        </p:spPr>
      </p:sp>
      <p:pic>
        <p:nvPicPr>
          <p:cNvPr id="28" name="Image 5" descr="TbCar">    </p:cNvPr>
          <p:cNvPicPr>
            <a:picLocks noChangeAspect="1"/>
          </p:cNvPicPr>
          <p:nvPr/>
        </p:nvPicPr>
        <p:blipFill>
          <a:blip r:embed="rId6"/>
          <a:stretch>
            <a:fillRect/>
          </a:stretch>
        </p:blipFill>
        <p:spPr>
          <a:xfrm>
            <a:off x="10526573" y="2553005"/>
            <a:ext cx="563270" cy="563270"/>
          </a:xfrm>
          <a:prstGeom prst="rect">
            <a:avLst/>
          </a:prstGeom>
        </p:spPr>
      </p:pic>
      <p:sp>
        <p:nvSpPr>
          <p:cNvPr id="29" name="Text 20"/>
          <p:cNvSpPr txBox="1"/>
          <p:nvPr/>
        </p:nvSpPr>
        <p:spPr>
          <a:xfrm>
            <a:off x="9756648" y="3401568"/>
            <a:ext cx="2103120" cy="411480"/>
          </a:xfrm>
          <a:prstGeom prst="rect">
            <a:avLst/>
          </a:prstGeom>
          <a:noFill/>
          <a:ln/>
        </p:spPr>
        <p:txBody>
          <a:bodyPr wrap="square" lIns="0" tIns="0" rIns="0" bIns="0" rtlCol="0" anchor="t"/>
          <a:lstStyle/>
          <a:p>
            <a:pPr algn="ctr" indent="0" marL="0">
              <a:buNone/>
            </a:pPr>
            <a:r>
              <a:rPr lang="ja-JP" altLang="en-US" sz="1900" b="1" dirty="0">
                <a:solidFill>
                  <a:schemeClr val="tx2"/>
                </a:solidFill>
              </a:rPr>
              <a:t>最終製品</a:t>
            </a:r>
            <a:endParaRPr lang="ja-JP" sz="1900" dirty="0"/>
          </a:p>
        </p:txBody>
      </p:sp>
      <p:sp>
        <p:nvSpPr>
          <p:cNvPr id="30" name="Shape 21"/>
          <p:cNvSpPr/>
          <p:nvPr/>
        </p:nvSpPr>
        <p:spPr>
          <a:xfrm>
            <a:off x="2724912" y="4023360"/>
            <a:ext cx="9089136" cy="658368"/>
          </a:xfrm>
          <a:prstGeom prst="roundRect">
            <a:avLst>
              <a:gd name="adj" fmla="val 50000"/>
            </a:avLst>
          </a:prstGeom>
          <a:solidFill>
            <a:schemeClr val="accent3"/>
          </a:solidFill>
          <a:ln/>
        </p:spPr>
      </p:sp>
      <p:pic>
        <p:nvPicPr>
          <p:cNvPr id="31" name="Image 6" descr="TbArrowsExchange">    </p:cNvPr>
          <p:cNvPicPr>
            <a:picLocks noChangeAspect="1"/>
          </p:cNvPicPr>
          <p:nvPr/>
        </p:nvPicPr>
        <p:blipFill>
          <a:blip r:embed="rId7"/>
          <a:stretch>
            <a:fillRect/>
          </a:stretch>
        </p:blipFill>
        <p:spPr>
          <a:xfrm>
            <a:off x="2907792" y="4151376"/>
            <a:ext cx="402336" cy="402336"/>
          </a:xfrm>
          <a:prstGeom prst="rect">
            <a:avLst/>
          </a:prstGeom>
        </p:spPr>
      </p:pic>
      <p:sp>
        <p:nvSpPr>
          <p:cNvPr id="32" name="Text 22"/>
          <p:cNvSpPr txBox="1"/>
          <p:nvPr/>
        </p:nvSpPr>
        <p:spPr>
          <a:xfrm>
            <a:off x="3410712" y="4023360"/>
            <a:ext cx="8686800" cy="658368"/>
          </a:xfrm>
          <a:prstGeom prst="rect">
            <a:avLst/>
          </a:prstGeom>
          <a:noFill/>
          <a:ln/>
        </p:spPr>
        <p:txBody>
          <a:bodyPr wrap="square" lIns="0" tIns="0" rIns="0" bIns="0" rtlCol="0" anchor="ctr"/>
          <a:lstStyle/>
          <a:p>
            <a:pPr indent="0" marL="0">
              <a:buNone/>
            </a:pPr>
            <a:r>
              <a:rPr lang="ja-JP" altLang="en-US" sz="1900" b="1" dirty="0">
                <a:solidFill>
                  <a:schemeClr val="tx2"/>
                </a:solidFill>
              </a:rPr>
              <a:t>商社は複数の工程をつなぎ、物流・加工・在庫管理を担う。</a:t>
            </a:r>
            <a:endParaRPr lang="ja-JP" sz="1900" dirty="0"/>
          </a:p>
        </p:txBody>
      </p:sp>
      <p:sp>
        <p:nvSpPr>
          <p:cNvPr id="33" name="Shape 23"/>
          <p:cNvSpPr/>
          <p:nvPr/>
        </p:nvSpPr>
        <p:spPr>
          <a:xfrm>
            <a:off x="548640" y="5029200"/>
            <a:ext cx="11091672" cy="731520"/>
          </a:xfrm>
          <a:prstGeom prst="roundRect">
            <a:avLst>
              <a:gd name="adj" fmla="val 17500"/>
            </a:avLst>
          </a:prstGeom>
          <a:solidFill>
            <a:schemeClr val="bg2"/>
          </a:solidFill>
          <a:ln/>
        </p:spPr>
      </p:sp>
      <p:sp>
        <p:nvSpPr>
          <p:cNvPr id="34" name="Text 24"/>
          <p:cNvSpPr txBox="1"/>
          <p:nvPr/>
        </p:nvSpPr>
        <p:spPr>
          <a:xfrm>
            <a:off x="822960" y="5029200"/>
            <a:ext cx="10607040" cy="731520"/>
          </a:xfrm>
          <a:prstGeom prst="rect">
            <a:avLst/>
          </a:prstGeom>
          <a:noFill/>
          <a:ln/>
        </p:spPr>
        <p:txBody>
          <a:bodyPr wrap="square" lIns="0" tIns="0" rIns="0" bIns="0" rtlCol="0" anchor="ctr"/>
          <a:lstStyle/>
          <a:p>
            <a:pPr indent="0" marL="0">
              <a:buNone/>
            </a:pPr>
            <a:r>
              <a:rPr lang="ja-JP" altLang="en-US" sz="2200" b="1" dirty="0">
                <a:solidFill>
                  <a:schemeClr val="tx2"/>
                </a:solidFill>
              </a:rPr>
              <a:t>一つの鋼材にも、多くの企業が役割と付加価値を分担している。</a:t>
            </a:r>
            <a:endParaRPr lang="ja-JP" sz="2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03｜金属業界の全体像を理解する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主要企業をサプライチェーンに配置してみよう</a:t>
            </a:r>
            <a:endParaRPr lang="en-US" sz="3000" dirty="0"/>
          </a:p>
        </p:txBody>
      </p:sp>
      <p:sp>
        <p:nvSpPr>
          <p:cNvPr id="5" name="Text 2"/>
          <p:cNvSpPr txBox="1"/>
          <p:nvPr/>
        </p:nvSpPr>
        <p:spPr>
          <a:xfrm>
            <a:off x="548640" y="1691640"/>
            <a:ext cx="1947672" cy="777240"/>
          </a:xfrm>
          <a:prstGeom prst="homePlate">
            <a:avLst/>
          </a:prstGeom>
          <a:solidFill>
            <a:schemeClr val="tx2"/>
          </a:solidFill>
          <a:ln/>
        </p:spPr>
        <p:txBody>
          <a:bodyPr wrap="square" lIns="0" tIns="0" rIns="0" bIns="0" rtlCol="0" anchor="ctr"/>
          <a:lstStyle/>
          <a:p>
            <a:pPr algn="ctr" indent="0" marL="0">
              <a:buNone/>
            </a:pPr>
            <a:r>
              <a:rPr lang="ja-JP" altLang="en-US" sz="1600" b="1" dirty="0">
                <a:solidFill>
                  <a:schemeClr val="bg1"/>
                </a:solidFill>
              </a:rPr>
              <a:t>資源・製錬</a:t>
            </a:r>
            <a:endParaRPr lang="ja-JP" sz="1600" dirty="0"/>
          </a:p>
        </p:txBody>
      </p:sp>
      <p:sp>
        <p:nvSpPr>
          <p:cNvPr id="6" name="Text 3"/>
          <p:cNvSpPr txBox="1"/>
          <p:nvPr/>
        </p:nvSpPr>
        <p:spPr>
          <a:xfrm>
            <a:off x="594360" y="269748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住友金属鉱山</a:t>
            </a:r>
            <a:endParaRPr lang="ja-JP" sz="1700" dirty="0"/>
          </a:p>
        </p:txBody>
      </p:sp>
      <p:sp>
        <p:nvSpPr>
          <p:cNvPr id="7" name="Text 4"/>
          <p:cNvSpPr txBox="1"/>
          <p:nvPr/>
        </p:nvSpPr>
        <p:spPr>
          <a:xfrm>
            <a:off x="594360" y="347472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三菱マテリアル</a:t>
            </a:r>
            <a:endParaRPr lang="ja-JP" sz="1700" dirty="0"/>
          </a:p>
        </p:txBody>
      </p:sp>
      <p:sp>
        <p:nvSpPr>
          <p:cNvPr id="8" name="Text 5"/>
          <p:cNvSpPr txBox="1"/>
          <p:nvPr/>
        </p:nvSpPr>
        <p:spPr>
          <a:xfrm>
            <a:off x="2377440" y="1691640"/>
            <a:ext cx="1947672" cy="777240"/>
          </a:xfrm>
          <a:prstGeom prst="chevron">
            <a:avLst/>
          </a:prstGeom>
          <a:solidFill>
            <a:schemeClr val="accent1"/>
          </a:solidFill>
          <a:ln/>
        </p:spPr>
        <p:txBody>
          <a:bodyPr wrap="square" lIns="0" tIns="0" rIns="0" bIns="0" rtlCol="0" anchor="ctr"/>
          <a:lstStyle/>
          <a:p>
            <a:pPr algn="ctr" indent="0" marL="0">
              <a:buNone/>
            </a:pPr>
            <a:r>
              <a:rPr lang="ja-JP" altLang="en-US" sz="1600" b="1" dirty="0">
                <a:solidFill>
                  <a:schemeClr val="bg1"/>
                </a:solidFill>
              </a:rPr>
              <a:t>鉄鋼製造</a:t>
            </a:r>
            <a:endParaRPr lang="ja-JP" sz="1600" dirty="0"/>
          </a:p>
        </p:txBody>
      </p:sp>
      <p:sp>
        <p:nvSpPr>
          <p:cNvPr id="9" name="Text 6"/>
          <p:cNvSpPr txBox="1"/>
          <p:nvPr/>
        </p:nvSpPr>
        <p:spPr>
          <a:xfrm>
            <a:off x="2423160" y="269748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日本製鉄</a:t>
            </a:r>
            <a:endParaRPr lang="ja-JP" sz="1700" dirty="0"/>
          </a:p>
        </p:txBody>
      </p:sp>
      <p:sp>
        <p:nvSpPr>
          <p:cNvPr id="10" name="Text 7"/>
          <p:cNvSpPr txBox="1"/>
          <p:nvPr/>
        </p:nvSpPr>
        <p:spPr>
          <a:xfrm>
            <a:off x="2423160" y="347472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JFEスチール</a:t>
            </a:r>
            <a:endParaRPr lang="ja-JP" sz="1700" dirty="0"/>
          </a:p>
        </p:txBody>
      </p:sp>
      <p:sp>
        <p:nvSpPr>
          <p:cNvPr id="11" name="Text 8"/>
          <p:cNvSpPr txBox="1"/>
          <p:nvPr/>
        </p:nvSpPr>
        <p:spPr>
          <a:xfrm>
            <a:off x="4206240" y="1691640"/>
            <a:ext cx="1947672" cy="777240"/>
          </a:xfrm>
          <a:prstGeom prst="chevron">
            <a:avLst/>
          </a:prstGeom>
          <a:solidFill>
            <a:schemeClr val="tx2"/>
          </a:solidFill>
          <a:ln/>
        </p:spPr>
        <p:txBody>
          <a:bodyPr wrap="square" lIns="0" tIns="0" rIns="0" bIns="0" rtlCol="0" anchor="ctr"/>
          <a:lstStyle/>
          <a:p>
            <a:pPr algn="ctr" indent="0" marL="0">
              <a:buNone/>
            </a:pPr>
            <a:r>
              <a:rPr lang="ja-JP" altLang="en-US" sz="1600" b="1" dirty="0">
                <a:solidFill>
                  <a:schemeClr val="bg1"/>
                </a:solidFill>
              </a:rPr>
              <a:t>電炉</a:t>
            </a:r>
            <a:endParaRPr lang="ja-JP" sz="1600" dirty="0"/>
          </a:p>
        </p:txBody>
      </p:sp>
      <p:sp>
        <p:nvSpPr>
          <p:cNvPr id="12" name="Text 9"/>
          <p:cNvSpPr txBox="1"/>
          <p:nvPr/>
        </p:nvSpPr>
        <p:spPr>
          <a:xfrm>
            <a:off x="4251960" y="269748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共英製鋼</a:t>
            </a:r>
            <a:endParaRPr lang="ja-JP" sz="1700" dirty="0"/>
          </a:p>
        </p:txBody>
      </p:sp>
      <p:sp>
        <p:nvSpPr>
          <p:cNvPr id="13" name="Text 10"/>
          <p:cNvSpPr txBox="1"/>
          <p:nvPr/>
        </p:nvSpPr>
        <p:spPr>
          <a:xfrm>
            <a:off x="4251960" y="347472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東京製鐵</a:t>
            </a:r>
            <a:endParaRPr lang="ja-JP" sz="1700" dirty="0"/>
          </a:p>
        </p:txBody>
      </p:sp>
      <p:sp>
        <p:nvSpPr>
          <p:cNvPr id="14" name="Text 11"/>
          <p:cNvSpPr txBox="1"/>
          <p:nvPr/>
        </p:nvSpPr>
        <p:spPr>
          <a:xfrm>
            <a:off x="6035040" y="1691640"/>
            <a:ext cx="1947672" cy="777240"/>
          </a:xfrm>
          <a:prstGeom prst="chevron">
            <a:avLst/>
          </a:prstGeom>
          <a:solidFill>
            <a:schemeClr val="accent1"/>
          </a:solidFill>
          <a:ln/>
        </p:spPr>
        <p:txBody>
          <a:bodyPr wrap="square" lIns="0" tIns="0" rIns="0" bIns="0" rtlCol="0" anchor="ctr"/>
          <a:lstStyle/>
          <a:p>
            <a:pPr algn="ctr" indent="0" marL="0">
              <a:buNone/>
            </a:pPr>
            <a:r>
              <a:rPr lang="ja-JP" altLang="en-US" sz="1600" b="1" dirty="0">
                <a:solidFill>
                  <a:schemeClr val="bg1"/>
                </a:solidFill>
              </a:rPr>
              <a:t>特殊鋼・</a:t>
            </a:r>
            <a:endParaRPr lang="ja-JP" sz="1600" dirty="0"/>
          </a:p>
          <a:p>
            <a:pPr algn="ctr" indent="0" marL="0">
              <a:buNone/>
            </a:pPr>
            <a:r>
              <a:rPr lang="ja-JP" altLang="en-US" sz="1600" b="1" dirty="0">
                <a:solidFill>
                  <a:schemeClr val="bg1"/>
                </a:solidFill>
              </a:rPr>
              <a:t>高機能材</a:t>
            </a:r>
            <a:endParaRPr lang="ja-JP" sz="1600" dirty="0"/>
          </a:p>
        </p:txBody>
      </p:sp>
      <p:sp>
        <p:nvSpPr>
          <p:cNvPr id="15" name="Text 12"/>
          <p:cNvSpPr txBox="1"/>
          <p:nvPr/>
        </p:nvSpPr>
        <p:spPr>
          <a:xfrm>
            <a:off x="6080760" y="269748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大同特殊鋼</a:t>
            </a:r>
            <a:endParaRPr lang="ja-JP" sz="1700" dirty="0"/>
          </a:p>
        </p:txBody>
      </p:sp>
      <p:sp>
        <p:nvSpPr>
          <p:cNvPr id="16" name="Text 13"/>
          <p:cNvSpPr txBox="1"/>
          <p:nvPr/>
        </p:nvSpPr>
        <p:spPr>
          <a:xfrm>
            <a:off x="6080760" y="347472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JX金属</a:t>
            </a:r>
            <a:endParaRPr lang="ja-JP" sz="1700" dirty="0"/>
          </a:p>
        </p:txBody>
      </p:sp>
      <p:sp>
        <p:nvSpPr>
          <p:cNvPr id="17" name="Text 14"/>
          <p:cNvSpPr txBox="1"/>
          <p:nvPr/>
        </p:nvSpPr>
        <p:spPr>
          <a:xfrm>
            <a:off x="7863840" y="1691640"/>
            <a:ext cx="1947672" cy="777240"/>
          </a:xfrm>
          <a:prstGeom prst="chevron">
            <a:avLst/>
          </a:prstGeom>
          <a:solidFill>
            <a:schemeClr val="tx2"/>
          </a:solidFill>
          <a:ln/>
        </p:spPr>
        <p:txBody>
          <a:bodyPr wrap="square" lIns="0" tIns="0" rIns="0" bIns="0" rtlCol="0" anchor="ctr"/>
          <a:lstStyle/>
          <a:p>
            <a:pPr algn="ctr" indent="0" marL="0">
              <a:buNone/>
            </a:pPr>
            <a:r>
              <a:rPr lang="ja-JP" altLang="en-US" sz="1600" b="1" dirty="0">
                <a:solidFill>
                  <a:schemeClr val="bg1"/>
                </a:solidFill>
              </a:rPr>
              <a:t>アルミ加工</a:t>
            </a:r>
            <a:endParaRPr lang="ja-JP" sz="1600" dirty="0"/>
          </a:p>
        </p:txBody>
      </p:sp>
      <p:sp>
        <p:nvSpPr>
          <p:cNvPr id="18" name="Text 15"/>
          <p:cNvSpPr txBox="1"/>
          <p:nvPr/>
        </p:nvSpPr>
        <p:spPr>
          <a:xfrm>
            <a:off x="7909560" y="269748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UACJ</a:t>
            </a:r>
            <a:endParaRPr lang="ja-JP" sz="1700" dirty="0"/>
          </a:p>
        </p:txBody>
      </p:sp>
      <p:sp>
        <p:nvSpPr>
          <p:cNvPr id="19" name="Text 16"/>
          <p:cNvSpPr txBox="1"/>
          <p:nvPr/>
        </p:nvSpPr>
        <p:spPr>
          <a:xfrm>
            <a:off x="9692640" y="1691640"/>
            <a:ext cx="1947672" cy="777240"/>
          </a:xfrm>
          <a:prstGeom prst="chevron">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商社</a:t>
            </a:r>
            <a:endParaRPr lang="ja-JP" sz="1600" dirty="0"/>
          </a:p>
        </p:txBody>
      </p:sp>
      <p:sp>
        <p:nvSpPr>
          <p:cNvPr id="20" name="Text 17"/>
          <p:cNvSpPr txBox="1"/>
          <p:nvPr/>
        </p:nvSpPr>
        <p:spPr>
          <a:xfrm>
            <a:off x="9738360" y="269748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阪和興業</a:t>
            </a:r>
            <a:endParaRPr lang="ja-JP" sz="1700" dirty="0"/>
          </a:p>
        </p:txBody>
      </p:sp>
      <p:sp>
        <p:nvSpPr>
          <p:cNvPr id="21" name="Text 18"/>
          <p:cNvSpPr txBox="1"/>
          <p:nvPr/>
        </p:nvSpPr>
        <p:spPr>
          <a:xfrm>
            <a:off x="9738360" y="3474720"/>
            <a:ext cx="1709928" cy="640080"/>
          </a:xfrm>
          <a:prstGeom prst="roundRect">
            <a:avLst>
              <a:gd name="adj" fmla="val 14286"/>
            </a:avLst>
          </a:prstGeom>
          <a:solidFill>
            <a:schemeClr val="bg1"/>
          </a:solidFill>
          <a:ln w="15875">
            <a:solidFill>
              <a:schemeClr val="accent5"/>
            </a:solidFill>
          </a:ln>
          <a:effectLst>
            <a:outerShdw sx="100000" sy="100000" kx="0" ky="0" algn="bl" rotWithShape="0" blurRad="101600" dist="25400" dir="5400000">
              <a:srgbClr val="12243A">
                <a:alpha val="14000"/>
              </a:srgbClr>
            </a:outerShdw>
          </a:effectLst>
        </p:spPr>
        <p:txBody>
          <a:bodyPr wrap="square" lIns="0" tIns="0" rIns="0" bIns="0" rtlCol="0" anchor="ctr"/>
          <a:lstStyle/>
          <a:p>
            <a:pPr algn="ctr" indent="0" marL="0">
              <a:buNone/>
            </a:pPr>
            <a:r>
              <a:rPr lang="ja-JP" altLang="en-US" sz="1700" b="1" dirty="0">
                <a:solidFill>
                  <a:schemeClr val="tx2"/>
                </a:solidFill>
              </a:rPr>
              <a:t>岡谷鋼機</a:t>
            </a:r>
            <a:endParaRPr lang="ja-JP" sz="1700" dirty="0"/>
          </a:p>
        </p:txBody>
      </p:sp>
      <p:sp>
        <p:nvSpPr>
          <p:cNvPr id="22" name="Shape 19"/>
          <p:cNvSpPr/>
          <p:nvPr/>
        </p:nvSpPr>
        <p:spPr>
          <a:xfrm>
            <a:off x="548640" y="4343400"/>
            <a:ext cx="11091672" cy="566928"/>
          </a:xfrm>
          <a:prstGeom prst="roundRect">
            <a:avLst>
              <a:gd name="adj" fmla="val 19355"/>
            </a:avLst>
          </a:prstGeom>
          <a:solidFill>
            <a:schemeClr val="bg2"/>
          </a:solidFill>
          <a:ln/>
        </p:spPr>
      </p:sp>
      <p:pic>
        <p:nvPicPr>
          <p:cNvPr id="23" name="Image 0" descr="TbTopologyStar3">    </p:cNvPr>
          <p:cNvPicPr>
            <a:picLocks noChangeAspect="1"/>
          </p:cNvPicPr>
          <p:nvPr/>
        </p:nvPicPr>
        <p:blipFill>
          <a:blip r:embed="rId1"/>
          <a:stretch>
            <a:fillRect/>
          </a:stretch>
        </p:blipFill>
        <p:spPr>
          <a:xfrm>
            <a:off x="731520" y="4425696"/>
            <a:ext cx="402336" cy="402336"/>
          </a:xfrm>
          <a:prstGeom prst="rect">
            <a:avLst/>
          </a:prstGeom>
        </p:spPr>
      </p:pic>
      <p:sp>
        <p:nvSpPr>
          <p:cNvPr id="24" name="Text 20"/>
          <p:cNvSpPr txBox="1"/>
          <p:nvPr/>
        </p:nvSpPr>
        <p:spPr>
          <a:xfrm>
            <a:off x="1280160" y="4343400"/>
            <a:ext cx="10241280" cy="566928"/>
          </a:xfrm>
          <a:prstGeom prst="rect">
            <a:avLst/>
          </a:prstGeom>
          <a:noFill/>
          <a:ln/>
        </p:spPr>
        <p:txBody>
          <a:bodyPr wrap="square" lIns="0" tIns="0" rIns="0" bIns="0" rtlCol="0" anchor="ctr"/>
          <a:lstStyle/>
          <a:p>
            <a:pPr indent="0" marL="0">
              <a:buNone/>
            </a:pPr>
            <a:r>
              <a:rPr lang="ja-JP" altLang="en-US" sz="1800" dirty="0">
                <a:solidFill>
                  <a:schemeClr val="tx2"/>
                </a:solidFill>
              </a:rPr>
              <a:t>1社が複数の工程・役割を持つこともある（例：住友金属鉱山＝資源・製錬・材料）</a:t>
            </a:r>
            <a:endParaRPr lang="ja-JP" sz="1800" dirty="0"/>
          </a:p>
        </p:txBody>
      </p:sp>
      <p:sp>
        <p:nvSpPr>
          <p:cNvPr id="25" name="Shape 21"/>
          <p:cNvSpPr/>
          <p:nvPr/>
        </p:nvSpPr>
        <p:spPr>
          <a:xfrm>
            <a:off x="548640" y="5120640"/>
            <a:ext cx="11091672" cy="713232"/>
          </a:xfrm>
          <a:prstGeom prst="roundRect">
            <a:avLst>
              <a:gd name="adj" fmla="val 15385"/>
            </a:avLst>
          </a:prstGeom>
          <a:solidFill>
            <a:schemeClr val="tx2"/>
          </a:solidFill>
          <a:ln/>
        </p:spPr>
      </p:sp>
      <p:sp>
        <p:nvSpPr>
          <p:cNvPr id="26" name="Text 22"/>
          <p:cNvSpPr txBox="1"/>
          <p:nvPr/>
        </p:nvSpPr>
        <p:spPr>
          <a:xfrm>
            <a:off x="822960" y="5120640"/>
            <a:ext cx="10607040" cy="713232"/>
          </a:xfrm>
          <a:prstGeom prst="rect">
            <a:avLst/>
          </a:prstGeom>
          <a:noFill/>
          <a:ln/>
        </p:spPr>
        <p:txBody>
          <a:bodyPr wrap="square" lIns="0" tIns="0" rIns="0" bIns="0" rtlCol="0" anchor="ctr"/>
          <a:lstStyle/>
          <a:p>
            <a:pPr indent="0" marL="0">
              <a:buNone/>
            </a:pPr>
            <a:r>
              <a:rPr lang="ja-JP" altLang="en-US" sz="2200" b="1" dirty="0">
                <a:solidFill>
                  <a:schemeClr val="accent2"/>
                </a:solidFill>
              </a:rPr>
              <a:t>名前を聞いたら → </a:t>
            </a:r>
            <a:pPr indent="0" marL="0">
              <a:buNone/>
            </a:pPr>
            <a:r>
              <a:rPr lang="ja-JP" altLang="en-US" sz="2200" b="1" dirty="0">
                <a:solidFill>
                  <a:schemeClr val="bg1"/>
                </a:solidFill>
              </a:rPr>
              <a:t>何をどの工程で作り、誰に売るかを調べる</a:t>
            </a:r>
            <a:endParaRPr lang="ja-JP" sz="2200" dirty="0"/>
          </a:p>
        </p:txBody>
      </p:sp>
      <p:sp>
        <p:nvSpPr>
          <p:cNvPr id="27" name="Text 23"/>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※社名は各工程の代表例（ロゴは使用せずテキストで表記）。</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03｜金属業界の全体像を理解する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金属業界は世界とつながっている</a:t>
            </a:r>
            <a:endParaRPr lang="en-US" sz="3000" dirty="0"/>
          </a:p>
        </p:txBody>
      </p:sp>
      <p:pic>
        <p:nvPicPr>
          <p:cNvPr id="5" name="Image 0" descr="イメージ図（一般的なイラスト。実在企業の設備ではありません）">    </p:cNvPr>
          <p:cNvPicPr>
            <a:picLocks noChangeAspect="1"/>
          </p:cNvPicPr>
          <p:nvPr/>
        </p:nvPicPr>
        <p:blipFill>
          <a:blip r:embed="rId1"/>
          <a:stretch>
            <a:fillRect/>
          </a:stretch>
        </p:blipFill>
        <p:spPr>
          <a:xfrm>
            <a:off x="548640" y="1645920"/>
            <a:ext cx="5669280" cy="4160520"/>
          </a:xfrm>
          <a:prstGeom prst="rect">
            <a:avLst/>
          </a:prstGeom>
        </p:spPr>
      </p:pic>
      <p:sp>
        <p:nvSpPr>
          <p:cNvPr id="6" name="Text 2"/>
          <p:cNvSpPr txBox="1"/>
          <p:nvPr/>
        </p:nvSpPr>
        <p:spPr>
          <a:xfrm>
            <a:off x="731520" y="1810512"/>
            <a:ext cx="1280160" cy="347472"/>
          </a:xfrm>
          <a:prstGeom prst="roundRect">
            <a:avLst>
              <a:gd name="adj" fmla="val 50000"/>
            </a:avLst>
          </a:prstGeom>
          <a:solidFill>
            <a:schemeClr val="bg1"/>
          </a:solidFill>
          <a:ln/>
        </p:spPr>
        <p:txBody>
          <a:bodyPr wrap="square" lIns="0" tIns="0" rIns="0" bIns="0" rtlCol="0" anchor="ctr"/>
          <a:lstStyle/>
          <a:p>
            <a:pPr algn="ctr" indent="0" marL="0">
              <a:buNone/>
            </a:pPr>
            <a:r>
              <a:rPr lang="ja-JP" altLang="en-US" sz="1300" b="1" dirty="0">
                <a:solidFill>
                  <a:schemeClr val="tx2"/>
                </a:solidFill>
              </a:rPr>
              <a:t>イメージ図</a:t>
            </a:r>
            <a:endParaRPr lang="ja-JP" sz="1300" dirty="0"/>
          </a:p>
        </p:txBody>
      </p:sp>
      <p:sp>
        <p:nvSpPr>
          <p:cNvPr id="7" name="Shape 3"/>
          <p:cNvSpPr/>
          <p:nvPr/>
        </p:nvSpPr>
        <p:spPr>
          <a:xfrm>
            <a:off x="6537960" y="1645920"/>
            <a:ext cx="5102352" cy="777240"/>
          </a:xfrm>
          <a:prstGeom prst="roundRect">
            <a:avLst>
              <a:gd name="adj" fmla="val 14118"/>
            </a:avLst>
          </a:prstGeom>
          <a:solidFill>
            <a:schemeClr val="bg2"/>
          </a:solidFill>
          <a:ln/>
        </p:spPr>
      </p:sp>
      <p:sp>
        <p:nvSpPr>
          <p:cNvPr id="8" name="Shape 4"/>
          <p:cNvSpPr/>
          <p:nvPr/>
        </p:nvSpPr>
        <p:spPr>
          <a:xfrm>
            <a:off x="6675120" y="1755648"/>
            <a:ext cx="548640" cy="548640"/>
          </a:xfrm>
          <a:prstGeom prst="ellipse">
            <a:avLst/>
          </a:prstGeom>
          <a:solidFill>
            <a:schemeClr val="accent1"/>
          </a:solidFill>
          <a:ln/>
        </p:spPr>
      </p:sp>
      <p:pic>
        <p:nvPicPr>
          <p:cNvPr id="9" name="Image 1" descr="TbShip">    </p:cNvPr>
          <p:cNvPicPr>
            <a:picLocks noChangeAspect="1"/>
          </p:cNvPicPr>
          <p:nvPr/>
        </p:nvPicPr>
        <p:blipFill>
          <a:blip r:embed="rId2"/>
          <a:stretch>
            <a:fillRect/>
          </a:stretch>
        </p:blipFill>
        <p:spPr>
          <a:xfrm>
            <a:off x="6795821" y="1876349"/>
            <a:ext cx="307238" cy="307238"/>
          </a:xfrm>
          <a:prstGeom prst="rect">
            <a:avLst/>
          </a:prstGeom>
        </p:spPr>
      </p:pic>
      <p:sp>
        <p:nvSpPr>
          <p:cNvPr id="10" name="Text 5"/>
          <p:cNvSpPr txBox="1"/>
          <p:nvPr/>
        </p:nvSpPr>
        <p:spPr>
          <a:xfrm>
            <a:off x="7360920" y="1645920"/>
            <a:ext cx="4206240" cy="777240"/>
          </a:xfrm>
          <a:prstGeom prst="rect">
            <a:avLst/>
          </a:prstGeom>
          <a:noFill/>
          <a:ln/>
        </p:spPr>
        <p:txBody>
          <a:bodyPr wrap="square" lIns="0" tIns="0" rIns="0" bIns="0" rtlCol="0" anchor="ctr"/>
          <a:lstStyle/>
          <a:p>
            <a:pPr indent="0" marL="0">
              <a:buNone/>
            </a:pPr>
            <a:r>
              <a:rPr lang="ja-JP" altLang="en-US" sz="2000" b="1" dirty="0">
                <a:solidFill>
                  <a:schemeClr val="tx2"/>
                </a:solidFill>
              </a:rPr>
              <a:t>原材料を輸入する</a:t>
            </a:r>
            <a:endParaRPr lang="ja-JP" sz="2000" dirty="0"/>
          </a:p>
          <a:p>
            <a:pPr indent="0" marL="0">
              <a:buNone/>
            </a:pPr>
            <a:r>
              <a:rPr lang="ja-JP" altLang="en-US" sz="1600" dirty="0">
                <a:solidFill>
                  <a:schemeClr val="accent4"/>
                </a:solidFill>
              </a:rPr>
              <a:t>鉄鉱石・原料炭など</a:t>
            </a:r>
            <a:endParaRPr lang="ja-JP" sz="2000" dirty="0"/>
          </a:p>
        </p:txBody>
      </p:sp>
      <p:sp>
        <p:nvSpPr>
          <p:cNvPr id="11" name="Shape 6"/>
          <p:cNvSpPr/>
          <p:nvPr/>
        </p:nvSpPr>
        <p:spPr>
          <a:xfrm>
            <a:off x="6537960" y="2532888"/>
            <a:ext cx="5102352" cy="777240"/>
          </a:xfrm>
          <a:prstGeom prst="roundRect">
            <a:avLst>
              <a:gd name="adj" fmla="val 14118"/>
            </a:avLst>
          </a:prstGeom>
          <a:solidFill>
            <a:schemeClr val="bg2"/>
          </a:solidFill>
          <a:ln/>
        </p:spPr>
      </p:sp>
      <p:sp>
        <p:nvSpPr>
          <p:cNvPr id="12" name="Shape 7"/>
          <p:cNvSpPr/>
          <p:nvPr/>
        </p:nvSpPr>
        <p:spPr>
          <a:xfrm>
            <a:off x="6675120" y="2642616"/>
            <a:ext cx="548640" cy="548640"/>
          </a:xfrm>
          <a:prstGeom prst="ellipse">
            <a:avLst/>
          </a:prstGeom>
          <a:solidFill>
            <a:schemeClr val="accent1"/>
          </a:solidFill>
          <a:ln/>
        </p:spPr>
      </p:sp>
      <p:pic>
        <p:nvPicPr>
          <p:cNvPr id="13" name="Image 2" descr="TbWorld">    </p:cNvPr>
          <p:cNvPicPr>
            <a:picLocks noChangeAspect="1"/>
          </p:cNvPicPr>
          <p:nvPr/>
        </p:nvPicPr>
        <p:blipFill>
          <a:blip r:embed="rId3"/>
          <a:stretch>
            <a:fillRect/>
          </a:stretch>
        </p:blipFill>
        <p:spPr>
          <a:xfrm>
            <a:off x="6795821" y="2763317"/>
            <a:ext cx="307238" cy="307238"/>
          </a:xfrm>
          <a:prstGeom prst="rect">
            <a:avLst/>
          </a:prstGeom>
        </p:spPr>
      </p:pic>
      <p:sp>
        <p:nvSpPr>
          <p:cNvPr id="14" name="Text 8"/>
          <p:cNvSpPr txBox="1"/>
          <p:nvPr/>
        </p:nvSpPr>
        <p:spPr>
          <a:xfrm>
            <a:off x="7360920" y="2532888"/>
            <a:ext cx="4206240" cy="777240"/>
          </a:xfrm>
          <a:prstGeom prst="rect">
            <a:avLst/>
          </a:prstGeom>
          <a:noFill/>
          <a:ln/>
        </p:spPr>
        <p:txBody>
          <a:bodyPr wrap="square" lIns="0" tIns="0" rIns="0" bIns="0" rtlCol="0" anchor="ctr"/>
          <a:lstStyle/>
          <a:p>
            <a:pPr indent="0" marL="0">
              <a:buNone/>
            </a:pPr>
            <a:r>
              <a:rPr lang="ja-JP" altLang="en-US" sz="2000" b="1" dirty="0">
                <a:solidFill>
                  <a:schemeClr val="tx2"/>
                </a:solidFill>
              </a:rPr>
              <a:t>世界の顧客に販売する</a:t>
            </a:r>
            <a:endParaRPr lang="ja-JP" sz="2000" dirty="0"/>
          </a:p>
          <a:p>
            <a:pPr indent="0" marL="0">
              <a:buNone/>
            </a:pPr>
            <a:r>
              <a:rPr lang="ja-JP" altLang="en-US" sz="1600" dirty="0">
                <a:solidFill>
                  <a:schemeClr val="accent4"/>
                </a:solidFill>
              </a:rPr>
              <a:t>自動車・建設・電子分野</a:t>
            </a:r>
            <a:endParaRPr lang="ja-JP" sz="2000" dirty="0"/>
          </a:p>
        </p:txBody>
      </p:sp>
      <p:sp>
        <p:nvSpPr>
          <p:cNvPr id="15" name="Shape 9"/>
          <p:cNvSpPr/>
          <p:nvPr/>
        </p:nvSpPr>
        <p:spPr>
          <a:xfrm>
            <a:off x="6537960" y="3419856"/>
            <a:ext cx="5102352" cy="777240"/>
          </a:xfrm>
          <a:prstGeom prst="roundRect">
            <a:avLst>
              <a:gd name="adj" fmla="val 14118"/>
            </a:avLst>
          </a:prstGeom>
          <a:solidFill>
            <a:schemeClr val="bg2"/>
          </a:solidFill>
          <a:ln/>
        </p:spPr>
      </p:sp>
      <p:sp>
        <p:nvSpPr>
          <p:cNvPr id="16" name="Shape 10"/>
          <p:cNvSpPr/>
          <p:nvPr/>
        </p:nvSpPr>
        <p:spPr>
          <a:xfrm>
            <a:off x="6675120" y="3529584"/>
            <a:ext cx="548640" cy="548640"/>
          </a:xfrm>
          <a:prstGeom prst="ellipse">
            <a:avLst/>
          </a:prstGeom>
          <a:solidFill>
            <a:schemeClr val="accent1"/>
          </a:solidFill>
          <a:ln/>
        </p:spPr>
      </p:sp>
      <p:pic>
        <p:nvPicPr>
          <p:cNvPr id="17" name="Image 3" descr="TbBuildingFactory2">    </p:cNvPr>
          <p:cNvPicPr>
            <a:picLocks noChangeAspect="1"/>
          </p:cNvPicPr>
          <p:nvPr/>
        </p:nvPicPr>
        <p:blipFill>
          <a:blip r:embed="rId4"/>
          <a:stretch>
            <a:fillRect/>
          </a:stretch>
        </p:blipFill>
        <p:spPr>
          <a:xfrm>
            <a:off x="6795821" y="3650285"/>
            <a:ext cx="307238" cy="307238"/>
          </a:xfrm>
          <a:prstGeom prst="rect">
            <a:avLst/>
          </a:prstGeom>
        </p:spPr>
      </p:pic>
      <p:sp>
        <p:nvSpPr>
          <p:cNvPr id="18" name="Text 11"/>
          <p:cNvSpPr txBox="1"/>
          <p:nvPr/>
        </p:nvSpPr>
        <p:spPr>
          <a:xfrm>
            <a:off x="7360920" y="3419856"/>
            <a:ext cx="4206240" cy="777240"/>
          </a:xfrm>
          <a:prstGeom prst="rect">
            <a:avLst/>
          </a:prstGeom>
          <a:noFill/>
          <a:ln/>
        </p:spPr>
        <p:txBody>
          <a:bodyPr wrap="square" lIns="0" tIns="0" rIns="0" bIns="0" rtlCol="0" anchor="ctr"/>
          <a:lstStyle/>
          <a:p>
            <a:pPr indent="0" marL="0">
              <a:buNone/>
            </a:pPr>
            <a:r>
              <a:rPr lang="ja-JP" altLang="en-US" sz="2000" b="1" dirty="0">
                <a:solidFill>
                  <a:schemeClr val="tx2"/>
                </a:solidFill>
              </a:rPr>
              <a:t>海外で生産する</a:t>
            </a:r>
            <a:endParaRPr lang="ja-JP" sz="2000" dirty="0"/>
          </a:p>
          <a:p>
            <a:pPr indent="0" marL="0">
              <a:buNone/>
            </a:pPr>
            <a:r>
              <a:rPr lang="ja-JP" altLang="en-US" sz="1600" dirty="0">
                <a:solidFill>
                  <a:schemeClr val="accent4"/>
                </a:solidFill>
              </a:rPr>
              <a:t>現地企業や拠点と協力</a:t>
            </a:r>
            <a:endParaRPr lang="ja-JP" sz="2000" dirty="0"/>
          </a:p>
        </p:txBody>
      </p:sp>
      <p:sp>
        <p:nvSpPr>
          <p:cNvPr id="19" name="Shape 12"/>
          <p:cNvSpPr/>
          <p:nvPr/>
        </p:nvSpPr>
        <p:spPr>
          <a:xfrm>
            <a:off x="6537960" y="4306824"/>
            <a:ext cx="5102352" cy="777240"/>
          </a:xfrm>
          <a:prstGeom prst="roundRect">
            <a:avLst>
              <a:gd name="adj" fmla="val 14118"/>
            </a:avLst>
          </a:prstGeom>
          <a:solidFill>
            <a:srgbClr val="FCEBD3"/>
          </a:solidFill>
          <a:ln/>
        </p:spPr>
      </p:sp>
      <p:sp>
        <p:nvSpPr>
          <p:cNvPr id="20" name="Shape 13"/>
          <p:cNvSpPr/>
          <p:nvPr/>
        </p:nvSpPr>
        <p:spPr>
          <a:xfrm>
            <a:off x="6675120" y="4416552"/>
            <a:ext cx="548640" cy="548640"/>
          </a:xfrm>
          <a:prstGeom prst="ellipse">
            <a:avLst/>
          </a:prstGeom>
          <a:solidFill>
            <a:schemeClr val="accent3"/>
          </a:solidFill>
          <a:ln/>
        </p:spPr>
      </p:sp>
      <p:pic>
        <p:nvPicPr>
          <p:cNvPr id="21" name="Image 4" descr="TbCurrencyYen">    </p:cNvPr>
          <p:cNvPicPr>
            <a:picLocks noChangeAspect="1"/>
          </p:cNvPicPr>
          <p:nvPr/>
        </p:nvPicPr>
        <p:blipFill>
          <a:blip r:embed="rId5"/>
          <a:stretch>
            <a:fillRect/>
          </a:stretch>
        </p:blipFill>
        <p:spPr>
          <a:xfrm>
            <a:off x="6795821" y="4537253"/>
            <a:ext cx="307238" cy="307238"/>
          </a:xfrm>
          <a:prstGeom prst="rect">
            <a:avLst/>
          </a:prstGeom>
        </p:spPr>
      </p:pic>
      <p:sp>
        <p:nvSpPr>
          <p:cNvPr id="22" name="Text 14"/>
          <p:cNvSpPr txBox="1"/>
          <p:nvPr/>
        </p:nvSpPr>
        <p:spPr>
          <a:xfrm>
            <a:off x="7360920" y="4306824"/>
            <a:ext cx="4206240" cy="777240"/>
          </a:xfrm>
          <a:prstGeom prst="rect">
            <a:avLst/>
          </a:prstGeom>
          <a:noFill/>
          <a:ln/>
        </p:spPr>
        <p:txBody>
          <a:bodyPr wrap="square" lIns="0" tIns="0" rIns="0" bIns="0" rtlCol="0" anchor="ctr"/>
          <a:lstStyle/>
          <a:p>
            <a:pPr indent="0" marL="0">
              <a:buNone/>
            </a:pPr>
            <a:r>
              <a:rPr lang="ja-JP" altLang="en-US" sz="2000" b="1" dirty="0">
                <a:solidFill>
                  <a:schemeClr val="tx2"/>
                </a:solidFill>
              </a:rPr>
              <a:t>為替・関税・需給の変化が影響する</a:t>
            </a:r>
            <a:endParaRPr lang="ja-JP" sz="2000" dirty="0"/>
          </a:p>
        </p:txBody>
      </p:sp>
      <p:sp>
        <p:nvSpPr>
          <p:cNvPr id="23" name="Text 15"/>
          <p:cNvSpPr txBox="1"/>
          <p:nvPr/>
        </p:nvSpPr>
        <p:spPr>
          <a:xfrm>
            <a:off x="6537960" y="5257800"/>
            <a:ext cx="5102352" cy="548640"/>
          </a:xfrm>
          <a:prstGeom prst="rect">
            <a:avLst/>
          </a:prstGeom>
          <a:noFill/>
          <a:ln/>
        </p:spPr>
        <p:txBody>
          <a:bodyPr wrap="square" lIns="0" tIns="0" rIns="0" bIns="0" rtlCol="0" anchor="ctr"/>
          <a:lstStyle/>
          <a:p>
            <a:pPr indent="0" marL="0">
              <a:buNone/>
            </a:pPr>
            <a:r>
              <a:rPr lang="ja-JP" altLang="en-US" sz="1800" b="1" dirty="0">
                <a:solidFill>
                  <a:schemeClr val="accent1"/>
                </a:solidFill>
              </a:rPr>
              <a:t>国内工場だけでなく、</a:t>
            </a:r>
            <a:endParaRPr lang="ja-JP" sz="1800" dirty="0"/>
          </a:p>
          <a:p>
            <a:pPr indent="0" marL="0">
              <a:buNone/>
            </a:pPr>
            <a:r>
              <a:rPr lang="ja-JP" altLang="en-US" sz="1800" b="1" dirty="0">
                <a:solidFill>
                  <a:schemeClr val="accent1"/>
                </a:solidFill>
              </a:rPr>
              <a:t>国際的なサプライチェーンを見る。</a:t>
            </a:r>
            <a:endParaRPr lang="ja-JP" sz="18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03｜金属業界の全体像を理解する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同じ金属業界でも、儲け方は違う</a:t>
            </a:r>
            <a:endParaRPr lang="en-US" sz="3000" dirty="0"/>
          </a:p>
        </p:txBody>
      </p:sp>
      <p:sp>
        <p:nvSpPr>
          <p:cNvPr id="5" name="Shape 2"/>
          <p:cNvSpPr/>
          <p:nvPr/>
        </p:nvSpPr>
        <p:spPr>
          <a:xfrm>
            <a:off x="548640" y="1645920"/>
            <a:ext cx="2615184" cy="914400"/>
          </a:xfrm>
          <a:prstGeom prst="roundRect">
            <a:avLst>
              <a:gd name="adj" fmla="val 14000"/>
            </a:avLst>
          </a:prstGeom>
          <a:solidFill>
            <a:schemeClr val="tx2"/>
          </a:solidFill>
          <a:ln/>
        </p:spPr>
      </p:sp>
      <p:pic>
        <p:nvPicPr>
          <p:cNvPr id="6" name="Image 0" descr="TbPick">    </p:cNvPr>
          <p:cNvPicPr>
            <a:picLocks noChangeAspect="1"/>
          </p:cNvPicPr>
          <p:nvPr/>
        </p:nvPicPr>
        <p:blipFill>
          <a:blip r:embed="rId1"/>
          <a:stretch>
            <a:fillRect/>
          </a:stretch>
        </p:blipFill>
        <p:spPr>
          <a:xfrm>
            <a:off x="777240" y="1856232"/>
            <a:ext cx="502920" cy="502920"/>
          </a:xfrm>
          <a:prstGeom prst="rect">
            <a:avLst/>
          </a:prstGeom>
        </p:spPr>
      </p:pic>
      <p:sp>
        <p:nvSpPr>
          <p:cNvPr id="7" name="Text 3"/>
          <p:cNvSpPr txBox="1"/>
          <p:nvPr/>
        </p:nvSpPr>
        <p:spPr>
          <a:xfrm>
            <a:off x="1463040" y="1645920"/>
            <a:ext cx="1645920" cy="914400"/>
          </a:xfrm>
          <a:prstGeom prst="rect">
            <a:avLst/>
          </a:prstGeom>
          <a:noFill/>
          <a:ln/>
        </p:spPr>
        <p:txBody>
          <a:bodyPr wrap="square" lIns="0" tIns="0" rIns="0" bIns="0" rtlCol="0" anchor="ctr"/>
          <a:lstStyle/>
          <a:p>
            <a:pPr indent="0" marL="0">
              <a:buNone/>
            </a:pPr>
            <a:r>
              <a:rPr lang="ja-JP" altLang="en-US" sz="2600" b="1" dirty="0">
                <a:solidFill>
                  <a:schemeClr val="bg1"/>
                </a:solidFill>
              </a:rPr>
              <a:t>鉱山</a:t>
            </a:r>
            <a:endParaRPr lang="ja-JP" sz="2600" dirty="0"/>
          </a:p>
        </p:txBody>
      </p:sp>
      <p:sp>
        <p:nvSpPr>
          <p:cNvPr id="8" name="Shape 4"/>
          <p:cNvSpPr/>
          <p:nvPr/>
        </p:nvSpPr>
        <p:spPr>
          <a:xfrm>
            <a:off x="548640" y="2743200"/>
            <a:ext cx="2615184" cy="1078992"/>
          </a:xfrm>
          <a:prstGeom prst="roundRect">
            <a:avLst>
              <a:gd name="adj" fmla="val 10169"/>
            </a:avLst>
          </a:prstGeom>
          <a:solidFill>
            <a:schemeClr val="bg2"/>
          </a:solidFill>
          <a:ln/>
        </p:spPr>
      </p:sp>
      <p:sp>
        <p:nvSpPr>
          <p:cNvPr id="9" name="Text 5"/>
          <p:cNvSpPr txBox="1"/>
          <p:nvPr/>
        </p:nvSpPr>
        <p:spPr>
          <a:xfrm>
            <a:off x="731520" y="2852928"/>
            <a:ext cx="8686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ja-JP" altLang="en-US" sz="1500" b="1" dirty="0">
                <a:solidFill>
                  <a:schemeClr val="bg1"/>
                </a:solidFill>
              </a:rPr>
              <a:t>売上</a:t>
            </a:r>
            <a:endParaRPr lang="ja-JP" sz="1500" dirty="0"/>
          </a:p>
        </p:txBody>
      </p:sp>
      <p:sp>
        <p:nvSpPr>
          <p:cNvPr id="10" name="Text 6"/>
          <p:cNvSpPr txBox="1"/>
          <p:nvPr/>
        </p:nvSpPr>
        <p:spPr>
          <a:xfrm>
            <a:off x="731520" y="3246120"/>
            <a:ext cx="2331720" cy="530352"/>
          </a:xfrm>
          <a:prstGeom prst="rect">
            <a:avLst/>
          </a:prstGeom>
          <a:noFill/>
          <a:ln/>
        </p:spPr>
        <p:txBody>
          <a:bodyPr wrap="square" lIns="0" tIns="0" rIns="0" bIns="0" rtlCol="0" anchor="ctr"/>
          <a:lstStyle/>
          <a:p>
            <a:pPr indent="0" marL="0">
              <a:buNone/>
            </a:pPr>
            <a:r>
              <a:rPr lang="ja-JP" altLang="en-US" sz="1700" b="1" dirty="0">
                <a:solidFill>
                  <a:schemeClr val="tx2"/>
                </a:solidFill>
              </a:rPr>
              <a:t>金属価格 × 生産量</a:t>
            </a:r>
            <a:endParaRPr lang="ja-JP" sz="1700" dirty="0"/>
          </a:p>
        </p:txBody>
      </p:sp>
      <p:sp>
        <p:nvSpPr>
          <p:cNvPr id="11" name="Shape 7"/>
          <p:cNvSpPr/>
          <p:nvPr/>
        </p:nvSpPr>
        <p:spPr>
          <a:xfrm>
            <a:off x="548640" y="3959352"/>
            <a:ext cx="2615184" cy="1078992"/>
          </a:xfrm>
          <a:prstGeom prst="roundRect">
            <a:avLst>
              <a:gd name="adj" fmla="val 10169"/>
            </a:avLst>
          </a:prstGeom>
          <a:solidFill>
            <a:schemeClr val="bg2"/>
          </a:solidFill>
          <a:ln/>
        </p:spPr>
      </p:sp>
      <p:sp>
        <p:nvSpPr>
          <p:cNvPr id="12" name="Text 8"/>
          <p:cNvSpPr txBox="1"/>
          <p:nvPr/>
        </p:nvSpPr>
        <p:spPr>
          <a:xfrm>
            <a:off x="731520" y="4069080"/>
            <a:ext cx="8686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500" b="1" dirty="0">
                <a:solidFill>
                  <a:schemeClr val="tx2"/>
                </a:solidFill>
              </a:rPr>
              <a:t>費用</a:t>
            </a:r>
            <a:endParaRPr lang="ja-JP" sz="1500" dirty="0"/>
          </a:p>
        </p:txBody>
      </p:sp>
      <p:sp>
        <p:nvSpPr>
          <p:cNvPr id="13" name="Text 9"/>
          <p:cNvSpPr txBox="1"/>
          <p:nvPr/>
        </p:nvSpPr>
        <p:spPr>
          <a:xfrm>
            <a:off x="731520" y="4462272"/>
            <a:ext cx="2331720" cy="530352"/>
          </a:xfrm>
          <a:prstGeom prst="rect">
            <a:avLst/>
          </a:prstGeom>
          <a:noFill/>
          <a:ln/>
        </p:spPr>
        <p:txBody>
          <a:bodyPr wrap="square" lIns="0" tIns="0" rIns="0" bIns="0" rtlCol="0" anchor="ctr"/>
          <a:lstStyle/>
          <a:p>
            <a:pPr indent="0" marL="0">
              <a:buNone/>
            </a:pPr>
            <a:r>
              <a:rPr lang="ja-JP" altLang="en-US" sz="1700" b="1" dirty="0">
                <a:solidFill>
                  <a:schemeClr val="tx2"/>
                </a:solidFill>
              </a:rPr>
              <a:t>採掘・開発費</a:t>
            </a:r>
            <a:endParaRPr lang="ja-JP" sz="1700" dirty="0"/>
          </a:p>
        </p:txBody>
      </p:sp>
      <p:sp>
        <p:nvSpPr>
          <p:cNvPr id="14" name="Text 10"/>
          <p:cNvSpPr txBox="1"/>
          <p:nvPr/>
        </p:nvSpPr>
        <p:spPr>
          <a:xfrm>
            <a:off x="1645920" y="3822192"/>
            <a:ext cx="457200" cy="274320"/>
          </a:xfrm>
          <a:prstGeom prst="rect">
            <a:avLst/>
          </a:prstGeom>
          <a:noFill/>
          <a:ln/>
        </p:spPr>
        <p:txBody>
          <a:bodyPr wrap="square" lIns="0" tIns="0" rIns="0" bIns="0" rtlCol="0" anchor="ctr"/>
          <a:lstStyle/>
          <a:p>
            <a:pPr algn="ctr" indent="0" marL="0">
              <a:buNone/>
            </a:pPr>
            <a:r>
              <a:rPr lang="ja-JP" altLang="en-US" sz="1800" b="1" dirty="0">
                <a:solidFill>
                  <a:schemeClr val="accent4"/>
                </a:solidFill>
              </a:rPr>
              <a:t>−</a:t>
            </a:r>
            <a:endParaRPr lang="ja-JP" sz="1800" dirty="0"/>
          </a:p>
        </p:txBody>
      </p:sp>
      <p:sp>
        <p:nvSpPr>
          <p:cNvPr id="15" name="Shape 11"/>
          <p:cNvSpPr/>
          <p:nvPr/>
        </p:nvSpPr>
        <p:spPr>
          <a:xfrm>
            <a:off x="3374136" y="1645920"/>
            <a:ext cx="2615184" cy="914400"/>
          </a:xfrm>
          <a:prstGeom prst="roundRect">
            <a:avLst>
              <a:gd name="adj" fmla="val 14000"/>
            </a:avLst>
          </a:prstGeom>
          <a:solidFill>
            <a:schemeClr val="tx2"/>
          </a:solidFill>
          <a:ln/>
        </p:spPr>
      </p:sp>
      <p:pic>
        <p:nvPicPr>
          <p:cNvPr id="16" name="Image 1" descr="TbFlame">    </p:cNvPr>
          <p:cNvPicPr>
            <a:picLocks noChangeAspect="1"/>
          </p:cNvPicPr>
          <p:nvPr/>
        </p:nvPicPr>
        <p:blipFill>
          <a:blip r:embed="rId2"/>
          <a:stretch>
            <a:fillRect/>
          </a:stretch>
        </p:blipFill>
        <p:spPr>
          <a:xfrm>
            <a:off x="3602736" y="1856232"/>
            <a:ext cx="502920" cy="502920"/>
          </a:xfrm>
          <a:prstGeom prst="rect">
            <a:avLst/>
          </a:prstGeom>
        </p:spPr>
      </p:pic>
      <p:sp>
        <p:nvSpPr>
          <p:cNvPr id="17" name="Text 12"/>
          <p:cNvSpPr txBox="1"/>
          <p:nvPr/>
        </p:nvSpPr>
        <p:spPr>
          <a:xfrm>
            <a:off x="4288536" y="1645920"/>
            <a:ext cx="1645920" cy="914400"/>
          </a:xfrm>
          <a:prstGeom prst="rect">
            <a:avLst/>
          </a:prstGeom>
          <a:noFill/>
          <a:ln/>
        </p:spPr>
        <p:txBody>
          <a:bodyPr wrap="square" lIns="0" tIns="0" rIns="0" bIns="0" rtlCol="0" anchor="ctr"/>
          <a:lstStyle/>
          <a:p>
            <a:pPr indent="0" marL="0">
              <a:buNone/>
            </a:pPr>
            <a:r>
              <a:rPr lang="ja-JP" altLang="en-US" sz="2600" b="1" dirty="0">
                <a:solidFill>
                  <a:schemeClr val="bg1"/>
                </a:solidFill>
              </a:rPr>
              <a:t>製鉄</a:t>
            </a:r>
            <a:endParaRPr lang="ja-JP" sz="2600" dirty="0"/>
          </a:p>
        </p:txBody>
      </p:sp>
      <p:sp>
        <p:nvSpPr>
          <p:cNvPr id="18" name="Shape 13"/>
          <p:cNvSpPr/>
          <p:nvPr/>
        </p:nvSpPr>
        <p:spPr>
          <a:xfrm>
            <a:off x="3374136" y="2743200"/>
            <a:ext cx="2615184" cy="1078992"/>
          </a:xfrm>
          <a:prstGeom prst="roundRect">
            <a:avLst>
              <a:gd name="adj" fmla="val 10169"/>
            </a:avLst>
          </a:prstGeom>
          <a:solidFill>
            <a:schemeClr val="bg2"/>
          </a:solidFill>
          <a:ln/>
        </p:spPr>
      </p:sp>
      <p:sp>
        <p:nvSpPr>
          <p:cNvPr id="19" name="Text 14"/>
          <p:cNvSpPr txBox="1"/>
          <p:nvPr/>
        </p:nvSpPr>
        <p:spPr>
          <a:xfrm>
            <a:off x="3557016" y="2852928"/>
            <a:ext cx="8686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ja-JP" altLang="en-US" sz="1500" b="1" dirty="0">
                <a:solidFill>
                  <a:schemeClr val="bg1"/>
                </a:solidFill>
              </a:rPr>
              <a:t>売上</a:t>
            </a:r>
            <a:endParaRPr lang="ja-JP" sz="1500" dirty="0"/>
          </a:p>
        </p:txBody>
      </p:sp>
      <p:sp>
        <p:nvSpPr>
          <p:cNvPr id="20" name="Text 15"/>
          <p:cNvSpPr txBox="1"/>
          <p:nvPr/>
        </p:nvSpPr>
        <p:spPr>
          <a:xfrm>
            <a:off x="3557016" y="3246120"/>
            <a:ext cx="2331720" cy="530352"/>
          </a:xfrm>
          <a:prstGeom prst="rect">
            <a:avLst/>
          </a:prstGeom>
          <a:noFill/>
          <a:ln/>
        </p:spPr>
        <p:txBody>
          <a:bodyPr wrap="square" lIns="0" tIns="0" rIns="0" bIns="0" rtlCol="0" anchor="ctr"/>
          <a:lstStyle/>
          <a:p>
            <a:pPr indent="0" marL="0">
              <a:buNone/>
            </a:pPr>
            <a:r>
              <a:rPr lang="ja-JP" altLang="en-US" sz="1700" b="1" dirty="0">
                <a:solidFill>
                  <a:schemeClr val="tx2"/>
                </a:solidFill>
              </a:rPr>
              <a:t>販売単価 × 数量</a:t>
            </a:r>
            <a:endParaRPr lang="ja-JP" sz="1700" dirty="0"/>
          </a:p>
        </p:txBody>
      </p:sp>
      <p:sp>
        <p:nvSpPr>
          <p:cNvPr id="21" name="Shape 16"/>
          <p:cNvSpPr/>
          <p:nvPr/>
        </p:nvSpPr>
        <p:spPr>
          <a:xfrm>
            <a:off x="3374136" y="3959352"/>
            <a:ext cx="2615184" cy="1078992"/>
          </a:xfrm>
          <a:prstGeom prst="roundRect">
            <a:avLst>
              <a:gd name="adj" fmla="val 10169"/>
            </a:avLst>
          </a:prstGeom>
          <a:solidFill>
            <a:schemeClr val="bg2"/>
          </a:solidFill>
          <a:ln/>
        </p:spPr>
      </p:sp>
      <p:sp>
        <p:nvSpPr>
          <p:cNvPr id="22" name="Text 17"/>
          <p:cNvSpPr txBox="1"/>
          <p:nvPr/>
        </p:nvSpPr>
        <p:spPr>
          <a:xfrm>
            <a:off x="3557016" y="4069080"/>
            <a:ext cx="8686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500" b="1" dirty="0">
                <a:solidFill>
                  <a:schemeClr val="tx2"/>
                </a:solidFill>
              </a:rPr>
              <a:t>費用</a:t>
            </a:r>
            <a:endParaRPr lang="ja-JP" sz="1500" dirty="0"/>
          </a:p>
        </p:txBody>
      </p:sp>
      <p:sp>
        <p:nvSpPr>
          <p:cNvPr id="23" name="Text 18"/>
          <p:cNvSpPr txBox="1"/>
          <p:nvPr/>
        </p:nvSpPr>
        <p:spPr>
          <a:xfrm>
            <a:off x="3557016" y="4462272"/>
            <a:ext cx="2331720" cy="530352"/>
          </a:xfrm>
          <a:prstGeom prst="rect">
            <a:avLst/>
          </a:prstGeom>
          <a:noFill/>
          <a:ln/>
        </p:spPr>
        <p:txBody>
          <a:bodyPr wrap="square" lIns="0" tIns="0" rIns="0" bIns="0" rtlCol="0" anchor="ctr"/>
          <a:lstStyle/>
          <a:p>
            <a:pPr indent="0" marL="0">
              <a:buNone/>
            </a:pPr>
            <a:r>
              <a:rPr lang="ja-JP" altLang="en-US" sz="1700" b="1" dirty="0">
                <a:solidFill>
                  <a:schemeClr val="tx2"/>
                </a:solidFill>
              </a:rPr>
              <a:t>原料・エネルギー・</a:t>
            </a:r>
            <a:endParaRPr lang="ja-JP" sz="1700" dirty="0"/>
          </a:p>
          <a:p>
            <a:pPr indent="0" marL="0">
              <a:buNone/>
            </a:pPr>
            <a:r>
              <a:rPr lang="ja-JP" altLang="en-US" sz="1700" b="1" dirty="0">
                <a:solidFill>
                  <a:schemeClr val="tx2"/>
                </a:solidFill>
              </a:rPr>
              <a:t>固定費</a:t>
            </a:r>
            <a:endParaRPr lang="ja-JP" sz="1700" dirty="0"/>
          </a:p>
        </p:txBody>
      </p:sp>
      <p:sp>
        <p:nvSpPr>
          <p:cNvPr id="24" name="Text 19"/>
          <p:cNvSpPr txBox="1"/>
          <p:nvPr/>
        </p:nvSpPr>
        <p:spPr>
          <a:xfrm>
            <a:off x="4471416" y="3822192"/>
            <a:ext cx="457200" cy="274320"/>
          </a:xfrm>
          <a:prstGeom prst="rect">
            <a:avLst/>
          </a:prstGeom>
          <a:noFill/>
          <a:ln/>
        </p:spPr>
        <p:txBody>
          <a:bodyPr wrap="square" lIns="0" tIns="0" rIns="0" bIns="0" rtlCol="0" anchor="ctr"/>
          <a:lstStyle/>
          <a:p>
            <a:pPr algn="ctr" indent="0" marL="0">
              <a:buNone/>
            </a:pPr>
            <a:r>
              <a:rPr lang="ja-JP" altLang="en-US" sz="1800" b="1" dirty="0">
                <a:solidFill>
                  <a:schemeClr val="accent4"/>
                </a:solidFill>
              </a:rPr>
              <a:t>−</a:t>
            </a:r>
            <a:endParaRPr lang="ja-JP" sz="1800" dirty="0"/>
          </a:p>
        </p:txBody>
      </p:sp>
      <p:sp>
        <p:nvSpPr>
          <p:cNvPr id="25" name="Shape 20"/>
          <p:cNvSpPr/>
          <p:nvPr/>
        </p:nvSpPr>
        <p:spPr>
          <a:xfrm>
            <a:off x="6199632" y="1645920"/>
            <a:ext cx="2615184" cy="914400"/>
          </a:xfrm>
          <a:prstGeom prst="roundRect">
            <a:avLst>
              <a:gd name="adj" fmla="val 14000"/>
            </a:avLst>
          </a:prstGeom>
          <a:solidFill>
            <a:schemeClr val="tx2"/>
          </a:solidFill>
          <a:ln/>
        </p:spPr>
      </p:sp>
      <p:pic>
        <p:nvPicPr>
          <p:cNvPr id="26" name="Image 2" descr="TbSettings">    </p:cNvPr>
          <p:cNvPicPr>
            <a:picLocks noChangeAspect="1"/>
          </p:cNvPicPr>
          <p:nvPr/>
        </p:nvPicPr>
        <p:blipFill>
          <a:blip r:embed="rId3"/>
          <a:stretch>
            <a:fillRect/>
          </a:stretch>
        </p:blipFill>
        <p:spPr>
          <a:xfrm>
            <a:off x="6428232" y="1856232"/>
            <a:ext cx="502920" cy="502920"/>
          </a:xfrm>
          <a:prstGeom prst="rect">
            <a:avLst/>
          </a:prstGeom>
        </p:spPr>
      </p:pic>
      <p:sp>
        <p:nvSpPr>
          <p:cNvPr id="27" name="Text 21"/>
          <p:cNvSpPr txBox="1"/>
          <p:nvPr/>
        </p:nvSpPr>
        <p:spPr>
          <a:xfrm>
            <a:off x="7114032" y="1645920"/>
            <a:ext cx="1645920" cy="914400"/>
          </a:xfrm>
          <a:prstGeom prst="rect">
            <a:avLst/>
          </a:prstGeom>
          <a:noFill/>
          <a:ln/>
        </p:spPr>
        <p:txBody>
          <a:bodyPr wrap="square" lIns="0" tIns="0" rIns="0" bIns="0" rtlCol="0" anchor="ctr"/>
          <a:lstStyle/>
          <a:p>
            <a:pPr indent="0" marL="0">
              <a:buNone/>
            </a:pPr>
            <a:r>
              <a:rPr lang="ja-JP" altLang="en-US" sz="2600" b="1" dirty="0">
                <a:solidFill>
                  <a:schemeClr val="bg1"/>
                </a:solidFill>
              </a:rPr>
              <a:t>加工</a:t>
            </a:r>
            <a:endParaRPr lang="ja-JP" sz="2600" dirty="0"/>
          </a:p>
        </p:txBody>
      </p:sp>
      <p:sp>
        <p:nvSpPr>
          <p:cNvPr id="28" name="Shape 22"/>
          <p:cNvSpPr/>
          <p:nvPr/>
        </p:nvSpPr>
        <p:spPr>
          <a:xfrm>
            <a:off x="6199632" y="2743200"/>
            <a:ext cx="2615184" cy="1078992"/>
          </a:xfrm>
          <a:prstGeom prst="roundRect">
            <a:avLst>
              <a:gd name="adj" fmla="val 10169"/>
            </a:avLst>
          </a:prstGeom>
          <a:solidFill>
            <a:schemeClr val="bg2"/>
          </a:solidFill>
          <a:ln/>
        </p:spPr>
      </p:sp>
      <p:sp>
        <p:nvSpPr>
          <p:cNvPr id="29" name="Text 23"/>
          <p:cNvSpPr txBox="1"/>
          <p:nvPr/>
        </p:nvSpPr>
        <p:spPr>
          <a:xfrm>
            <a:off x="6382512" y="2852928"/>
            <a:ext cx="8686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ja-JP" altLang="en-US" sz="1500" b="1" dirty="0">
                <a:solidFill>
                  <a:schemeClr val="bg1"/>
                </a:solidFill>
              </a:rPr>
              <a:t>売上</a:t>
            </a:r>
            <a:endParaRPr lang="ja-JP" sz="1500" dirty="0"/>
          </a:p>
        </p:txBody>
      </p:sp>
      <p:sp>
        <p:nvSpPr>
          <p:cNvPr id="30" name="Text 24"/>
          <p:cNvSpPr txBox="1"/>
          <p:nvPr/>
        </p:nvSpPr>
        <p:spPr>
          <a:xfrm>
            <a:off x="6382512" y="3246120"/>
            <a:ext cx="2331720" cy="530352"/>
          </a:xfrm>
          <a:prstGeom prst="rect">
            <a:avLst/>
          </a:prstGeom>
          <a:noFill/>
          <a:ln/>
        </p:spPr>
        <p:txBody>
          <a:bodyPr wrap="square" lIns="0" tIns="0" rIns="0" bIns="0" rtlCol="0" anchor="ctr"/>
          <a:lstStyle/>
          <a:p>
            <a:pPr indent="0" marL="0">
              <a:buNone/>
            </a:pPr>
            <a:r>
              <a:rPr lang="ja-JP" altLang="en-US" sz="1700" b="1" dirty="0">
                <a:solidFill>
                  <a:schemeClr val="tx2"/>
                </a:solidFill>
              </a:rPr>
              <a:t>材料価格＋加工賃</a:t>
            </a:r>
            <a:endParaRPr lang="ja-JP" sz="1700" dirty="0"/>
          </a:p>
        </p:txBody>
      </p:sp>
      <p:sp>
        <p:nvSpPr>
          <p:cNvPr id="31" name="Shape 25"/>
          <p:cNvSpPr/>
          <p:nvPr/>
        </p:nvSpPr>
        <p:spPr>
          <a:xfrm>
            <a:off x="6199632" y="3959352"/>
            <a:ext cx="2615184" cy="1078992"/>
          </a:xfrm>
          <a:prstGeom prst="roundRect">
            <a:avLst>
              <a:gd name="adj" fmla="val 10169"/>
            </a:avLst>
          </a:prstGeom>
          <a:solidFill>
            <a:schemeClr val="bg2"/>
          </a:solidFill>
          <a:ln/>
        </p:spPr>
      </p:sp>
      <p:sp>
        <p:nvSpPr>
          <p:cNvPr id="32" name="Text 26"/>
          <p:cNvSpPr txBox="1"/>
          <p:nvPr/>
        </p:nvSpPr>
        <p:spPr>
          <a:xfrm>
            <a:off x="6382512" y="4069080"/>
            <a:ext cx="868680" cy="365760"/>
          </a:xfrm>
          <a:prstGeom prst="roundRect">
            <a:avLst>
              <a:gd name="adj" fmla="val 50000"/>
            </a:avLst>
          </a:prstGeom>
          <a:solidFill>
            <a:schemeClr val="tx2"/>
          </a:solidFill>
          <a:ln/>
        </p:spPr>
        <p:txBody>
          <a:bodyPr wrap="square" lIns="0" tIns="0" rIns="0" bIns="0" rtlCol="0" anchor="ctr"/>
          <a:lstStyle/>
          <a:p>
            <a:pPr algn="ctr" indent="0" marL="0">
              <a:buNone/>
            </a:pPr>
            <a:r>
              <a:rPr lang="ja-JP" altLang="en-US" sz="1500" b="1" dirty="0">
                <a:solidFill>
                  <a:schemeClr val="bg1"/>
                </a:solidFill>
              </a:rPr>
              <a:t>価値</a:t>
            </a:r>
            <a:endParaRPr lang="ja-JP" sz="1500" dirty="0"/>
          </a:p>
        </p:txBody>
      </p:sp>
      <p:sp>
        <p:nvSpPr>
          <p:cNvPr id="33" name="Text 27"/>
          <p:cNvSpPr txBox="1"/>
          <p:nvPr/>
        </p:nvSpPr>
        <p:spPr>
          <a:xfrm>
            <a:off x="6382512" y="4462272"/>
            <a:ext cx="2331720" cy="530352"/>
          </a:xfrm>
          <a:prstGeom prst="rect">
            <a:avLst/>
          </a:prstGeom>
          <a:noFill/>
          <a:ln/>
        </p:spPr>
        <p:txBody>
          <a:bodyPr wrap="square" lIns="0" tIns="0" rIns="0" bIns="0" rtlCol="0" anchor="ctr"/>
          <a:lstStyle/>
          <a:p>
            <a:pPr indent="0" marL="0">
              <a:buNone/>
            </a:pPr>
            <a:r>
              <a:rPr lang="ja-JP" altLang="en-US" sz="1700" b="1" dirty="0">
                <a:solidFill>
                  <a:schemeClr val="tx2"/>
                </a:solidFill>
              </a:rPr>
              <a:t>品質・歩留まりが価値</a:t>
            </a:r>
            <a:endParaRPr lang="ja-JP" sz="1700" dirty="0"/>
          </a:p>
        </p:txBody>
      </p:sp>
      <p:sp>
        <p:nvSpPr>
          <p:cNvPr id="34" name="Text 28"/>
          <p:cNvSpPr txBox="1"/>
          <p:nvPr/>
        </p:nvSpPr>
        <p:spPr>
          <a:xfrm>
            <a:off x="7296912" y="3822192"/>
            <a:ext cx="457200" cy="274320"/>
          </a:xfrm>
          <a:prstGeom prst="rect">
            <a:avLst/>
          </a:prstGeom>
          <a:noFill/>
          <a:ln/>
        </p:spPr>
        <p:txBody>
          <a:bodyPr wrap="square" lIns="0" tIns="0" rIns="0" bIns="0" rtlCol="0" anchor="ctr"/>
          <a:lstStyle/>
          <a:p>
            <a:pPr algn="ctr" indent="0" marL="0">
              <a:buNone/>
            </a:pPr>
            <a:r>
              <a:rPr lang="ja-JP" altLang="en-US" sz="1800" b="1" dirty="0">
                <a:solidFill>
                  <a:schemeClr val="accent4"/>
                </a:solidFill>
              </a:rPr>
              <a:t>＋</a:t>
            </a:r>
            <a:endParaRPr lang="ja-JP" sz="1800" dirty="0"/>
          </a:p>
        </p:txBody>
      </p:sp>
      <p:sp>
        <p:nvSpPr>
          <p:cNvPr id="35" name="Shape 29"/>
          <p:cNvSpPr/>
          <p:nvPr/>
        </p:nvSpPr>
        <p:spPr>
          <a:xfrm>
            <a:off x="9025128" y="1645920"/>
            <a:ext cx="2615184" cy="914400"/>
          </a:xfrm>
          <a:prstGeom prst="roundRect">
            <a:avLst>
              <a:gd name="adj" fmla="val 14000"/>
            </a:avLst>
          </a:prstGeom>
          <a:solidFill>
            <a:schemeClr val="accent1"/>
          </a:solidFill>
          <a:ln/>
        </p:spPr>
      </p:sp>
      <p:pic>
        <p:nvPicPr>
          <p:cNvPr id="36" name="Image 3" descr="TbShip">    </p:cNvPr>
          <p:cNvPicPr>
            <a:picLocks noChangeAspect="1"/>
          </p:cNvPicPr>
          <p:nvPr/>
        </p:nvPicPr>
        <p:blipFill>
          <a:blip r:embed="rId4"/>
          <a:stretch>
            <a:fillRect/>
          </a:stretch>
        </p:blipFill>
        <p:spPr>
          <a:xfrm>
            <a:off x="9253728" y="1856232"/>
            <a:ext cx="502920" cy="502920"/>
          </a:xfrm>
          <a:prstGeom prst="rect">
            <a:avLst/>
          </a:prstGeom>
        </p:spPr>
      </p:pic>
      <p:sp>
        <p:nvSpPr>
          <p:cNvPr id="37" name="Text 30"/>
          <p:cNvSpPr txBox="1"/>
          <p:nvPr/>
        </p:nvSpPr>
        <p:spPr>
          <a:xfrm>
            <a:off x="9939528" y="1645920"/>
            <a:ext cx="1645920" cy="914400"/>
          </a:xfrm>
          <a:prstGeom prst="rect">
            <a:avLst/>
          </a:prstGeom>
          <a:noFill/>
          <a:ln/>
        </p:spPr>
        <p:txBody>
          <a:bodyPr wrap="square" lIns="0" tIns="0" rIns="0" bIns="0" rtlCol="0" anchor="ctr"/>
          <a:lstStyle/>
          <a:p>
            <a:pPr indent="0" marL="0">
              <a:buNone/>
            </a:pPr>
            <a:r>
              <a:rPr lang="ja-JP" altLang="en-US" sz="2600" b="1" dirty="0">
                <a:solidFill>
                  <a:schemeClr val="bg1"/>
                </a:solidFill>
              </a:rPr>
              <a:t>商社</a:t>
            </a:r>
            <a:endParaRPr lang="ja-JP" sz="2600" dirty="0"/>
          </a:p>
        </p:txBody>
      </p:sp>
      <p:sp>
        <p:nvSpPr>
          <p:cNvPr id="38" name="Shape 31"/>
          <p:cNvSpPr/>
          <p:nvPr/>
        </p:nvSpPr>
        <p:spPr>
          <a:xfrm>
            <a:off x="9025128" y="2743200"/>
            <a:ext cx="2615184" cy="2295144"/>
          </a:xfrm>
          <a:prstGeom prst="roundRect">
            <a:avLst>
              <a:gd name="adj" fmla="val 4781"/>
            </a:avLst>
          </a:prstGeom>
          <a:solidFill>
            <a:schemeClr val="bg2"/>
          </a:solidFill>
          <a:ln/>
        </p:spPr>
      </p:sp>
      <p:sp>
        <p:nvSpPr>
          <p:cNvPr id="39" name="Text 32"/>
          <p:cNvSpPr txBox="1"/>
          <p:nvPr/>
        </p:nvSpPr>
        <p:spPr>
          <a:xfrm>
            <a:off x="9208008" y="2880360"/>
            <a:ext cx="868680" cy="384048"/>
          </a:xfrm>
          <a:prstGeom prst="roundRect">
            <a:avLst>
              <a:gd name="adj" fmla="val 50000"/>
            </a:avLst>
          </a:prstGeom>
          <a:solidFill>
            <a:schemeClr val="tx2"/>
          </a:solidFill>
          <a:ln/>
        </p:spPr>
        <p:txBody>
          <a:bodyPr wrap="square" lIns="0" tIns="0" rIns="0" bIns="0" rtlCol="0" anchor="ctr"/>
          <a:lstStyle/>
          <a:p>
            <a:pPr algn="ctr" indent="0" marL="0">
              <a:buNone/>
            </a:pPr>
            <a:r>
              <a:rPr lang="ja-JP" altLang="en-US" sz="1500" b="1" dirty="0">
                <a:solidFill>
                  <a:schemeClr val="bg1"/>
                </a:solidFill>
              </a:rPr>
              <a:t>価値</a:t>
            </a:r>
            <a:endParaRPr lang="ja-JP" sz="1500" dirty="0"/>
          </a:p>
        </p:txBody>
      </p:sp>
      <p:sp>
        <p:nvSpPr>
          <p:cNvPr id="40" name="Text 33"/>
          <p:cNvSpPr txBox="1"/>
          <p:nvPr/>
        </p:nvSpPr>
        <p:spPr>
          <a:xfrm>
            <a:off x="9208008" y="3383280"/>
            <a:ext cx="2286000" cy="1371600"/>
          </a:xfrm>
          <a:prstGeom prst="rect">
            <a:avLst/>
          </a:prstGeom>
          <a:noFill/>
          <a:ln/>
        </p:spPr>
        <p:txBody>
          <a:bodyPr wrap="square" lIns="0" tIns="0" rIns="0" bIns="0" rtlCol="0" anchor="t"/>
          <a:lstStyle/>
          <a:p>
            <a:pPr indent="0" marL="0">
              <a:buNone/>
            </a:pPr>
            <a:r>
              <a:rPr lang="ja-JP" altLang="en-US" sz="1900" b="1" dirty="0">
                <a:solidFill>
                  <a:schemeClr val="tx2"/>
                </a:solidFill>
              </a:rPr>
              <a:t>取引・物流・加工・在庫管理による付加価値</a:t>
            </a:r>
            <a:endParaRPr lang="ja-JP" sz="1900" dirty="0"/>
          </a:p>
        </p:txBody>
      </p:sp>
      <p:sp>
        <p:nvSpPr>
          <p:cNvPr id="41" name="Shape 34"/>
          <p:cNvSpPr/>
          <p:nvPr/>
        </p:nvSpPr>
        <p:spPr>
          <a:xfrm>
            <a:off x="548640" y="5230368"/>
            <a:ext cx="11091672" cy="603504"/>
          </a:xfrm>
          <a:prstGeom prst="roundRect">
            <a:avLst>
              <a:gd name="adj" fmla="val 18182"/>
            </a:avLst>
          </a:prstGeom>
          <a:solidFill>
            <a:schemeClr val="bg2"/>
          </a:solidFill>
          <a:ln/>
        </p:spPr>
      </p:sp>
      <p:sp>
        <p:nvSpPr>
          <p:cNvPr id="42" name="Text 35"/>
          <p:cNvSpPr txBox="1"/>
          <p:nvPr/>
        </p:nvSpPr>
        <p:spPr>
          <a:xfrm>
            <a:off x="822960" y="5230368"/>
            <a:ext cx="10607040" cy="603504"/>
          </a:xfrm>
          <a:prstGeom prst="rect">
            <a:avLst/>
          </a:prstGeom>
          <a:noFill/>
          <a:ln/>
        </p:spPr>
        <p:txBody>
          <a:bodyPr wrap="square" lIns="0" tIns="0" rIns="0" bIns="0" rtlCol="0" anchor="ctr"/>
          <a:lstStyle/>
          <a:p>
            <a:pPr indent="0" marL="0">
              <a:buNone/>
            </a:pPr>
            <a:r>
              <a:rPr lang="ja-JP" altLang="en-US" sz="2100" b="1" dirty="0">
                <a:solidFill>
                  <a:schemeClr val="tx2"/>
                </a:solidFill>
              </a:rPr>
              <a:t>ビジネスモデルが違えば、同じ金属価格のニュースでも受ける影響が違う。</a:t>
            </a:r>
            <a:endParaRPr lang="ja-JP" sz="2100" dirty="0"/>
          </a:p>
        </p:txBody>
      </p:sp>
      <p:sp>
        <p:nvSpPr>
          <p:cNvPr id="43" name="Text 36"/>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※加工の価格の考え方（地金価格＋加工賃）の例。出典：UACJ FAQ</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03｜金属業界の全体像を理解する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売上が増えても、利益が減ることがある</a:t>
            </a:r>
            <a:endParaRPr lang="en-US" sz="3000" dirty="0"/>
          </a:p>
        </p:txBody>
      </p:sp>
      <p:sp>
        <p:nvSpPr>
          <p:cNvPr id="5" name="Text 2"/>
          <p:cNvSpPr txBox="1"/>
          <p:nvPr/>
        </p:nvSpPr>
        <p:spPr>
          <a:xfrm>
            <a:off x="548640" y="1600200"/>
            <a:ext cx="3566160" cy="438912"/>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800" b="1" dirty="0">
                <a:solidFill>
                  <a:schemeClr val="tx2"/>
                </a:solidFill>
              </a:rPr>
              <a:t>架空の計算例（単位：億円）</a:t>
            </a:r>
            <a:endParaRPr lang="ja-JP" sz="1800" dirty="0"/>
          </a:p>
        </p:txBody>
      </p:sp>
      <p:sp>
        <p:nvSpPr>
          <p:cNvPr id="6" name="Shape 3"/>
          <p:cNvSpPr/>
          <p:nvPr/>
        </p:nvSpPr>
        <p:spPr>
          <a:xfrm>
            <a:off x="5715000" y="2569464"/>
            <a:ext cx="219456" cy="219456"/>
          </a:xfrm>
          <a:prstGeom prst="roundRect">
            <a:avLst>
              <a:gd name="adj" fmla="val 12500"/>
            </a:avLst>
          </a:prstGeom>
          <a:solidFill>
            <a:schemeClr val="accent6"/>
          </a:solidFill>
          <a:ln/>
        </p:spPr>
      </p:sp>
      <p:sp>
        <p:nvSpPr>
          <p:cNvPr id="7" name="Text 4"/>
          <p:cNvSpPr txBox="1"/>
          <p:nvPr/>
        </p:nvSpPr>
        <p:spPr>
          <a:xfrm>
            <a:off x="5989320" y="2514600"/>
            <a:ext cx="1069848" cy="329184"/>
          </a:xfrm>
          <a:prstGeom prst="rect">
            <a:avLst/>
          </a:prstGeom>
          <a:noFill/>
          <a:ln/>
        </p:spPr>
        <p:txBody>
          <a:bodyPr wrap="square" lIns="0" tIns="0" rIns="0" bIns="0" rtlCol="0" anchor="ctr"/>
          <a:lstStyle/>
          <a:p>
            <a:pPr indent="0" marL="0">
              <a:buNone/>
            </a:pPr>
            <a:r>
              <a:rPr lang="ja-JP" altLang="en-US" sz="1300" dirty="0">
                <a:solidFill>
                  <a:schemeClr val="tx1"/>
                </a:solidFill>
              </a:rPr>
              <a:t>営業利益</a:t>
            </a:r>
            <a:endParaRPr lang="ja-JP" sz="1300" dirty="0"/>
          </a:p>
        </p:txBody>
      </p:sp>
      <p:sp>
        <p:nvSpPr>
          <p:cNvPr id="8" name="Shape 5"/>
          <p:cNvSpPr/>
          <p:nvPr/>
        </p:nvSpPr>
        <p:spPr>
          <a:xfrm>
            <a:off x="5715000" y="2980944"/>
            <a:ext cx="219456" cy="219456"/>
          </a:xfrm>
          <a:prstGeom prst="roundRect">
            <a:avLst>
              <a:gd name="adj" fmla="val 12500"/>
            </a:avLst>
          </a:prstGeom>
          <a:solidFill>
            <a:schemeClr val="accent2"/>
          </a:solidFill>
          <a:ln/>
        </p:spPr>
      </p:sp>
      <p:sp>
        <p:nvSpPr>
          <p:cNvPr id="9" name="Text 6"/>
          <p:cNvSpPr txBox="1"/>
          <p:nvPr/>
        </p:nvSpPr>
        <p:spPr>
          <a:xfrm>
            <a:off x="5989320" y="2926080"/>
            <a:ext cx="1069848" cy="329184"/>
          </a:xfrm>
          <a:prstGeom prst="rect">
            <a:avLst/>
          </a:prstGeom>
          <a:noFill/>
          <a:ln/>
        </p:spPr>
        <p:txBody>
          <a:bodyPr wrap="square" lIns="0" tIns="0" rIns="0" bIns="0" rtlCol="0" anchor="ctr"/>
          <a:lstStyle/>
          <a:p>
            <a:pPr indent="0" marL="0">
              <a:buNone/>
            </a:pPr>
            <a:r>
              <a:rPr lang="ja-JP" altLang="en-US" sz="1300" dirty="0">
                <a:solidFill>
                  <a:schemeClr val="tx1"/>
                </a:solidFill>
              </a:rPr>
              <a:t>固定費</a:t>
            </a:r>
            <a:endParaRPr lang="ja-JP" sz="1300" dirty="0"/>
          </a:p>
        </p:txBody>
      </p:sp>
      <p:sp>
        <p:nvSpPr>
          <p:cNvPr id="10" name="Shape 7"/>
          <p:cNvSpPr/>
          <p:nvPr/>
        </p:nvSpPr>
        <p:spPr>
          <a:xfrm>
            <a:off x="5715000" y="3392424"/>
            <a:ext cx="219456" cy="219456"/>
          </a:xfrm>
          <a:prstGeom prst="roundRect">
            <a:avLst>
              <a:gd name="adj" fmla="val 12500"/>
            </a:avLst>
          </a:prstGeom>
          <a:solidFill>
            <a:schemeClr val="accent1"/>
          </a:solidFill>
          <a:ln/>
        </p:spPr>
      </p:sp>
      <p:sp>
        <p:nvSpPr>
          <p:cNvPr id="11" name="Text 8"/>
          <p:cNvSpPr txBox="1"/>
          <p:nvPr/>
        </p:nvSpPr>
        <p:spPr>
          <a:xfrm>
            <a:off x="5989320" y="3337560"/>
            <a:ext cx="1069848" cy="329184"/>
          </a:xfrm>
          <a:prstGeom prst="rect">
            <a:avLst/>
          </a:prstGeom>
          <a:noFill/>
          <a:ln/>
        </p:spPr>
        <p:txBody>
          <a:bodyPr wrap="square" lIns="0" tIns="0" rIns="0" bIns="0" rtlCol="0" anchor="ctr"/>
          <a:lstStyle/>
          <a:p>
            <a:pPr indent="0" marL="0">
              <a:buNone/>
            </a:pPr>
            <a:r>
              <a:rPr lang="ja-JP" altLang="en-US" sz="1300" dirty="0">
                <a:solidFill>
                  <a:schemeClr val="tx1"/>
                </a:solidFill>
              </a:rPr>
              <a:t>その他変動費</a:t>
            </a:r>
            <a:endParaRPr lang="ja-JP" sz="1300" dirty="0"/>
          </a:p>
        </p:txBody>
      </p:sp>
      <p:sp>
        <p:nvSpPr>
          <p:cNvPr id="12" name="Shape 9"/>
          <p:cNvSpPr/>
          <p:nvPr/>
        </p:nvSpPr>
        <p:spPr>
          <a:xfrm>
            <a:off x="5715000" y="3803904"/>
            <a:ext cx="219456" cy="219456"/>
          </a:xfrm>
          <a:prstGeom prst="roundRect">
            <a:avLst>
              <a:gd name="adj" fmla="val 12500"/>
            </a:avLst>
          </a:prstGeom>
          <a:solidFill>
            <a:schemeClr val="tx2"/>
          </a:solidFill>
          <a:ln/>
        </p:spPr>
      </p:sp>
      <p:sp>
        <p:nvSpPr>
          <p:cNvPr id="13" name="Text 10"/>
          <p:cNvSpPr txBox="1"/>
          <p:nvPr/>
        </p:nvSpPr>
        <p:spPr>
          <a:xfrm>
            <a:off x="5989320" y="3749040"/>
            <a:ext cx="1069848" cy="329184"/>
          </a:xfrm>
          <a:prstGeom prst="rect">
            <a:avLst/>
          </a:prstGeom>
          <a:noFill/>
          <a:ln/>
        </p:spPr>
        <p:txBody>
          <a:bodyPr wrap="square" lIns="0" tIns="0" rIns="0" bIns="0" rtlCol="0" anchor="ctr"/>
          <a:lstStyle/>
          <a:p>
            <a:pPr indent="0" marL="0">
              <a:buNone/>
            </a:pPr>
            <a:r>
              <a:rPr lang="ja-JP" altLang="en-US" sz="1300" dirty="0">
                <a:solidFill>
                  <a:schemeClr val="tx1"/>
                </a:solidFill>
              </a:rPr>
              <a:t>原材料費</a:t>
            </a:r>
            <a:endParaRPr lang="ja-JP" sz="1300" dirty="0"/>
          </a:p>
        </p:txBody>
      </p:sp>
      <p:sp>
        <p:nvSpPr>
          <p:cNvPr id="14" name="Shape 11"/>
          <p:cNvSpPr/>
          <p:nvPr/>
        </p:nvSpPr>
        <p:spPr>
          <a:xfrm>
            <a:off x="5715000" y="4206240"/>
            <a:ext cx="219456" cy="219456"/>
          </a:xfrm>
          <a:prstGeom prst="roundRect">
            <a:avLst>
              <a:gd name="adj" fmla="val 12500"/>
            </a:avLst>
          </a:prstGeom>
          <a:solidFill>
            <a:schemeClr val="accent4"/>
          </a:solidFill>
          <a:ln/>
        </p:spPr>
      </p:sp>
      <p:sp>
        <p:nvSpPr>
          <p:cNvPr id="15" name="Text 12"/>
          <p:cNvSpPr txBox="1"/>
          <p:nvPr/>
        </p:nvSpPr>
        <p:spPr>
          <a:xfrm>
            <a:off x="5989320" y="4151376"/>
            <a:ext cx="1005840" cy="329184"/>
          </a:xfrm>
          <a:prstGeom prst="rect">
            <a:avLst/>
          </a:prstGeom>
          <a:noFill/>
          <a:ln/>
        </p:spPr>
        <p:txBody>
          <a:bodyPr wrap="square" lIns="0" tIns="0" rIns="0" bIns="0" rtlCol="0" anchor="ctr"/>
          <a:lstStyle/>
          <a:p>
            <a:pPr indent="0" marL="0">
              <a:buNone/>
            </a:pPr>
            <a:r>
              <a:rPr lang="ja-JP" altLang="en-US" sz="1300" dirty="0">
                <a:solidFill>
                  <a:schemeClr val="tx1"/>
                </a:solidFill>
              </a:rPr>
              <a:t>売上</a:t>
            </a:r>
            <a:endParaRPr lang="ja-JP" sz="1300" dirty="0"/>
          </a:p>
        </p:txBody>
      </p:sp>
      <p:sp>
        <p:nvSpPr>
          <p:cNvPr id="16" name="Shape 13"/>
          <p:cNvSpPr/>
          <p:nvPr/>
        </p:nvSpPr>
        <p:spPr>
          <a:xfrm>
            <a:off x="548640" y="5074920"/>
            <a:ext cx="5074920" cy="914"/>
          </a:xfrm>
          <a:prstGeom prst="line">
            <a:avLst/>
          </a:prstGeom>
          <a:noFill/>
          <a:ln w="15875">
            <a:solidFill>
              <a:schemeClr val="accent4"/>
            </a:solidFill>
            <a:prstDash val="solid"/>
          </a:ln>
        </p:spPr>
      </p:sp>
      <p:sp>
        <p:nvSpPr>
          <p:cNvPr id="17" name="Shape 14"/>
          <p:cNvSpPr/>
          <p:nvPr/>
        </p:nvSpPr>
        <p:spPr>
          <a:xfrm>
            <a:off x="777240" y="2788920"/>
            <a:ext cx="868680" cy="2286000"/>
          </a:xfrm>
          <a:prstGeom prst="rect">
            <a:avLst/>
          </a:prstGeom>
          <a:solidFill>
            <a:schemeClr val="accent4"/>
          </a:solidFill>
          <a:ln/>
        </p:spPr>
      </p:sp>
      <p:sp>
        <p:nvSpPr>
          <p:cNvPr id="18" name="Text 15"/>
          <p:cNvSpPr txBox="1"/>
          <p:nvPr/>
        </p:nvSpPr>
        <p:spPr>
          <a:xfrm>
            <a:off x="777240" y="2862072"/>
            <a:ext cx="868680" cy="365760"/>
          </a:xfrm>
          <a:prstGeom prst="rect">
            <a:avLst/>
          </a:prstGeom>
          <a:noFill/>
          <a:ln/>
        </p:spPr>
        <p:txBody>
          <a:bodyPr wrap="square" lIns="0" tIns="0" rIns="0" bIns="0" rtlCol="0" anchor="t"/>
          <a:lstStyle/>
          <a:p>
            <a:pPr algn="ctr" indent="0" marL="0">
              <a:buNone/>
            </a:pPr>
            <a:r>
              <a:rPr lang="ja-JP" altLang="en-US" sz="1800" b="1" dirty="0">
                <a:solidFill>
                  <a:schemeClr val="bg1"/>
                </a:solidFill>
              </a:rPr>
              <a:t>100</a:t>
            </a:r>
            <a:endParaRPr lang="ja-JP" sz="1800" dirty="0"/>
          </a:p>
        </p:txBody>
      </p:sp>
      <p:sp>
        <p:nvSpPr>
          <p:cNvPr id="19" name="Shape 16"/>
          <p:cNvSpPr/>
          <p:nvPr/>
        </p:nvSpPr>
        <p:spPr>
          <a:xfrm>
            <a:off x="1764792" y="3703320"/>
            <a:ext cx="868680" cy="1371600"/>
          </a:xfrm>
          <a:prstGeom prst="rect">
            <a:avLst/>
          </a:prstGeom>
          <a:solidFill>
            <a:schemeClr val="tx2"/>
          </a:solidFill>
          <a:ln/>
        </p:spPr>
      </p:sp>
      <p:sp>
        <p:nvSpPr>
          <p:cNvPr id="20" name="Text 17"/>
          <p:cNvSpPr txBox="1"/>
          <p:nvPr/>
        </p:nvSpPr>
        <p:spPr>
          <a:xfrm>
            <a:off x="1764792" y="3703320"/>
            <a:ext cx="868680" cy="1371600"/>
          </a:xfrm>
          <a:prstGeom prst="rect">
            <a:avLst/>
          </a:prstGeom>
          <a:noFill/>
          <a:ln/>
        </p:spPr>
        <p:txBody>
          <a:bodyPr wrap="square" lIns="0" tIns="0" rIns="0" bIns="0" rtlCol="0" anchor="ctr"/>
          <a:lstStyle/>
          <a:p>
            <a:pPr algn="ctr" indent="0" marL="0">
              <a:buNone/>
            </a:pPr>
            <a:r>
              <a:rPr lang="ja-JP" altLang="en-US" sz="1600" b="1" dirty="0">
                <a:solidFill>
                  <a:schemeClr val="bg1"/>
                </a:solidFill>
              </a:rPr>
              <a:t>60</a:t>
            </a:r>
            <a:endParaRPr lang="ja-JP" sz="1600" dirty="0"/>
          </a:p>
        </p:txBody>
      </p:sp>
      <p:sp>
        <p:nvSpPr>
          <p:cNvPr id="21" name="Shape 18"/>
          <p:cNvSpPr/>
          <p:nvPr/>
        </p:nvSpPr>
        <p:spPr>
          <a:xfrm>
            <a:off x="1764792" y="3246120"/>
            <a:ext cx="868680" cy="457200"/>
          </a:xfrm>
          <a:prstGeom prst="rect">
            <a:avLst/>
          </a:prstGeom>
          <a:solidFill>
            <a:schemeClr val="accent1"/>
          </a:solidFill>
          <a:ln/>
        </p:spPr>
      </p:sp>
      <p:sp>
        <p:nvSpPr>
          <p:cNvPr id="22" name="Text 19"/>
          <p:cNvSpPr txBox="1"/>
          <p:nvPr/>
        </p:nvSpPr>
        <p:spPr>
          <a:xfrm>
            <a:off x="1764792" y="3246120"/>
            <a:ext cx="86868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20</a:t>
            </a:r>
            <a:endParaRPr lang="ja-JP" sz="1600" dirty="0"/>
          </a:p>
        </p:txBody>
      </p:sp>
      <p:sp>
        <p:nvSpPr>
          <p:cNvPr id="23" name="Shape 20"/>
          <p:cNvSpPr/>
          <p:nvPr/>
        </p:nvSpPr>
        <p:spPr>
          <a:xfrm>
            <a:off x="1764792" y="2903220"/>
            <a:ext cx="868680" cy="342900"/>
          </a:xfrm>
          <a:prstGeom prst="rect">
            <a:avLst/>
          </a:prstGeom>
          <a:solidFill>
            <a:schemeClr val="accent2"/>
          </a:solidFill>
          <a:ln/>
        </p:spPr>
      </p:sp>
      <p:sp>
        <p:nvSpPr>
          <p:cNvPr id="24" name="Text 21"/>
          <p:cNvSpPr txBox="1"/>
          <p:nvPr/>
        </p:nvSpPr>
        <p:spPr>
          <a:xfrm>
            <a:off x="1764792" y="2903220"/>
            <a:ext cx="868680" cy="342900"/>
          </a:xfrm>
          <a:prstGeom prst="rect">
            <a:avLst/>
          </a:prstGeom>
          <a:noFill/>
          <a:ln/>
        </p:spPr>
        <p:txBody>
          <a:bodyPr wrap="square" lIns="0" tIns="0" rIns="0" bIns="0" rtlCol="0" anchor="ctr"/>
          <a:lstStyle/>
          <a:p>
            <a:pPr algn="ctr" indent="0" marL="0">
              <a:buNone/>
            </a:pPr>
            <a:r>
              <a:rPr lang="ja-JP" altLang="en-US" sz="1600" b="1" dirty="0">
                <a:solidFill>
                  <a:schemeClr val="tx2"/>
                </a:solidFill>
              </a:rPr>
              <a:t>15</a:t>
            </a:r>
            <a:endParaRPr lang="ja-JP" sz="1600" dirty="0"/>
          </a:p>
        </p:txBody>
      </p:sp>
      <p:sp>
        <p:nvSpPr>
          <p:cNvPr id="25" name="Shape 22"/>
          <p:cNvSpPr/>
          <p:nvPr/>
        </p:nvSpPr>
        <p:spPr>
          <a:xfrm>
            <a:off x="1764792" y="2788920"/>
            <a:ext cx="868680" cy="114300"/>
          </a:xfrm>
          <a:prstGeom prst="rect">
            <a:avLst/>
          </a:prstGeom>
          <a:solidFill>
            <a:schemeClr val="accent6"/>
          </a:solidFill>
          <a:ln/>
        </p:spPr>
      </p:sp>
      <p:sp>
        <p:nvSpPr>
          <p:cNvPr id="26" name="Text 23"/>
          <p:cNvSpPr txBox="1"/>
          <p:nvPr/>
        </p:nvSpPr>
        <p:spPr>
          <a:xfrm>
            <a:off x="1490472" y="2404872"/>
            <a:ext cx="1417320" cy="347472"/>
          </a:xfrm>
          <a:prstGeom prst="rect">
            <a:avLst/>
          </a:prstGeom>
          <a:noFill/>
          <a:ln/>
        </p:spPr>
        <p:txBody>
          <a:bodyPr wrap="square" lIns="0" tIns="0" rIns="0" bIns="0" rtlCol="0" anchor="ctr"/>
          <a:lstStyle/>
          <a:p>
            <a:pPr algn="ctr" indent="0" marL="0">
              <a:buNone/>
            </a:pPr>
            <a:r>
              <a:rPr lang="ja-JP" altLang="en-US" sz="1700" b="1" dirty="0">
                <a:solidFill>
                  <a:schemeClr val="accent6"/>
                </a:solidFill>
              </a:rPr>
              <a:t>営業利益 5</a:t>
            </a:r>
            <a:endParaRPr lang="ja-JP" sz="1700" dirty="0"/>
          </a:p>
        </p:txBody>
      </p:sp>
      <p:sp>
        <p:nvSpPr>
          <p:cNvPr id="27" name="Text 24"/>
          <p:cNvSpPr txBox="1"/>
          <p:nvPr/>
        </p:nvSpPr>
        <p:spPr>
          <a:xfrm>
            <a:off x="777240" y="5129784"/>
            <a:ext cx="868680" cy="274320"/>
          </a:xfrm>
          <a:prstGeom prst="rect">
            <a:avLst/>
          </a:prstGeom>
          <a:noFill/>
          <a:ln/>
        </p:spPr>
        <p:txBody>
          <a:bodyPr wrap="square" lIns="0" tIns="0" rIns="0" bIns="0" rtlCol="0" anchor="t"/>
          <a:lstStyle/>
          <a:p>
            <a:pPr algn="ctr" indent="0" marL="0">
              <a:buNone/>
            </a:pPr>
            <a:r>
              <a:rPr lang="ja-JP" altLang="en-US" sz="1400" dirty="0">
                <a:solidFill>
                  <a:schemeClr val="accent4"/>
                </a:solidFill>
              </a:rPr>
              <a:t>売上</a:t>
            </a:r>
            <a:endParaRPr lang="ja-JP" sz="1400" dirty="0"/>
          </a:p>
        </p:txBody>
      </p:sp>
      <p:sp>
        <p:nvSpPr>
          <p:cNvPr id="28" name="Text 25"/>
          <p:cNvSpPr txBox="1"/>
          <p:nvPr/>
        </p:nvSpPr>
        <p:spPr>
          <a:xfrm>
            <a:off x="1691640" y="5129784"/>
            <a:ext cx="1005840" cy="274320"/>
          </a:xfrm>
          <a:prstGeom prst="rect">
            <a:avLst/>
          </a:prstGeom>
          <a:noFill/>
          <a:ln/>
        </p:spPr>
        <p:txBody>
          <a:bodyPr wrap="square" lIns="0" tIns="0" rIns="0" bIns="0" rtlCol="0" anchor="t"/>
          <a:lstStyle/>
          <a:p>
            <a:pPr algn="ctr" indent="0" marL="0">
              <a:buNone/>
            </a:pPr>
            <a:r>
              <a:rPr lang="ja-JP" altLang="en-US" sz="1400" dirty="0">
                <a:solidFill>
                  <a:schemeClr val="accent4"/>
                </a:solidFill>
              </a:rPr>
              <a:t>費用＋利益</a:t>
            </a:r>
            <a:endParaRPr lang="ja-JP" sz="1400" dirty="0"/>
          </a:p>
        </p:txBody>
      </p:sp>
      <p:sp>
        <p:nvSpPr>
          <p:cNvPr id="29" name="Text 26"/>
          <p:cNvSpPr txBox="1"/>
          <p:nvPr/>
        </p:nvSpPr>
        <p:spPr>
          <a:xfrm>
            <a:off x="777240" y="5422392"/>
            <a:ext cx="1856232" cy="365760"/>
          </a:xfrm>
          <a:prstGeom prst="rect">
            <a:avLst/>
          </a:prstGeom>
          <a:noFill/>
          <a:ln/>
        </p:spPr>
        <p:txBody>
          <a:bodyPr wrap="square" lIns="0" tIns="0" rIns="0" bIns="0" rtlCol="0" anchor="t"/>
          <a:lstStyle/>
          <a:p>
            <a:pPr algn="ctr" indent="0" marL="0">
              <a:buNone/>
            </a:pPr>
            <a:r>
              <a:rPr lang="ja-JP" altLang="en-US" sz="2000" b="1" dirty="0">
                <a:solidFill>
                  <a:schemeClr val="tx2"/>
                </a:solidFill>
              </a:rPr>
              <a:t>前期</a:t>
            </a:r>
            <a:endParaRPr lang="ja-JP" sz="2000" dirty="0"/>
          </a:p>
        </p:txBody>
      </p:sp>
      <p:sp>
        <p:nvSpPr>
          <p:cNvPr id="30" name="Shape 27"/>
          <p:cNvSpPr/>
          <p:nvPr/>
        </p:nvSpPr>
        <p:spPr>
          <a:xfrm>
            <a:off x="3337560" y="2560320"/>
            <a:ext cx="868680" cy="2514600"/>
          </a:xfrm>
          <a:prstGeom prst="rect">
            <a:avLst/>
          </a:prstGeom>
          <a:solidFill>
            <a:schemeClr val="accent4"/>
          </a:solidFill>
          <a:ln/>
        </p:spPr>
      </p:sp>
      <p:sp>
        <p:nvSpPr>
          <p:cNvPr id="31" name="Text 28"/>
          <p:cNvSpPr txBox="1"/>
          <p:nvPr/>
        </p:nvSpPr>
        <p:spPr>
          <a:xfrm>
            <a:off x="3337560" y="2633472"/>
            <a:ext cx="868680" cy="365760"/>
          </a:xfrm>
          <a:prstGeom prst="rect">
            <a:avLst/>
          </a:prstGeom>
          <a:noFill/>
          <a:ln/>
        </p:spPr>
        <p:txBody>
          <a:bodyPr wrap="square" lIns="0" tIns="0" rIns="0" bIns="0" rtlCol="0" anchor="t"/>
          <a:lstStyle/>
          <a:p>
            <a:pPr algn="ctr" indent="0" marL="0">
              <a:buNone/>
            </a:pPr>
            <a:r>
              <a:rPr lang="ja-JP" altLang="en-US" sz="1800" b="1" dirty="0">
                <a:solidFill>
                  <a:schemeClr val="bg1"/>
                </a:solidFill>
              </a:rPr>
              <a:t>110</a:t>
            </a:r>
            <a:endParaRPr lang="ja-JP" sz="1800" dirty="0"/>
          </a:p>
        </p:txBody>
      </p:sp>
      <p:sp>
        <p:nvSpPr>
          <p:cNvPr id="32" name="Shape 29"/>
          <p:cNvSpPr/>
          <p:nvPr/>
        </p:nvSpPr>
        <p:spPr>
          <a:xfrm>
            <a:off x="4325112" y="3429000"/>
            <a:ext cx="868680" cy="1645920"/>
          </a:xfrm>
          <a:prstGeom prst="rect">
            <a:avLst/>
          </a:prstGeom>
          <a:solidFill>
            <a:schemeClr val="tx2"/>
          </a:solidFill>
          <a:ln/>
        </p:spPr>
      </p:sp>
      <p:sp>
        <p:nvSpPr>
          <p:cNvPr id="33" name="Text 30"/>
          <p:cNvSpPr txBox="1"/>
          <p:nvPr/>
        </p:nvSpPr>
        <p:spPr>
          <a:xfrm>
            <a:off x="4325112" y="3429000"/>
            <a:ext cx="868680" cy="1645920"/>
          </a:xfrm>
          <a:prstGeom prst="rect">
            <a:avLst/>
          </a:prstGeom>
          <a:noFill/>
          <a:ln/>
        </p:spPr>
        <p:txBody>
          <a:bodyPr wrap="square" lIns="0" tIns="0" rIns="0" bIns="0" rtlCol="0" anchor="ctr"/>
          <a:lstStyle/>
          <a:p>
            <a:pPr algn="ctr" indent="0" marL="0">
              <a:buNone/>
            </a:pPr>
            <a:r>
              <a:rPr lang="ja-JP" altLang="en-US" sz="1600" b="1" dirty="0">
                <a:solidFill>
                  <a:schemeClr val="bg1"/>
                </a:solidFill>
              </a:rPr>
              <a:t>72</a:t>
            </a:r>
            <a:endParaRPr lang="ja-JP" sz="1600" dirty="0"/>
          </a:p>
        </p:txBody>
      </p:sp>
      <p:sp>
        <p:nvSpPr>
          <p:cNvPr id="34" name="Shape 31"/>
          <p:cNvSpPr/>
          <p:nvPr/>
        </p:nvSpPr>
        <p:spPr>
          <a:xfrm>
            <a:off x="4325112" y="2971800"/>
            <a:ext cx="868680" cy="457200"/>
          </a:xfrm>
          <a:prstGeom prst="rect">
            <a:avLst/>
          </a:prstGeom>
          <a:solidFill>
            <a:schemeClr val="accent1"/>
          </a:solidFill>
          <a:ln/>
        </p:spPr>
      </p:sp>
      <p:sp>
        <p:nvSpPr>
          <p:cNvPr id="35" name="Text 32"/>
          <p:cNvSpPr txBox="1"/>
          <p:nvPr/>
        </p:nvSpPr>
        <p:spPr>
          <a:xfrm>
            <a:off x="4325112" y="2971800"/>
            <a:ext cx="86868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20</a:t>
            </a:r>
            <a:endParaRPr lang="ja-JP" sz="1600" dirty="0"/>
          </a:p>
        </p:txBody>
      </p:sp>
      <p:sp>
        <p:nvSpPr>
          <p:cNvPr id="36" name="Shape 33"/>
          <p:cNvSpPr/>
          <p:nvPr/>
        </p:nvSpPr>
        <p:spPr>
          <a:xfrm>
            <a:off x="4325112" y="2628900"/>
            <a:ext cx="868680" cy="342900"/>
          </a:xfrm>
          <a:prstGeom prst="rect">
            <a:avLst/>
          </a:prstGeom>
          <a:solidFill>
            <a:schemeClr val="accent2"/>
          </a:solidFill>
          <a:ln/>
        </p:spPr>
      </p:sp>
      <p:sp>
        <p:nvSpPr>
          <p:cNvPr id="37" name="Text 34"/>
          <p:cNvSpPr txBox="1"/>
          <p:nvPr/>
        </p:nvSpPr>
        <p:spPr>
          <a:xfrm>
            <a:off x="4325112" y="2628900"/>
            <a:ext cx="868680" cy="342900"/>
          </a:xfrm>
          <a:prstGeom prst="rect">
            <a:avLst/>
          </a:prstGeom>
          <a:noFill/>
          <a:ln/>
        </p:spPr>
        <p:txBody>
          <a:bodyPr wrap="square" lIns="0" tIns="0" rIns="0" bIns="0" rtlCol="0" anchor="ctr"/>
          <a:lstStyle/>
          <a:p>
            <a:pPr algn="ctr" indent="0" marL="0">
              <a:buNone/>
            </a:pPr>
            <a:r>
              <a:rPr lang="ja-JP" altLang="en-US" sz="1600" b="1" dirty="0">
                <a:solidFill>
                  <a:schemeClr val="tx2"/>
                </a:solidFill>
              </a:rPr>
              <a:t>15</a:t>
            </a:r>
            <a:endParaRPr lang="ja-JP" sz="1600" dirty="0"/>
          </a:p>
        </p:txBody>
      </p:sp>
      <p:sp>
        <p:nvSpPr>
          <p:cNvPr id="38" name="Shape 35"/>
          <p:cNvSpPr/>
          <p:nvPr/>
        </p:nvSpPr>
        <p:spPr>
          <a:xfrm>
            <a:off x="4325112" y="2560320"/>
            <a:ext cx="868680" cy="68580"/>
          </a:xfrm>
          <a:prstGeom prst="rect">
            <a:avLst/>
          </a:prstGeom>
          <a:solidFill>
            <a:schemeClr val="accent6"/>
          </a:solidFill>
          <a:ln/>
        </p:spPr>
      </p:sp>
      <p:sp>
        <p:nvSpPr>
          <p:cNvPr id="39" name="Text 36"/>
          <p:cNvSpPr txBox="1"/>
          <p:nvPr/>
        </p:nvSpPr>
        <p:spPr>
          <a:xfrm>
            <a:off x="4050792" y="2176272"/>
            <a:ext cx="1417320" cy="347472"/>
          </a:xfrm>
          <a:prstGeom prst="rect">
            <a:avLst/>
          </a:prstGeom>
          <a:noFill/>
          <a:ln/>
        </p:spPr>
        <p:txBody>
          <a:bodyPr wrap="square" lIns="0" tIns="0" rIns="0" bIns="0" rtlCol="0" anchor="ctr"/>
          <a:lstStyle/>
          <a:p>
            <a:pPr algn="ctr" indent="0" marL="0">
              <a:buNone/>
            </a:pPr>
            <a:r>
              <a:rPr lang="ja-JP" altLang="en-US" sz="1700" b="1" dirty="0">
                <a:solidFill>
                  <a:schemeClr val="accent6"/>
                </a:solidFill>
              </a:rPr>
              <a:t>営業利益 3</a:t>
            </a:r>
            <a:endParaRPr lang="ja-JP" sz="1700" dirty="0"/>
          </a:p>
        </p:txBody>
      </p:sp>
      <p:sp>
        <p:nvSpPr>
          <p:cNvPr id="40" name="Text 37"/>
          <p:cNvSpPr txBox="1"/>
          <p:nvPr/>
        </p:nvSpPr>
        <p:spPr>
          <a:xfrm>
            <a:off x="3337560" y="5129784"/>
            <a:ext cx="868680" cy="274320"/>
          </a:xfrm>
          <a:prstGeom prst="rect">
            <a:avLst/>
          </a:prstGeom>
          <a:noFill/>
          <a:ln/>
        </p:spPr>
        <p:txBody>
          <a:bodyPr wrap="square" lIns="0" tIns="0" rIns="0" bIns="0" rtlCol="0" anchor="t"/>
          <a:lstStyle/>
          <a:p>
            <a:pPr algn="ctr" indent="0" marL="0">
              <a:buNone/>
            </a:pPr>
            <a:r>
              <a:rPr lang="ja-JP" altLang="en-US" sz="1400" dirty="0">
                <a:solidFill>
                  <a:schemeClr val="accent4"/>
                </a:solidFill>
              </a:rPr>
              <a:t>売上</a:t>
            </a:r>
            <a:endParaRPr lang="ja-JP" sz="1400" dirty="0"/>
          </a:p>
        </p:txBody>
      </p:sp>
      <p:sp>
        <p:nvSpPr>
          <p:cNvPr id="41" name="Text 38"/>
          <p:cNvSpPr txBox="1"/>
          <p:nvPr/>
        </p:nvSpPr>
        <p:spPr>
          <a:xfrm>
            <a:off x="4251960" y="5129784"/>
            <a:ext cx="1005840" cy="274320"/>
          </a:xfrm>
          <a:prstGeom prst="rect">
            <a:avLst/>
          </a:prstGeom>
          <a:noFill/>
          <a:ln/>
        </p:spPr>
        <p:txBody>
          <a:bodyPr wrap="square" lIns="0" tIns="0" rIns="0" bIns="0" rtlCol="0" anchor="t"/>
          <a:lstStyle/>
          <a:p>
            <a:pPr algn="ctr" indent="0" marL="0">
              <a:buNone/>
            </a:pPr>
            <a:r>
              <a:rPr lang="ja-JP" altLang="en-US" sz="1400" dirty="0">
                <a:solidFill>
                  <a:schemeClr val="accent4"/>
                </a:solidFill>
              </a:rPr>
              <a:t>費用＋利益</a:t>
            </a:r>
            <a:endParaRPr lang="ja-JP" sz="1400" dirty="0"/>
          </a:p>
        </p:txBody>
      </p:sp>
      <p:sp>
        <p:nvSpPr>
          <p:cNvPr id="42" name="Text 39"/>
          <p:cNvSpPr txBox="1"/>
          <p:nvPr/>
        </p:nvSpPr>
        <p:spPr>
          <a:xfrm>
            <a:off x="3337560" y="5422392"/>
            <a:ext cx="1856232" cy="365760"/>
          </a:xfrm>
          <a:prstGeom prst="rect">
            <a:avLst/>
          </a:prstGeom>
          <a:noFill/>
          <a:ln/>
        </p:spPr>
        <p:txBody>
          <a:bodyPr wrap="square" lIns="0" tIns="0" rIns="0" bIns="0" rtlCol="0" anchor="t"/>
          <a:lstStyle/>
          <a:p>
            <a:pPr algn="ctr" indent="0" marL="0">
              <a:buNone/>
            </a:pPr>
            <a:r>
              <a:rPr lang="ja-JP" altLang="en-US" sz="2000" b="1" dirty="0">
                <a:solidFill>
                  <a:schemeClr val="tx2"/>
                </a:solidFill>
              </a:rPr>
              <a:t>今期</a:t>
            </a:r>
            <a:endParaRPr lang="ja-JP" sz="2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086600" y="1645920"/>
          <a:ext cx="4553712" cy="914400"/>
        </p:xfrm>
        <a:graphic>
          <a:graphicData uri="http://schemas.openxmlformats.org/drawingml/2006/table">
            <a:tbl>
              <a:tblPr/>
              <a:tblGrid>
                <a:gridCol w="1719072"/>
                <a:gridCol w="822960"/>
                <a:gridCol w="822960"/>
                <a:gridCol w="1188720"/>
              </a:tblGrid>
              <a:tr h="457200">
                <a:tc>
                  <a:txBody>
                    <a:bodyP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項目</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12243A"/>
                    </a:solidFill>
                  </a:tcPr>
                </a:tc>
                <a:tc>
                  <a:txBody>
                    <a:bodyP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前期</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12243A"/>
                    </a:solidFill>
                  </a:tcPr>
                </a:tc>
                <a:tc>
                  <a:txBody>
                    <a:bodyP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今期</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12243A"/>
                    </a:solidFill>
                  </a:tcPr>
                </a:tc>
                <a:tc>
                  <a:txBody>
                    <a:bodyP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増減</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12243A"/>
                    </a:solidFill>
                  </a:tcPr>
                </a:tc>
              </a:tr>
              <a:tr h="457200">
                <a:tc>
                  <a:txBody>
                    <a:bodyPr/>
                    <a:lstStyle/>
                    <a:p>
                      <a:pPr algn="l" indent="0" marL="0">
                        <a:buNone/>
                      </a:pPr>
                      <a:r>
                        <a:rPr lang="en-US" sz="1800" dirty="0">
                          <a:solidFill>
                            <a:srgbClr val="26384A"/>
                          </a:solidFill>
                          <a:latin typeface="Noto Sans CJK JP" pitchFamily="34" charset="0"/>
                          <a:ea typeface="Noto Sans CJK JP" pitchFamily="34" charset="-122"/>
                          <a:cs typeface="Noto Sans CJK JP" pitchFamily="34" charset="-120"/>
                        </a:rPr>
                        <a:t>売上</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100</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110</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＋10％</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r>
              <a:tr h="457200">
                <a:tc>
                  <a:txBody>
                    <a:bodyPr/>
                    <a:lstStyle/>
                    <a:p>
                      <a:pPr algn="l" indent="0" marL="0">
                        <a:buNone/>
                      </a:pPr>
                      <a:r>
                        <a:rPr lang="en-US" sz="1800" dirty="0">
                          <a:solidFill>
                            <a:srgbClr val="26384A"/>
                          </a:solidFill>
                          <a:latin typeface="Noto Sans CJK JP" pitchFamily="34" charset="0"/>
                          <a:ea typeface="Noto Sans CJK JP" pitchFamily="34" charset="-122"/>
                          <a:cs typeface="Noto Sans CJK JP" pitchFamily="34" charset="-120"/>
                        </a:rPr>
                        <a:t>原材料費</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EDF5F7"/>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60</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EDF5F7"/>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72</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EDF5F7"/>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＋12</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EDF5F7"/>
                    </a:solidFill>
                  </a:tcPr>
                </a:tc>
              </a:tr>
              <a:tr h="457200">
                <a:tc>
                  <a:txBody>
                    <a:bodyPr/>
                    <a:lstStyle/>
                    <a:p>
                      <a:pPr algn="l" indent="0" marL="0">
                        <a:buNone/>
                      </a:pPr>
                      <a:r>
                        <a:rPr lang="en-US" sz="1800" dirty="0">
                          <a:solidFill>
                            <a:srgbClr val="26384A"/>
                          </a:solidFill>
                          <a:latin typeface="Noto Sans CJK JP" pitchFamily="34" charset="0"/>
                          <a:ea typeface="Noto Sans CJK JP" pitchFamily="34" charset="-122"/>
                          <a:cs typeface="Noto Sans CJK JP" pitchFamily="34" charset="-120"/>
                        </a:rPr>
                        <a:t>その他変動費</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20</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20</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±0</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r>
              <a:tr h="457200">
                <a:tc>
                  <a:txBody>
                    <a:bodyPr/>
                    <a:lstStyle/>
                    <a:p>
                      <a:pPr algn="l" indent="0" marL="0">
                        <a:buNone/>
                      </a:pPr>
                      <a:r>
                        <a:rPr lang="en-US" sz="1800" dirty="0">
                          <a:solidFill>
                            <a:srgbClr val="26384A"/>
                          </a:solidFill>
                          <a:latin typeface="Noto Sans CJK JP" pitchFamily="34" charset="0"/>
                          <a:ea typeface="Noto Sans CJK JP" pitchFamily="34" charset="-122"/>
                          <a:cs typeface="Noto Sans CJK JP" pitchFamily="34" charset="-120"/>
                        </a:rPr>
                        <a:t>固定費</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EDF5F7"/>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15</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EDF5F7"/>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15</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EDF5F7"/>
                    </a:solidFill>
                  </a:tcPr>
                </a:tc>
                <a:tc>
                  <a:txBody>
                    <a:bodyPr/>
                    <a:lstStyle/>
                    <a:p>
                      <a:pPr algn="ctr" indent="0" marL="0">
                        <a:buNone/>
                      </a:pPr>
                      <a:r>
                        <a:rPr lang="en-US" sz="1800" dirty="0">
                          <a:solidFill>
                            <a:srgbClr val="26384A"/>
                          </a:solidFill>
                          <a:latin typeface="Noto Sans CJK JP" pitchFamily="34" charset="0"/>
                          <a:ea typeface="Noto Sans CJK JP" pitchFamily="34" charset="-122"/>
                          <a:cs typeface="Noto Sans CJK JP" pitchFamily="34" charset="-120"/>
                        </a:rPr>
                        <a:t>±0</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EDF5F7"/>
                    </a:solidFill>
                  </a:tcPr>
                </a:tc>
              </a:tr>
              <a:tr h="457200">
                <a:tc>
                  <a:txBody>
                    <a:bodyPr/>
                    <a:lstStyle/>
                    <a:p>
                      <a:pPr algn="l" indent="0" marL="0">
                        <a:buNone/>
                      </a:pPr>
                      <a:r>
                        <a:rPr lang="en-US" sz="1800" b="1" dirty="0">
                          <a:solidFill>
                            <a:srgbClr val="C8483D"/>
                          </a:solidFill>
                          <a:latin typeface="Noto Sans CJK JP" pitchFamily="34" charset="0"/>
                          <a:ea typeface="Noto Sans CJK JP" pitchFamily="34" charset="-122"/>
                          <a:cs typeface="Noto Sans CJK JP" pitchFamily="34" charset="-120"/>
                        </a:rPr>
                        <a:t>営業利益</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6DEDB"/>
                    </a:solidFill>
                  </a:tcPr>
                </a:tc>
                <a:tc>
                  <a:txBody>
                    <a:bodyPr/>
                    <a:lstStyle/>
                    <a:p>
                      <a:pPr algn="ctr" indent="0" marL="0">
                        <a:buNone/>
                      </a:pPr>
                      <a:r>
                        <a:rPr lang="en-US" sz="1800" b="1" dirty="0">
                          <a:solidFill>
                            <a:srgbClr val="C8483D"/>
                          </a:solidFill>
                          <a:latin typeface="Noto Sans CJK JP" pitchFamily="34" charset="0"/>
                          <a:ea typeface="Noto Sans CJK JP" pitchFamily="34" charset="-122"/>
                          <a:cs typeface="Noto Sans CJK JP" pitchFamily="34" charset="-120"/>
                        </a:rPr>
                        <a:t>5</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6DEDB"/>
                    </a:solidFill>
                  </a:tcPr>
                </a:tc>
                <a:tc>
                  <a:txBody>
                    <a:bodyPr/>
                    <a:lstStyle/>
                    <a:p>
                      <a:pPr algn="ctr" indent="0" marL="0">
                        <a:buNone/>
                      </a:pPr>
                      <a:r>
                        <a:rPr lang="en-US" sz="1800" b="1" dirty="0">
                          <a:solidFill>
                            <a:srgbClr val="C8483D"/>
                          </a:solidFill>
                          <a:latin typeface="Noto Sans CJK JP" pitchFamily="34" charset="0"/>
                          <a:ea typeface="Noto Sans CJK JP" pitchFamily="34" charset="-122"/>
                          <a:cs typeface="Noto Sans CJK JP" pitchFamily="34" charset="-120"/>
                        </a:rPr>
                        <a:t>3</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6DEDB"/>
                    </a:solidFill>
                  </a:tcPr>
                </a:tc>
                <a:tc>
                  <a:txBody>
                    <a:bodyPr/>
                    <a:lstStyle/>
                    <a:p>
                      <a:pPr algn="ctr" indent="0" marL="0">
                        <a:buNone/>
                      </a:pPr>
                      <a:r>
                        <a:rPr lang="en-US" sz="1800" b="1" dirty="0">
                          <a:solidFill>
                            <a:srgbClr val="C8483D"/>
                          </a:solidFill>
                          <a:latin typeface="Noto Sans CJK JP" pitchFamily="34" charset="0"/>
                          <a:ea typeface="Noto Sans CJK JP" pitchFamily="34" charset="-122"/>
                          <a:cs typeface="Noto Sans CJK JP" pitchFamily="34" charset="-120"/>
                        </a:rPr>
                        <a:t>−40％</a:t>
                      </a:r>
                      <a:endParaRPr lang="en-US" sz="1800" dirty="0">
                        <a:latin typeface="Noto Sans CJK JP" charset="0"/>
                        <a:ea typeface="Noto Sans CJK JP" charset="0"/>
                        <a:cs typeface="Noto Sans CJK JP" charset="0"/>
                      </a:endParaRPr>
                    </a:p>
                  </a:txBody>
                  <a:tcPr marL="109728" marR="109728" marT="36576" marB="36576"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6DEDB"/>
                    </a:solidFill>
                  </a:tcPr>
                </a:tc>
              </a:tr>
            </a:tbl>
          </a:graphicData>
        </a:graphic>
      </p:graphicFrame>
      <p:sp>
        <p:nvSpPr>
          <p:cNvPr id="44" name="Shape 40"/>
          <p:cNvSpPr/>
          <p:nvPr/>
        </p:nvSpPr>
        <p:spPr>
          <a:xfrm>
            <a:off x="7086600" y="4617720"/>
            <a:ext cx="4553712" cy="1143000"/>
          </a:xfrm>
          <a:prstGeom prst="roundRect">
            <a:avLst>
              <a:gd name="adj" fmla="val 11200"/>
            </a:avLst>
          </a:prstGeom>
          <a:solidFill>
            <a:schemeClr val="tx2"/>
          </a:solidFill>
          <a:ln/>
        </p:spPr>
      </p:sp>
      <p:sp>
        <p:nvSpPr>
          <p:cNvPr id="45" name="Text 41"/>
          <p:cNvSpPr txBox="1"/>
          <p:nvPr/>
        </p:nvSpPr>
        <p:spPr>
          <a:xfrm>
            <a:off x="7315200" y="4617720"/>
            <a:ext cx="4160520" cy="1143000"/>
          </a:xfrm>
          <a:prstGeom prst="rect">
            <a:avLst/>
          </a:prstGeom>
          <a:noFill/>
          <a:ln/>
        </p:spPr>
        <p:txBody>
          <a:bodyPr wrap="square" lIns="0" tIns="0" rIns="0" bIns="0" rtlCol="0" anchor="ctr"/>
          <a:lstStyle/>
          <a:p>
            <a:pPr indent="0" marL="0">
              <a:buNone/>
            </a:pPr>
            <a:r>
              <a:rPr lang="ja-JP" altLang="en-US" sz="2100" b="1" dirty="0">
                <a:solidFill>
                  <a:schemeClr val="bg1"/>
                </a:solidFill>
              </a:rPr>
              <a:t>売上が増えても、原料費の増加に利益が押される。</a:t>
            </a:r>
            <a:endParaRPr lang="ja-JP" sz="21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03｜金属業界の全体像を理解する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金属業界の企業を見る3つの視点</a:t>
            </a:r>
            <a:endParaRPr lang="en-US" sz="3000" dirty="0"/>
          </a:p>
        </p:txBody>
      </p:sp>
      <p:sp>
        <p:nvSpPr>
          <p:cNvPr id="5" name="Shape 2"/>
          <p:cNvSpPr/>
          <p:nvPr/>
        </p:nvSpPr>
        <p:spPr>
          <a:xfrm>
            <a:off x="2194560" y="2267712"/>
            <a:ext cx="3749040" cy="2651760"/>
          </a:xfrm>
          <a:prstGeom prst="triangle">
            <a:avLst/>
          </a:prstGeom>
          <a:solidFill>
            <a:schemeClr val="bg1"/>
          </a:solidFill>
          <a:ln w="31750">
            <a:solidFill>
              <a:schemeClr val="accent2"/>
            </a:solidFill>
            <a:prstDash val="dash"/>
          </a:ln>
        </p:spPr>
      </p:sp>
      <p:sp>
        <p:nvSpPr>
          <p:cNvPr id="6" name="Shape 3"/>
          <p:cNvSpPr/>
          <p:nvPr/>
        </p:nvSpPr>
        <p:spPr>
          <a:xfrm>
            <a:off x="2423160" y="1691640"/>
            <a:ext cx="3291840" cy="1143000"/>
          </a:xfrm>
          <a:prstGeom prst="roundRect">
            <a:avLst>
              <a:gd name="adj" fmla="val 12800"/>
            </a:avLst>
          </a:prstGeom>
          <a:solidFill>
            <a:schemeClr val="bg1"/>
          </a:solidFill>
          <a:ln w="22225">
            <a:solidFill>
              <a:schemeClr val="accent1"/>
            </a:solidFill>
            <a:prstDash val="solid"/>
          </a:ln>
          <a:effectLst>
            <a:outerShdw sx="100000" sy="100000" kx="0" ky="0" algn="bl" rotWithShape="0" blurRad="101600" dist="25400" dir="5400000">
              <a:srgbClr val="12243A">
                <a:alpha val="14000"/>
              </a:srgbClr>
            </a:outerShdw>
          </a:effectLst>
        </p:spPr>
      </p:sp>
      <p:sp>
        <p:nvSpPr>
          <p:cNvPr id="7" name="Text 4"/>
          <p:cNvSpPr txBox="1"/>
          <p:nvPr/>
        </p:nvSpPr>
        <p:spPr>
          <a:xfrm>
            <a:off x="2587752" y="1856232"/>
            <a:ext cx="502920" cy="50292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1</a:t>
            </a:r>
            <a:endParaRPr lang="ja-JP" sz="2000" dirty="0"/>
          </a:p>
        </p:txBody>
      </p:sp>
      <p:sp>
        <p:nvSpPr>
          <p:cNvPr id="8" name="Text 5"/>
          <p:cNvSpPr txBox="1"/>
          <p:nvPr/>
        </p:nvSpPr>
        <p:spPr>
          <a:xfrm>
            <a:off x="3227832" y="1801368"/>
            <a:ext cx="2423160" cy="438912"/>
          </a:xfrm>
          <a:prstGeom prst="rect">
            <a:avLst/>
          </a:prstGeom>
          <a:noFill/>
          <a:ln/>
        </p:spPr>
        <p:txBody>
          <a:bodyPr wrap="square" lIns="0" tIns="0" rIns="0" bIns="0" rtlCol="0" anchor="ctr"/>
          <a:lstStyle/>
          <a:p>
            <a:pPr indent="0" marL="0">
              <a:buNone/>
            </a:pPr>
            <a:r>
              <a:rPr lang="ja-JP" altLang="en-US" sz="2000" b="1" dirty="0">
                <a:solidFill>
                  <a:schemeClr val="tx2"/>
                </a:solidFill>
              </a:rPr>
              <a:t>何を扱う？</a:t>
            </a:r>
            <a:endParaRPr lang="ja-JP" sz="2000" dirty="0"/>
          </a:p>
        </p:txBody>
      </p:sp>
      <p:sp>
        <p:nvSpPr>
          <p:cNvPr id="9" name="Text 6"/>
          <p:cNvSpPr txBox="1"/>
          <p:nvPr/>
        </p:nvSpPr>
        <p:spPr>
          <a:xfrm>
            <a:off x="3227832" y="2240280"/>
            <a:ext cx="2423160" cy="530352"/>
          </a:xfrm>
          <a:prstGeom prst="rect">
            <a:avLst/>
          </a:prstGeom>
          <a:noFill/>
          <a:ln/>
        </p:spPr>
        <p:txBody>
          <a:bodyPr wrap="square" lIns="0" tIns="0" rIns="0" bIns="0" rtlCol="0" anchor="t"/>
          <a:lstStyle/>
          <a:p>
            <a:pPr indent="0" marL="0">
              <a:buNone/>
            </a:pPr>
            <a:r>
              <a:rPr lang="ja-JP" altLang="en-US" sz="1500" b="1" dirty="0">
                <a:solidFill>
                  <a:schemeClr val="accent1"/>
                </a:solidFill>
              </a:rPr>
              <a:t>鉄・銅・アルミ・特殊材料</a:t>
            </a:r>
            <a:endParaRPr lang="ja-JP" sz="1500" dirty="0"/>
          </a:p>
        </p:txBody>
      </p:sp>
      <p:sp>
        <p:nvSpPr>
          <p:cNvPr id="10" name="Shape 7"/>
          <p:cNvSpPr/>
          <p:nvPr/>
        </p:nvSpPr>
        <p:spPr>
          <a:xfrm>
            <a:off x="548640" y="4343400"/>
            <a:ext cx="3291840" cy="1143000"/>
          </a:xfrm>
          <a:prstGeom prst="roundRect">
            <a:avLst>
              <a:gd name="adj" fmla="val 12800"/>
            </a:avLst>
          </a:prstGeom>
          <a:solidFill>
            <a:schemeClr val="bg1"/>
          </a:solidFill>
          <a:ln w="22225">
            <a:solidFill>
              <a:schemeClr val="accent1"/>
            </a:solidFill>
            <a:prstDash val="solid"/>
          </a:ln>
          <a:effectLst>
            <a:outerShdw sx="100000" sy="100000" kx="0" ky="0" algn="bl" rotWithShape="0" blurRad="101600" dist="25400" dir="5400000">
              <a:srgbClr val="12243A">
                <a:alpha val="14000"/>
              </a:srgbClr>
            </a:outerShdw>
          </a:effectLst>
        </p:spPr>
      </p:sp>
      <p:sp>
        <p:nvSpPr>
          <p:cNvPr id="11" name="Text 8"/>
          <p:cNvSpPr txBox="1"/>
          <p:nvPr/>
        </p:nvSpPr>
        <p:spPr>
          <a:xfrm>
            <a:off x="713232" y="4507992"/>
            <a:ext cx="502920" cy="50292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2</a:t>
            </a:r>
            <a:endParaRPr lang="ja-JP" sz="2000" dirty="0"/>
          </a:p>
        </p:txBody>
      </p:sp>
      <p:sp>
        <p:nvSpPr>
          <p:cNvPr id="12" name="Text 9"/>
          <p:cNvSpPr txBox="1"/>
          <p:nvPr/>
        </p:nvSpPr>
        <p:spPr>
          <a:xfrm>
            <a:off x="1353312" y="4453128"/>
            <a:ext cx="2423160" cy="438912"/>
          </a:xfrm>
          <a:prstGeom prst="rect">
            <a:avLst/>
          </a:prstGeom>
          <a:noFill/>
          <a:ln/>
        </p:spPr>
        <p:txBody>
          <a:bodyPr wrap="square" lIns="0" tIns="0" rIns="0" bIns="0" rtlCol="0" anchor="ctr"/>
          <a:lstStyle/>
          <a:p>
            <a:pPr indent="0" marL="0">
              <a:buNone/>
            </a:pPr>
            <a:r>
              <a:rPr lang="ja-JP" altLang="en-US" sz="2000" b="1" dirty="0">
                <a:solidFill>
                  <a:schemeClr val="tx2"/>
                </a:solidFill>
              </a:rPr>
              <a:t>どの工程にいる？</a:t>
            </a:r>
            <a:endParaRPr lang="ja-JP" sz="2000" dirty="0"/>
          </a:p>
        </p:txBody>
      </p:sp>
      <p:sp>
        <p:nvSpPr>
          <p:cNvPr id="13" name="Text 10"/>
          <p:cNvSpPr txBox="1"/>
          <p:nvPr/>
        </p:nvSpPr>
        <p:spPr>
          <a:xfrm>
            <a:off x="1353312" y="4892040"/>
            <a:ext cx="2423160" cy="530352"/>
          </a:xfrm>
          <a:prstGeom prst="rect">
            <a:avLst/>
          </a:prstGeom>
          <a:noFill/>
          <a:ln/>
        </p:spPr>
        <p:txBody>
          <a:bodyPr wrap="square" lIns="0" tIns="0" rIns="0" bIns="0" rtlCol="0" anchor="t"/>
          <a:lstStyle/>
          <a:p>
            <a:pPr indent="0" marL="0">
              <a:buNone/>
            </a:pPr>
            <a:r>
              <a:rPr lang="ja-JP" altLang="en-US" sz="1500" b="1" dirty="0">
                <a:solidFill>
                  <a:schemeClr val="accent1"/>
                </a:solidFill>
              </a:rPr>
              <a:t>資源・製造・加工・商社</a:t>
            </a:r>
            <a:endParaRPr lang="ja-JP" sz="1500" dirty="0"/>
          </a:p>
        </p:txBody>
      </p:sp>
      <p:sp>
        <p:nvSpPr>
          <p:cNvPr id="14" name="Shape 11"/>
          <p:cNvSpPr/>
          <p:nvPr/>
        </p:nvSpPr>
        <p:spPr>
          <a:xfrm>
            <a:off x="4297680" y="4343400"/>
            <a:ext cx="3291840" cy="1143000"/>
          </a:xfrm>
          <a:prstGeom prst="roundRect">
            <a:avLst>
              <a:gd name="adj" fmla="val 12800"/>
            </a:avLst>
          </a:prstGeom>
          <a:solidFill>
            <a:schemeClr val="bg1"/>
          </a:solidFill>
          <a:ln w="22225">
            <a:solidFill>
              <a:schemeClr val="accent1"/>
            </a:solidFill>
            <a:prstDash val="solid"/>
          </a:ln>
          <a:effectLst>
            <a:outerShdw sx="100000" sy="100000" kx="0" ky="0" algn="bl" rotWithShape="0" blurRad="101600" dist="25400" dir="5400000">
              <a:srgbClr val="12243A">
                <a:alpha val="14000"/>
              </a:srgbClr>
            </a:outerShdw>
          </a:effectLst>
        </p:spPr>
      </p:sp>
      <p:sp>
        <p:nvSpPr>
          <p:cNvPr id="15" name="Text 12"/>
          <p:cNvSpPr txBox="1"/>
          <p:nvPr/>
        </p:nvSpPr>
        <p:spPr>
          <a:xfrm>
            <a:off x="4462272" y="4507992"/>
            <a:ext cx="502920" cy="50292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3</a:t>
            </a:r>
            <a:endParaRPr lang="ja-JP" sz="2000" dirty="0"/>
          </a:p>
        </p:txBody>
      </p:sp>
      <p:sp>
        <p:nvSpPr>
          <p:cNvPr id="16" name="Text 13"/>
          <p:cNvSpPr txBox="1"/>
          <p:nvPr/>
        </p:nvSpPr>
        <p:spPr>
          <a:xfrm>
            <a:off x="5102352" y="4453128"/>
            <a:ext cx="2423160" cy="438912"/>
          </a:xfrm>
          <a:prstGeom prst="rect">
            <a:avLst/>
          </a:prstGeom>
          <a:noFill/>
          <a:ln/>
        </p:spPr>
        <p:txBody>
          <a:bodyPr wrap="square" lIns="0" tIns="0" rIns="0" bIns="0" rtlCol="0" anchor="ctr"/>
          <a:lstStyle/>
          <a:p>
            <a:pPr indent="0" marL="0">
              <a:buNone/>
            </a:pPr>
            <a:r>
              <a:rPr lang="ja-JP" altLang="en-US" sz="2000" b="1" dirty="0">
                <a:solidFill>
                  <a:schemeClr val="tx2"/>
                </a:solidFill>
              </a:rPr>
              <a:t>利益を動かすのは？</a:t>
            </a:r>
            <a:endParaRPr lang="ja-JP" sz="2000" dirty="0"/>
          </a:p>
        </p:txBody>
      </p:sp>
      <p:sp>
        <p:nvSpPr>
          <p:cNvPr id="17" name="Text 14"/>
          <p:cNvSpPr txBox="1"/>
          <p:nvPr/>
        </p:nvSpPr>
        <p:spPr>
          <a:xfrm>
            <a:off x="5102352" y="4892040"/>
            <a:ext cx="2423160" cy="530352"/>
          </a:xfrm>
          <a:prstGeom prst="rect">
            <a:avLst/>
          </a:prstGeom>
          <a:noFill/>
          <a:ln/>
        </p:spPr>
        <p:txBody>
          <a:bodyPr wrap="square" lIns="0" tIns="0" rIns="0" bIns="0" rtlCol="0" anchor="t"/>
          <a:lstStyle/>
          <a:p>
            <a:pPr indent="0" marL="0">
              <a:buNone/>
            </a:pPr>
            <a:r>
              <a:rPr lang="ja-JP" altLang="en-US" sz="1500" b="1" dirty="0">
                <a:solidFill>
                  <a:schemeClr val="accent1"/>
                </a:solidFill>
              </a:rPr>
              <a:t>価格・数量・原料・技術・為替</a:t>
            </a:r>
            <a:endParaRPr lang="ja-JP" sz="1500" dirty="0"/>
          </a:p>
        </p:txBody>
      </p:sp>
      <p:sp>
        <p:nvSpPr>
          <p:cNvPr id="18" name="Text 15"/>
          <p:cNvSpPr txBox="1"/>
          <p:nvPr/>
        </p:nvSpPr>
        <p:spPr>
          <a:xfrm>
            <a:off x="2743200" y="3310128"/>
            <a:ext cx="2651760" cy="685800"/>
          </a:xfrm>
          <a:prstGeom prst="roundRect">
            <a:avLst>
              <a:gd name="adj" fmla="val 13333"/>
            </a:avLst>
          </a:prstGeom>
          <a:solidFill>
            <a:schemeClr val="bg2"/>
          </a:solidFill>
          <a:ln/>
        </p:spPr>
        <p:txBody>
          <a:bodyPr wrap="square" lIns="0" tIns="0" rIns="0" bIns="0" rtlCol="0" anchor="ctr"/>
          <a:lstStyle/>
          <a:p>
            <a:pPr algn="ctr" indent="0" marL="0">
              <a:buNone/>
            </a:pPr>
            <a:r>
              <a:rPr lang="ja-JP" altLang="en-US" sz="1300" dirty="0">
                <a:solidFill>
                  <a:schemeClr val="accent4"/>
                </a:solidFill>
              </a:rPr>
              <a:t>企業名の例</a:t>
            </a:r>
            <a:endParaRPr lang="ja-JP" sz="1300" dirty="0"/>
          </a:p>
          <a:p>
            <a:pPr algn="ctr" indent="0" marL="0">
              <a:buNone/>
            </a:pPr>
            <a:r>
              <a:rPr lang="ja-JP" altLang="en-US" sz="1500" b="1" dirty="0">
                <a:solidFill>
                  <a:schemeClr val="tx2"/>
                </a:solidFill>
              </a:rPr>
              <a:t>日本製鉄／UACJ／阪和興業</a:t>
            </a:r>
            <a:endParaRPr lang="ja-JP" sz="1300" dirty="0"/>
          </a:p>
        </p:txBody>
      </p:sp>
      <p:sp>
        <p:nvSpPr>
          <p:cNvPr id="19" name="Shape 16"/>
          <p:cNvSpPr/>
          <p:nvPr/>
        </p:nvSpPr>
        <p:spPr>
          <a:xfrm>
            <a:off x="8001000" y="1691640"/>
            <a:ext cx="3639312" cy="4114800"/>
          </a:xfrm>
          <a:prstGeom prst="roundRect">
            <a:avLst>
              <a:gd name="adj" fmla="val 5025"/>
            </a:avLst>
          </a:prstGeom>
          <a:solidFill>
            <a:schemeClr val="tx2"/>
          </a:solidFill>
          <a:ln/>
          <a:effectLst>
            <a:outerShdw sx="100000" sy="100000" kx="0" ky="0" algn="bl" rotWithShape="0" blurRad="101600" dist="25400" dir="5400000">
              <a:srgbClr val="12243A">
                <a:alpha val="14000"/>
              </a:srgbClr>
            </a:outerShdw>
          </a:effectLst>
        </p:spPr>
      </p:sp>
      <p:sp>
        <p:nvSpPr>
          <p:cNvPr id="20" name="Text 17"/>
          <p:cNvSpPr txBox="1"/>
          <p:nvPr/>
        </p:nvSpPr>
        <p:spPr>
          <a:xfrm>
            <a:off x="8275320" y="1920240"/>
            <a:ext cx="3108960" cy="365760"/>
          </a:xfrm>
          <a:prstGeom prst="rect">
            <a:avLst/>
          </a:prstGeom>
          <a:noFill/>
          <a:ln/>
        </p:spPr>
        <p:txBody>
          <a:bodyPr wrap="square" lIns="0" tIns="0" rIns="0" bIns="0" rtlCol="0" anchor="t"/>
          <a:lstStyle/>
          <a:p>
            <a:pPr indent="0" marL="0">
              <a:buNone/>
            </a:pPr>
            <a:r>
              <a:rPr lang="ja-JP" altLang="en-US" sz="1600" b="1" dirty="0">
                <a:solidFill>
                  <a:schemeClr val="accent2"/>
                </a:solidFill>
              </a:rPr>
              <a:t>NEXT</a:t>
            </a:r>
            <a:endParaRPr lang="ja-JP" sz="1600" dirty="0"/>
          </a:p>
        </p:txBody>
      </p:sp>
      <p:sp>
        <p:nvSpPr>
          <p:cNvPr id="21" name="Text 18"/>
          <p:cNvSpPr txBox="1"/>
          <p:nvPr/>
        </p:nvSpPr>
        <p:spPr>
          <a:xfrm>
            <a:off x="8275320" y="2331720"/>
            <a:ext cx="3154680" cy="1508760"/>
          </a:xfrm>
          <a:prstGeom prst="rect">
            <a:avLst/>
          </a:prstGeom>
          <a:noFill/>
          <a:ln/>
        </p:spPr>
        <p:txBody>
          <a:bodyPr wrap="square" lIns="0" tIns="0" rIns="0" bIns="0" rtlCol="0" anchor="t"/>
          <a:lstStyle/>
          <a:p>
            <a:pPr indent="0" marL="0">
              <a:buNone/>
            </a:pPr>
            <a:r>
              <a:rPr lang="ja-JP" altLang="en-US" sz="2400" b="1" dirty="0">
                <a:solidFill>
                  <a:schemeClr val="bg1"/>
                </a:solidFill>
              </a:rPr>
              <a:t>この3つを持って、</a:t>
            </a:r>
            <a:endParaRPr lang="ja-JP" sz="2400" dirty="0"/>
          </a:p>
          <a:p>
            <a:pPr indent="0" marL="0">
              <a:buNone/>
            </a:pPr>
            <a:r>
              <a:rPr lang="ja-JP" altLang="en-US" sz="2400" b="1" dirty="0">
                <a:solidFill>
                  <a:schemeClr val="bg1"/>
                </a:solidFill>
              </a:rPr>
              <a:t>次はニュースを</a:t>
            </a:r>
            <a:endParaRPr lang="ja-JP" sz="2400" dirty="0"/>
          </a:p>
          <a:p>
            <a:pPr indent="0" marL="0">
              <a:buNone/>
            </a:pPr>
            <a:r>
              <a:rPr lang="ja-JP" altLang="en-US" sz="2400" b="1" dirty="0">
                <a:solidFill>
                  <a:schemeClr val="bg1"/>
                </a:solidFill>
              </a:rPr>
              <a:t>読んでみよう。</a:t>
            </a:r>
            <a:endParaRPr lang="ja-JP" sz="2400" dirty="0"/>
          </a:p>
        </p:txBody>
      </p:sp>
      <p:sp>
        <p:nvSpPr>
          <p:cNvPr id="22" name="Shape 19"/>
          <p:cNvSpPr/>
          <p:nvPr/>
        </p:nvSpPr>
        <p:spPr>
          <a:xfrm>
            <a:off x="8275320" y="4160520"/>
            <a:ext cx="777240" cy="777240"/>
          </a:xfrm>
          <a:prstGeom prst="ellipse">
            <a:avLst/>
          </a:prstGeom>
          <a:solidFill>
            <a:srgbClr val="1C3A57"/>
          </a:solidFill>
          <a:ln/>
        </p:spPr>
      </p:sp>
      <p:pic>
        <p:nvPicPr>
          <p:cNvPr id="23" name="Image 0" descr="TbNews">    </p:cNvPr>
          <p:cNvPicPr>
            <a:picLocks noChangeAspect="1"/>
          </p:cNvPicPr>
          <p:nvPr/>
        </p:nvPicPr>
        <p:blipFill>
          <a:blip r:embed="rId1"/>
          <a:stretch>
            <a:fillRect/>
          </a:stretch>
        </p:blipFill>
        <p:spPr>
          <a:xfrm>
            <a:off x="8446313" y="4331513"/>
            <a:ext cx="435254" cy="435254"/>
          </a:xfrm>
          <a:prstGeom prst="rect">
            <a:avLst/>
          </a:prstGeom>
        </p:spPr>
      </p:pic>
      <p:sp>
        <p:nvSpPr>
          <p:cNvPr id="24" name="Text 20"/>
          <p:cNvSpPr txBox="1"/>
          <p:nvPr/>
        </p:nvSpPr>
        <p:spPr>
          <a:xfrm>
            <a:off x="8275320" y="4983480"/>
            <a:ext cx="777240" cy="365760"/>
          </a:xfrm>
          <a:prstGeom prst="rect">
            <a:avLst/>
          </a:prstGeom>
          <a:noFill/>
          <a:ln/>
        </p:spPr>
        <p:txBody>
          <a:bodyPr wrap="square" lIns="0" tIns="0" rIns="0" bIns="0" rtlCol="0" anchor="t"/>
          <a:lstStyle/>
          <a:p>
            <a:pPr algn="ctr" indent="0" marL="0">
              <a:buNone/>
            </a:pPr>
            <a:r>
              <a:rPr lang="ja-JP" altLang="en-US" sz="1800" b="1" dirty="0">
                <a:solidFill>
                  <a:schemeClr val="bg1"/>
                </a:solidFill>
              </a:rPr>
              <a:t>①</a:t>
            </a:r>
            <a:endParaRPr lang="ja-JP" sz="1800" dirty="0"/>
          </a:p>
        </p:txBody>
      </p:sp>
      <p:sp>
        <p:nvSpPr>
          <p:cNvPr id="25" name="Shape 21"/>
          <p:cNvSpPr/>
          <p:nvPr/>
        </p:nvSpPr>
        <p:spPr>
          <a:xfrm>
            <a:off x="9281160" y="4160520"/>
            <a:ext cx="777240" cy="777240"/>
          </a:xfrm>
          <a:prstGeom prst="ellipse">
            <a:avLst/>
          </a:prstGeom>
          <a:solidFill>
            <a:srgbClr val="1C3A57"/>
          </a:solidFill>
          <a:ln/>
        </p:spPr>
      </p:sp>
      <p:pic>
        <p:nvPicPr>
          <p:cNvPr id="26" name="Image 1" descr="TbNews">    </p:cNvPr>
          <p:cNvPicPr>
            <a:picLocks noChangeAspect="1"/>
          </p:cNvPicPr>
          <p:nvPr/>
        </p:nvPicPr>
        <p:blipFill>
          <a:blip r:embed="rId2"/>
          <a:stretch>
            <a:fillRect/>
          </a:stretch>
        </p:blipFill>
        <p:spPr>
          <a:xfrm>
            <a:off x="9452153" y="4331513"/>
            <a:ext cx="435254" cy="435254"/>
          </a:xfrm>
          <a:prstGeom prst="rect">
            <a:avLst/>
          </a:prstGeom>
        </p:spPr>
      </p:pic>
      <p:sp>
        <p:nvSpPr>
          <p:cNvPr id="27" name="Text 22"/>
          <p:cNvSpPr txBox="1"/>
          <p:nvPr/>
        </p:nvSpPr>
        <p:spPr>
          <a:xfrm>
            <a:off x="9281160" y="4983480"/>
            <a:ext cx="777240" cy="365760"/>
          </a:xfrm>
          <a:prstGeom prst="rect">
            <a:avLst/>
          </a:prstGeom>
          <a:noFill/>
          <a:ln/>
        </p:spPr>
        <p:txBody>
          <a:bodyPr wrap="square" lIns="0" tIns="0" rIns="0" bIns="0" rtlCol="0" anchor="t"/>
          <a:lstStyle/>
          <a:p>
            <a:pPr algn="ctr" indent="0" marL="0">
              <a:buNone/>
            </a:pPr>
            <a:r>
              <a:rPr lang="ja-JP" altLang="en-US" sz="1800" b="1" dirty="0">
                <a:solidFill>
                  <a:schemeClr val="bg1"/>
                </a:solidFill>
              </a:rPr>
              <a:t>②</a:t>
            </a:r>
            <a:endParaRPr lang="ja-JP" sz="1800" dirty="0"/>
          </a:p>
        </p:txBody>
      </p:sp>
      <p:sp>
        <p:nvSpPr>
          <p:cNvPr id="28" name="Shape 23"/>
          <p:cNvSpPr/>
          <p:nvPr/>
        </p:nvSpPr>
        <p:spPr>
          <a:xfrm>
            <a:off x="10287000" y="4160520"/>
            <a:ext cx="777240" cy="777240"/>
          </a:xfrm>
          <a:prstGeom prst="ellipse">
            <a:avLst/>
          </a:prstGeom>
          <a:solidFill>
            <a:srgbClr val="1C3A57"/>
          </a:solidFill>
          <a:ln/>
        </p:spPr>
      </p:sp>
      <p:pic>
        <p:nvPicPr>
          <p:cNvPr id="29" name="Image 2" descr="TbNews">    </p:cNvPr>
          <p:cNvPicPr>
            <a:picLocks noChangeAspect="1"/>
          </p:cNvPicPr>
          <p:nvPr/>
        </p:nvPicPr>
        <p:blipFill>
          <a:blip r:embed="rId3"/>
          <a:stretch>
            <a:fillRect/>
          </a:stretch>
        </p:blipFill>
        <p:spPr>
          <a:xfrm>
            <a:off x="10457993" y="4331513"/>
            <a:ext cx="435254" cy="435254"/>
          </a:xfrm>
          <a:prstGeom prst="rect">
            <a:avLst/>
          </a:prstGeom>
        </p:spPr>
      </p:pic>
      <p:sp>
        <p:nvSpPr>
          <p:cNvPr id="30" name="Text 24"/>
          <p:cNvSpPr txBox="1"/>
          <p:nvPr/>
        </p:nvSpPr>
        <p:spPr>
          <a:xfrm>
            <a:off x="10287000" y="4983480"/>
            <a:ext cx="777240" cy="365760"/>
          </a:xfrm>
          <a:prstGeom prst="rect">
            <a:avLst/>
          </a:prstGeom>
          <a:noFill/>
          <a:ln/>
        </p:spPr>
        <p:txBody>
          <a:bodyPr wrap="square" lIns="0" tIns="0" rIns="0" bIns="0" rtlCol="0" anchor="t"/>
          <a:lstStyle/>
          <a:p>
            <a:pPr algn="ctr" indent="0" marL="0">
              <a:buNone/>
            </a:pPr>
            <a:r>
              <a:rPr lang="ja-JP" altLang="en-US" sz="1800" b="1" dirty="0">
                <a:solidFill>
                  <a:schemeClr val="bg1"/>
                </a:solidFill>
              </a:rPr>
              <a:t>③</a:t>
            </a:r>
            <a:endParaRPr lang="ja-JP" sz="18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04｜3つのニュースから未来を考える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ニュース① 同じ会社で「値上げ」と「値下げ」</a:t>
            </a:r>
            <a:endParaRPr lang="en-US" sz="3000" dirty="0"/>
          </a:p>
        </p:txBody>
      </p:sp>
      <p:pic>
        <p:nvPicPr>
          <p:cNvPr id="5" name="Image 0" descr="イメージ図（一般的なイラスト。実在企業の設備ではありません）">    </p:cNvPr>
          <p:cNvPicPr>
            <a:picLocks noChangeAspect="1"/>
          </p:cNvPicPr>
          <p:nvPr/>
        </p:nvPicPr>
        <p:blipFill>
          <a:blip r:embed="rId1"/>
          <a:stretch>
            <a:fillRect/>
          </a:stretch>
        </p:blipFill>
        <p:spPr>
          <a:xfrm>
            <a:off x="548640" y="1645920"/>
            <a:ext cx="4434840" cy="4114800"/>
          </a:xfrm>
          <a:prstGeom prst="rect">
            <a:avLst/>
          </a:prstGeom>
        </p:spPr>
      </p:pic>
      <p:sp>
        <p:nvSpPr>
          <p:cNvPr id="6" name="Text 2"/>
          <p:cNvSpPr txBox="1"/>
          <p:nvPr/>
        </p:nvSpPr>
        <p:spPr>
          <a:xfrm>
            <a:off x="731520" y="1810512"/>
            <a:ext cx="1280160" cy="347472"/>
          </a:xfrm>
          <a:prstGeom prst="roundRect">
            <a:avLst>
              <a:gd name="adj" fmla="val 50000"/>
            </a:avLst>
          </a:prstGeom>
          <a:solidFill>
            <a:schemeClr val="bg1"/>
          </a:solidFill>
          <a:ln/>
        </p:spPr>
        <p:txBody>
          <a:bodyPr wrap="square" lIns="0" tIns="0" rIns="0" bIns="0" rtlCol="0" anchor="ctr"/>
          <a:lstStyle/>
          <a:p>
            <a:pPr algn="ctr" indent="0" marL="0">
              <a:buNone/>
            </a:pPr>
            <a:r>
              <a:rPr lang="ja-JP" altLang="en-US" sz="1300" b="1" dirty="0">
                <a:solidFill>
                  <a:schemeClr val="tx2"/>
                </a:solidFill>
              </a:rPr>
              <a:t>イメージ図</a:t>
            </a:r>
            <a:endParaRPr lang="ja-JP" sz="1300" dirty="0"/>
          </a:p>
        </p:txBody>
      </p:sp>
      <p:sp>
        <p:nvSpPr>
          <p:cNvPr id="7" name="Text 3"/>
          <p:cNvSpPr txBox="1"/>
          <p:nvPr/>
        </p:nvSpPr>
        <p:spPr>
          <a:xfrm>
            <a:off x="5303520" y="1691640"/>
            <a:ext cx="1325880" cy="438912"/>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NEWS ①</a:t>
            </a:r>
            <a:endParaRPr lang="ja-JP" sz="1600" dirty="0"/>
          </a:p>
        </p:txBody>
      </p:sp>
      <p:sp>
        <p:nvSpPr>
          <p:cNvPr id="8" name="Text 4"/>
          <p:cNvSpPr txBox="1"/>
          <p:nvPr/>
        </p:nvSpPr>
        <p:spPr>
          <a:xfrm>
            <a:off x="6766560" y="1645920"/>
            <a:ext cx="4846320" cy="530352"/>
          </a:xfrm>
          <a:prstGeom prst="rect">
            <a:avLst/>
          </a:prstGeom>
          <a:noFill/>
          <a:ln/>
        </p:spPr>
        <p:txBody>
          <a:bodyPr wrap="square" lIns="0" tIns="0" rIns="0" bIns="0" rtlCol="0" anchor="ctr"/>
          <a:lstStyle/>
          <a:p>
            <a:pPr indent="0" marL="0">
              <a:buNone/>
            </a:pPr>
            <a:r>
              <a:rPr lang="ja-JP" altLang="en-US" sz="2400" b="1" dirty="0">
                <a:solidFill>
                  <a:schemeClr val="tx2"/>
                </a:solidFill>
              </a:rPr>
              <a:t>日本製鉄｜2026年10月</a:t>
            </a:r>
            <a:endParaRPr lang="ja-JP" sz="2400" dirty="0"/>
          </a:p>
        </p:txBody>
      </p:sp>
      <p:sp>
        <p:nvSpPr>
          <p:cNvPr id="9" name="Shape 5"/>
          <p:cNvSpPr/>
          <p:nvPr/>
        </p:nvSpPr>
        <p:spPr>
          <a:xfrm>
            <a:off x="5303520" y="2377440"/>
            <a:ext cx="3044952" cy="2194560"/>
          </a:xfrm>
          <a:prstGeom prst="roundRect">
            <a:avLst>
              <a:gd name="adj" fmla="val 6667"/>
            </a:avLst>
          </a:prstGeom>
          <a:solidFill>
            <a:srgbClr val="FCEBD3"/>
          </a:solidFill>
          <a:ln/>
        </p:spPr>
      </p:sp>
      <p:sp>
        <p:nvSpPr>
          <p:cNvPr id="10" name="Text 6"/>
          <p:cNvSpPr txBox="1"/>
          <p:nvPr/>
        </p:nvSpPr>
        <p:spPr>
          <a:xfrm>
            <a:off x="5486400" y="2487168"/>
            <a:ext cx="2697480" cy="685800"/>
          </a:xfrm>
          <a:prstGeom prst="rect">
            <a:avLst/>
          </a:prstGeom>
          <a:noFill/>
          <a:ln/>
        </p:spPr>
        <p:txBody>
          <a:bodyPr wrap="square" lIns="0" tIns="0" rIns="0" bIns="0" rtlCol="0" anchor="ctr"/>
          <a:lstStyle/>
          <a:p>
            <a:pPr indent="0" marL="0">
              <a:buNone/>
            </a:pPr>
            <a:r>
              <a:rPr lang="ja-JP" altLang="en-US" sz="1800" b="1" dirty="0">
                <a:solidFill>
                  <a:schemeClr val="tx2"/>
                </a:solidFill>
              </a:rPr>
              <a:t>一部の薄板4品種</a:t>
            </a:r>
            <a:endParaRPr lang="ja-JP" sz="1800" dirty="0"/>
          </a:p>
        </p:txBody>
      </p:sp>
      <p:pic>
        <p:nvPicPr>
          <p:cNvPr id="11" name="Image 1" descr="TbTrendingUp">    </p:cNvPr>
          <p:cNvPicPr>
            <a:picLocks noChangeAspect="1"/>
          </p:cNvPicPr>
          <p:nvPr/>
        </p:nvPicPr>
        <p:blipFill>
          <a:blip r:embed="rId2"/>
          <a:stretch>
            <a:fillRect/>
          </a:stretch>
        </p:blipFill>
        <p:spPr>
          <a:xfrm>
            <a:off x="5486400" y="3310128"/>
            <a:ext cx="566928" cy="566928"/>
          </a:xfrm>
          <a:prstGeom prst="rect">
            <a:avLst/>
          </a:prstGeom>
        </p:spPr>
      </p:pic>
      <p:sp>
        <p:nvSpPr>
          <p:cNvPr id="12" name="Text 7"/>
          <p:cNvSpPr txBox="1"/>
          <p:nvPr/>
        </p:nvSpPr>
        <p:spPr>
          <a:xfrm>
            <a:off x="6080760" y="3200400"/>
            <a:ext cx="2194560" cy="777240"/>
          </a:xfrm>
          <a:prstGeom prst="rect">
            <a:avLst/>
          </a:prstGeom>
          <a:noFill/>
          <a:ln/>
        </p:spPr>
        <p:txBody>
          <a:bodyPr wrap="square" lIns="0" tIns="0" rIns="0" bIns="0" rtlCol="0" anchor="ctr"/>
          <a:lstStyle/>
          <a:p>
            <a:pPr indent="0" marL="0">
              <a:buNone/>
            </a:pPr>
            <a:r>
              <a:rPr lang="ja-JP" altLang="en-US" sz="4000" b="1" dirty="0">
                <a:solidFill>
                  <a:srgbClr val="B86E10"/>
                </a:solidFill>
              </a:rPr>
              <a:t>+5,000</a:t>
            </a:r>
            <a:endParaRPr lang="ja-JP" sz="4000" dirty="0"/>
          </a:p>
        </p:txBody>
      </p:sp>
      <p:sp>
        <p:nvSpPr>
          <p:cNvPr id="13" name="Text 8"/>
          <p:cNvSpPr txBox="1"/>
          <p:nvPr/>
        </p:nvSpPr>
        <p:spPr>
          <a:xfrm>
            <a:off x="6080760" y="3977640"/>
            <a:ext cx="2194560" cy="411480"/>
          </a:xfrm>
          <a:prstGeom prst="rect">
            <a:avLst/>
          </a:prstGeom>
          <a:noFill/>
          <a:ln/>
        </p:spPr>
        <p:txBody>
          <a:bodyPr wrap="square" lIns="0" tIns="0" rIns="0" bIns="0" rtlCol="0" anchor="t"/>
          <a:lstStyle/>
          <a:p>
            <a:pPr indent="0" marL="0">
              <a:buNone/>
            </a:pPr>
            <a:r>
              <a:rPr lang="ja-JP" altLang="en-US" sz="1800" b="1" dirty="0">
                <a:solidFill>
                  <a:schemeClr val="tx1"/>
                </a:solidFill>
              </a:rPr>
              <a:t>円／トン</a:t>
            </a:r>
            <a:endParaRPr lang="ja-JP" sz="1800" dirty="0"/>
          </a:p>
        </p:txBody>
      </p:sp>
      <p:sp>
        <p:nvSpPr>
          <p:cNvPr id="14" name="Shape 9"/>
          <p:cNvSpPr/>
          <p:nvPr/>
        </p:nvSpPr>
        <p:spPr>
          <a:xfrm>
            <a:off x="8595360" y="2377440"/>
            <a:ext cx="3044952" cy="2194560"/>
          </a:xfrm>
          <a:prstGeom prst="roundRect">
            <a:avLst>
              <a:gd name="adj" fmla="val 6667"/>
            </a:avLst>
          </a:prstGeom>
          <a:solidFill>
            <a:srgbClr val="D6ECEC"/>
          </a:solidFill>
          <a:ln/>
        </p:spPr>
      </p:sp>
      <p:sp>
        <p:nvSpPr>
          <p:cNvPr id="15" name="Text 10"/>
          <p:cNvSpPr txBox="1"/>
          <p:nvPr/>
        </p:nvSpPr>
        <p:spPr>
          <a:xfrm>
            <a:off x="8778240" y="2487168"/>
            <a:ext cx="2697480" cy="685800"/>
          </a:xfrm>
          <a:prstGeom prst="rect">
            <a:avLst/>
          </a:prstGeom>
          <a:noFill/>
          <a:ln/>
        </p:spPr>
        <p:txBody>
          <a:bodyPr wrap="square" lIns="0" tIns="0" rIns="0" bIns="0" rtlCol="0" anchor="ctr"/>
          <a:lstStyle/>
          <a:p>
            <a:pPr indent="0" marL="0">
              <a:buNone/>
            </a:pPr>
            <a:r>
              <a:rPr lang="ja-JP" altLang="en-US" sz="1800" b="1" dirty="0">
                <a:solidFill>
                  <a:schemeClr val="tx2"/>
                </a:solidFill>
              </a:rPr>
              <a:t>一部の店売り向け</a:t>
            </a:r>
            <a:endParaRPr lang="ja-JP" sz="1800" dirty="0"/>
          </a:p>
          <a:p>
            <a:pPr indent="0" marL="0">
              <a:buNone/>
            </a:pPr>
            <a:r>
              <a:rPr lang="ja-JP" altLang="en-US" sz="1800" b="1" dirty="0">
                <a:solidFill>
                  <a:schemeClr val="tx2"/>
                </a:solidFill>
              </a:rPr>
              <a:t>ステンレス鋼板</a:t>
            </a:r>
            <a:endParaRPr lang="ja-JP" sz="1800" dirty="0"/>
          </a:p>
        </p:txBody>
      </p:sp>
      <p:pic>
        <p:nvPicPr>
          <p:cNvPr id="16" name="Image 2" descr="TbTrendingDown">    </p:cNvPr>
          <p:cNvPicPr>
            <a:picLocks noChangeAspect="1"/>
          </p:cNvPicPr>
          <p:nvPr/>
        </p:nvPicPr>
        <p:blipFill>
          <a:blip r:embed="rId3"/>
          <a:stretch>
            <a:fillRect/>
          </a:stretch>
        </p:blipFill>
        <p:spPr>
          <a:xfrm>
            <a:off x="8778240" y="3310128"/>
            <a:ext cx="566928" cy="566928"/>
          </a:xfrm>
          <a:prstGeom prst="rect">
            <a:avLst/>
          </a:prstGeom>
        </p:spPr>
      </p:pic>
      <p:sp>
        <p:nvSpPr>
          <p:cNvPr id="17" name="Text 11"/>
          <p:cNvSpPr txBox="1"/>
          <p:nvPr/>
        </p:nvSpPr>
        <p:spPr>
          <a:xfrm>
            <a:off x="9372600" y="3200400"/>
            <a:ext cx="2194560" cy="777240"/>
          </a:xfrm>
          <a:prstGeom prst="rect">
            <a:avLst/>
          </a:prstGeom>
          <a:noFill/>
          <a:ln/>
        </p:spPr>
        <p:txBody>
          <a:bodyPr wrap="square" lIns="0" tIns="0" rIns="0" bIns="0" rtlCol="0" anchor="ctr"/>
          <a:lstStyle/>
          <a:p>
            <a:pPr indent="0" marL="0">
              <a:buNone/>
            </a:pPr>
            <a:r>
              <a:rPr lang="ja-JP" altLang="en-US" sz="4000" b="1" dirty="0">
                <a:solidFill>
                  <a:schemeClr val="accent1"/>
                </a:solidFill>
              </a:rPr>
              <a:t>-5,000</a:t>
            </a:r>
            <a:endParaRPr lang="ja-JP" sz="4000" dirty="0"/>
          </a:p>
        </p:txBody>
      </p:sp>
      <p:sp>
        <p:nvSpPr>
          <p:cNvPr id="18" name="Text 12"/>
          <p:cNvSpPr txBox="1"/>
          <p:nvPr/>
        </p:nvSpPr>
        <p:spPr>
          <a:xfrm>
            <a:off x="9372600" y="3977640"/>
            <a:ext cx="2194560" cy="411480"/>
          </a:xfrm>
          <a:prstGeom prst="rect">
            <a:avLst/>
          </a:prstGeom>
          <a:noFill/>
          <a:ln/>
        </p:spPr>
        <p:txBody>
          <a:bodyPr wrap="square" lIns="0" tIns="0" rIns="0" bIns="0" rtlCol="0" anchor="t"/>
          <a:lstStyle/>
          <a:p>
            <a:pPr indent="0" marL="0">
              <a:buNone/>
            </a:pPr>
            <a:r>
              <a:rPr lang="ja-JP" altLang="en-US" sz="1800" b="1" dirty="0">
                <a:solidFill>
                  <a:schemeClr val="tx1"/>
                </a:solidFill>
              </a:rPr>
              <a:t>円／トン</a:t>
            </a:r>
            <a:endParaRPr lang="ja-JP" sz="1800" dirty="0"/>
          </a:p>
        </p:txBody>
      </p:sp>
      <p:sp>
        <p:nvSpPr>
          <p:cNvPr id="19" name="Shape 13"/>
          <p:cNvSpPr/>
          <p:nvPr/>
        </p:nvSpPr>
        <p:spPr>
          <a:xfrm>
            <a:off x="5303520" y="4754880"/>
            <a:ext cx="6336792" cy="1005840"/>
          </a:xfrm>
          <a:prstGeom prst="roundRect">
            <a:avLst>
              <a:gd name="adj" fmla="val 12727"/>
            </a:avLst>
          </a:prstGeom>
          <a:solidFill>
            <a:schemeClr val="tx2"/>
          </a:solidFill>
          <a:ln/>
        </p:spPr>
      </p:sp>
      <p:sp>
        <p:nvSpPr>
          <p:cNvPr id="20" name="Text 14"/>
          <p:cNvSpPr txBox="1"/>
          <p:nvPr/>
        </p:nvSpPr>
        <p:spPr>
          <a:xfrm>
            <a:off x="5532120" y="4754880"/>
            <a:ext cx="5943600" cy="1005840"/>
          </a:xfrm>
          <a:prstGeom prst="rect">
            <a:avLst/>
          </a:prstGeom>
          <a:noFill/>
          <a:ln/>
        </p:spPr>
        <p:txBody>
          <a:bodyPr wrap="square" lIns="0" tIns="0" rIns="0" bIns="0" rtlCol="0" anchor="ctr"/>
          <a:lstStyle/>
          <a:p>
            <a:pPr indent="0" marL="0">
              <a:buNone/>
            </a:pPr>
            <a:r>
              <a:rPr lang="ja-JP" altLang="en-US" sz="2100" b="1" dirty="0">
                <a:solidFill>
                  <a:schemeClr val="bg1"/>
                </a:solidFill>
              </a:rPr>
              <a:t>同じ会社でも、</a:t>
            </a:r>
            <a:endParaRPr lang="ja-JP" sz="2100" dirty="0"/>
          </a:p>
          <a:p>
            <a:pPr indent="0" marL="0">
              <a:buNone/>
            </a:pPr>
            <a:r>
              <a:rPr lang="ja-JP" altLang="en-US" sz="2100" b="1" dirty="0">
                <a:solidFill>
                  <a:schemeClr val="bg1"/>
                </a:solidFill>
              </a:rPr>
              <a:t>製品ごとに価格が違う方向へ動いた。</a:t>
            </a:r>
            <a:endParaRPr lang="ja-JP" sz="2100" dirty="0"/>
          </a:p>
        </p:txBody>
      </p:sp>
      <p:sp>
        <p:nvSpPr>
          <p:cNvPr id="21" name="Text 15"/>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※両製品は同じ価格体系の製品ではない。出典：日刊産業新聞（2026/9/30、2026/10/9）</a:t>
            </a:r>
            <a:pPr indent="0" marL="0">
              <a:buNone/>
            </a:pPr>
            <a:r>
              <a:rPr lang="ja-JP" altLang="en-US" sz="1200" b="1" dirty="0">
                <a:solidFill>
                  <a:srgbClr val="B86E10"/>
                </a:solidFill>
              </a:rPr>
              <a:t>　【要確認】値上げ対象の範囲・ステンレス値下げ報道</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04｜3つのニュースから未来を考える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ニュース② グリーン水素で還元鉄を試作</a:t>
            </a:r>
            <a:endParaRPr lang="en-US" sz="3000" dirty="0"/>
          </a:p>
        </p:txBody>
      </p:sp>
      <p:pic>
        <p:nvPicPr>
          <p:cNvPr id="5" name="Image 0" descr="イメージ図（一般的なイラスト。実在企業の設備ではありません）">    </p:cNvPr>
          <p:cNvPicPr>
            <a:picLocks noChangeAspect="1"/>
          </p:cNvPicPr>
          <p:nvPr/>
        </p:nvPicPr>
        <p:blipFill>
          <a:blip r:embed="rId1"/>
          <a:stretch>
            <a:fillRect/>
          </a:stretch>
        </p:blipFill>
        <p:spPr>
          <a:xfrm>
            <a:off x="548640" y="1645920"/>
            <a:ext cx="6355080" cy="4114800"/>
          </a:xfrm>
          <a:prstGeom prst="rect">
            <a:avLst/>
          </a:prstGeom>
        </p:spPr>
      </p:pic>
      <p:sp>
        <p:nvSpPr>
          <p:cNvPr id="6" name="Text 2"/>
          <p:cNvSpPr txBox="1"/>
          <p:nvPr/>
        </p:nvSpPr>
        <p:spPr>
          <a:xfrm>
            <a:off x="731520" y="1810512"/>
            <a:ext cx="1280160" cy="347472"/>
          </a:xfrm>
          <a:prstGeom prst="roundRect">
            <a:avLst>
              <a:gd name="adj" fmla="val 50000"/>
            </a:avLst>
          </a:prstGeom>
          <a:solidFill>
            <a:schemeClr val="bg1"/>
          </a:solidFill>
          <a:ln/>
        </p:spPr>
        <p:txBody>
          <a:bodyPr wrap="square" lIns="0" tIns="0" rIns="0" bIns="0" rtlCol="0" anchor="ctr"/>
          <a:lstStyle/>
          <a:p>
            <a:pPr algn="ctr" indent="0" marL="0">
              <a:buNone/>
            </a:pPr>
            <a:r>
              <a:rPr lang="ja-JP" altLang="en-US" sz="1300" b="1" dirty="0">
                <a:solidFill>
                  <a:schemeClr val="tx2"/>
                </a:solidFill>
              </a:rPr>
              <a:t>イメージ図</a:t>
            </a:r>
            <a:endParaRPr lang="ja-JP" sz="1300" dirty="0"/>
          </a:p>
        </p:txBody>
      </p:sp>
      <p:sp>
        <p:nvSpPr>
          <p:cNvPr id="7" name="Text 3"/>
          <p:cNvSpPr txBox="1"/>
          <p:nvPr/>
        </p:nvSpPr>
        <p:spPr>
          <a:xfrm>
            <a:off x="7223760" y="1691640"/>
            <a:ext cx="1325880" cy="438912"/>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NEWS ②</a:t>
            </a:r>
            <a:endParaRPr lang="ja-JP" sz="1600" dirty="0"/>
          </a:p>
        </p:txBody>
      </p:sp>
      <p:sp>
        <p:nvSpPr>
          <p:cNvPr id="8" name="Text 4"/>
          <p:cNvSpPr txBox="1"/>
          <p:nvPr/>
        </p:nvSpPr>
        <p:spPr>
          <a:xfrm>
            <a:off x="7223760" y="2240280"/>
            <a:ext cx="4416552" cy="685800"/>
          </a:xfrm>
          <a:prstGeom prst="rect">
            <a:avLst/>
          </a:prstGeom>
          <a:noFill/>
          <a:ln/>
        </p:spPr>
        <p:txBody>
          <a:bodyPr wrap="square" lIns="0" tIns="0" rIns="0" bIns="0" rtlCol="0" anchor="t"/>
          <a:lstStyle/>
          <a:p>
            <a:pPr indent="0" marL="0">
              <a:buNone/>
            </a:pPr>
            <a:r>
              <a:rPr lang="ja-JP" altLang="en-US" sz="1800" b="1" dirty="0">
                <a:solidFill>
                  <a:schemeClr val="accent4"/>
                </a:solidFill>
              </a:rPr>
              <a:t>2026年7月31日</a:t>
            </a:r>
            <a:endParaRPr lang="ja-JP" sz="1800" dirty="0"/>
          </a:p>
          <a:p>
            <a:pPr indent="0" marL="0">
              <a:buNone/>
            </a:pPr>
            <a:r>
              <a:rPr lang="ja-JP" altLang="en-US" sz="1800" b="1" dirty="0">
                <a:solidFill>
                  <a:schemeClr val="accent4"/>
                </a:solidFill>
              </a:rPr>
              <a:t>NEDO・JFEスチール等が発表</a:t>
            </a:r>
            <a:endParaRPr lang="ja-JP" sz="1800" dirty="0"/>
          </a:p>
        </p:txBody>
      </p:sp>
      <p:sp>
        <p:nvSpPr>
          <p:cNvPr id="9" name="Shape 5"/>
          <p:cNvSpPr/>
          <p:nvPr/>
        </p:nvSpPr>
        <p:spPr>
          <a:xfrm>
            <a:off x="7223760" y="3017520"/>
            <a:ext cx="4416552" cy="822960"/>
          </a:xfrm>
          <a:prstGeom prst="roundRect">
            <a:avLst>
              <a:gd name="adj" fmla="val 13333"/>
            </a:avLst>
          </a:prstGeom>
          <a:solidFill>
            <a:schemeClr val="accent1"/>
          </a:solidFill>
          <a:ln/>
        </p:spPr>
      </p:sp>
      <p:pic>
        <p:nvPicPr>
          <p:cNvPr id="10" name="Image 1" descr="TbFlask">    </p:cNvPr>
          <p:cNvPicPr>
            <a:picLocks noChangeAspect="1"/>
          </p:cNvPicPr>
          <p:nvPr/>
        </p:nvPicPr>
        <p:blipFill>
          <a:blip r:embed="rId2"/>
          <a:stretch>
            <a:fillRect/>
          </a:stretch>
        </p:blipFill>
        <p:spPr>
          <a:xfrm>
            <a:off x="7388352" y="3218688"/>
            <a:ext cx="420624" cy="420624"/>
          </a:xfrm>
          <a:prstGeom prst="rect">
            <a:avLst/>
          </a:prstGeom>
        </p:spPr>
      </p:pic>
      <p:sp>
        <p:nvSpPr>
          <p:cNvPr id="11" name="Text 6"/>
          <p:cNvSpPr txBox="1"/>
          <p:nvPr/>
        </p:nvSpPr>
        <p:spPr>
          <a:xfrm>
            <a:off x="7909560" y="3017520"/>
            <a:ext cx="3657600" cy="822960"/>
          </a:xfrm>
          <a:prstGeom prst="rect">
            <a:avLst/>
          </a:prstGeom>
          <a:noFill/>
          <a:ln/>
        </p:spPr>
        <p:txBody>
          <a:bodyPr wrap="square" lIns="0" tIns="0" rIns="0" bIns="0" rtlCol="0" anchor="ctr"/>
          <a:lstStyle/>
          <a:p>
            <a:pPr indent="0" marL="0">
              <a:buNone/>
            </a:pPr>
            <a:r>
              <a:rPr lang="ja-JP" altLang="en-US" sz="1700" b="1" dirty="0">
                <a:solidFill>
                  <a:schemeClr val="bg1"/>
                </a:solidFill>
              </a:rPr>
              <a:t>日本で初めて、グリーン水素を使った還元鉄試作に成功</a:t>
            </a:r>
            <a:endParaRPr lang="ja-JP" sz="1700" dirty="0"/>
          </a:p>
        </p:txBody>
      </p:sp>
      <p:sp>
        <p:nvSpPr>
          <p:cNvPr id="12" name="Shape 7"/>
          <p:cNvSpPr/>
          <p:nvPr/>
        </p:nvSpPr>
        <p:spPr>
          <a:xfrm>
            <a:off x="7223760" y="3950208"/>
            <a:ext cx="4416552" cy="822960"/>
          </a:xfrm>
          <a:prstGeom prst="roundRect">
            <a:avLst>
              <a:gd name="adj" fmla="val 13333"/>
            </a:avLst>
          </a:prstGeom>
          <a:solidFill>
            <a:schemeClr val="bg2"/>
          </a:solidFill>
          <a:ln/>
        </p:spPr>
      </p:sp>
      <p:pic>
        <p:nvPicPr>
          <p:cNvPr id="13" name="Image 2" descr="TbScale">    </p:cNvPr>
          <p:cNvPicPr>
            <a:picLocks noChangeAspect="1"/>
          </p:cNvPicPr>
          <p:nvPr/>
        </p:nvPicPr>
        <p:blipFill>
          <a:blip r:embed="rId3"/>
          <a:stretch>
            <a:fillRect/>
          </a:stretch>
        </p:blipFill>
        <p:spPr>
          <a:xfrm>
            <a:off x="7388352" y="4151376"/>
            <a:ext cx="420624" cy="420624"/>
          </a:xfrm>
          <a:prstGeom prst="rect">
            <a:avLst/>
          </a:prstGeom>
        </p:spPr>
      </p:pic>
      <p:sp>
        <p:nvSpPr>
          <p:cNvPr id="14" name="Text 8"/>
          <p:cNvSpPr txBox="1"/>
          <p:nvPr/>
        </p:nvSpPr>
        <p:spPr>
          <a:xfrm>
            <a:off x="7909560" y="3950208"/>
            <a:ext cx="3657600" cy="822960"/>
          </a:xfrm>
          <a:prstGeom prst="rect">
            <a:avLst/>
          </a:prstGeom>
          <a:noFill/>
          <a:ln/>
        </p:spPr>
        <p:txBody>
          <a:bodyPr wrap="square" lIns="0" tIns="0" rIns="0" bIns="0" rtlCol="0" anchor="ctr"/>
          <a:lstStyle/>
          <a:p>
            <a:pPr indent="0" marL="0">
              <a:buNone/>
            </a:pPr>
            <a:r>
              <a:rPr lang="ja-JP" altLang="en-US" sz="1700" b="1" dirty="0">
                <a:solidFill>
                  <a:schemeClr val="tx2"/>
                </a:solidFill>
              </a:rPr>
              <a:t>試験設備で約1トンの還元鉄を製造</a:t>
            </a:r>
            <a:endParaRPr lang="ja-JP" sz="1700" dirty="0"/>
          </a:p>
        </p:txBody>
      </p:sp>
      <p:sp>
        <p:nvSpPr>
          <p:cNvPr id="15" name="Shape 9"/>
          <p:cNvSpPr/>
          <p:nvPr/>
        </p:nvSpPr>
        <p:spPr>
          <a:xfrm>
            <a:off x="7223760" y="4882896"/>
            <a:ext cx="4416552" cy="822960"/>
          </a:xfrm>
          <a:prstGeom prst="roundRect">
            <a:avLst>
              <a:gd name="adj" fmla="val 13333"/>
            </a:avLst>
          </a:prstGeom>
          <a:solidFill>
            <a:schemeClr val="bg2"/>
          </a:solidFill>
          <a:ln/>
        </p:spPr>
      </p:sp>
      <p:pic>
        <p:nvPicPr>
          <p:cNvPr id="16" name="Image 3" descr="TbRoute">    </p:cNvPr>
          <p:cNvPicPr>
            <a:picLocks noChangeAspect="1"/>
          </p:cNvPicPr>
          <p:nvPr/>
        </p:nvPicPr>
        <p:blipFill>
          <a:blip r:embed="rId4"/>
          <a:stretch>
            <a:fillRect/>
          </a:stretch>
        </p:blipFill>
        <p:spPr>
          <a:xfrm>
            <a:off x="7388352" y="5084064"/>
            <a:ext cx="420624" cy="420624"/>
          </a:xfrm>
          <a:prstGeom prst="rect">
            <a:avLst/>
          </a:prstGeom>
        </p:spPr>
      </p:pic>
      <p:sp>
        <p:nvSpPr>
          <p:cNvPr id="17" name="Text 10"/>
          <p:cNvSpPr txBox="1"/>
          <p:nvPr/>
        </p:nvSpPr>
        <p:spPr>
          <a:xfrm>
            <a:off x="7909560" y="4882896"/>
            <a:ext cx="3657600" cy="822960"/>
          </a:xfrm>
          <a:prstGeom prst="rect">
            <a:avLst/>
          </a:prstGeom>
          <a:noFill/>
          <a:ln/>
        </p:spPr>
        <p:txBody>
          <a:bodyPr wrap="square" lIns="0" tIns="0" rIns="0" bIns="0" rtlCol="0" anchor="ctr"/>
          <a:lstStyle/>
          <a:p>
            <a:pPr indent="0" marL="0">
              <a:buNone/>
            </a:pPr>
            <a:r>
              <a:rPr lang="ja-JP" altLang="en-US" sz="1700" b="1" dirty="0">
                <a:solidFill>
                  <a:schemeClr val="tx2"/>
                </a:solidFill>
              </a:rPr>
              <a:t>実用化へ向けた研究・実証は続く。</a:t>
            </a:r>
            <a:endParaRPr lang="ja-JP" sz="1700" dirty="0"/>
          </a:p>
        </p:txBody>
      </p:sp>
      <p:sp>
        <p:nvSpPr>
          <p:cNvPr id="18" name="Text 11"/>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※試作段階の成果であり、商業生産の確立ではない。出典：NEDO（2026/7/31）</a:t>
            </a:r>
            <a:pPr indent="0" marL="0">
              <a:buNone/>
            </a:pPr>
            <a:r>
              <a:rPr lang="ja-JP" altLang="en-US" sz="1200" b="1" dirty="0">
                <a:solidFill>
                  <a:srgbClr val="B86E10"/>
                </a:solidFill>
              </a:rPr>
              <a:t>　【要確認】製造量「約1トン」</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04｜3つのニュースから未来を考える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ニュース③ 中国・インド・日本で需要は違う</a:t>
            </a:r>
            <a:endParaRPr lang="en-US" sz="3000" dirty="0"/>
          </a:p>
        </p:txBody>
      </p:sp>
      <p:sp>
        <p:nvSpPr>
          <p:cNvPr id="5" name="Shape 2"/>
          <p:cNvSpPr/>
          <p:nvPr/>
        </p:nvSpPr>
        <p:spPr>
          <a:xfrm>
            <a:off x="548640" y="1645920"/>
            <a:ext cx="6858000" cy="4160520"/>
          </a:xfrm>
          <a:prstGeom prst="roundRect">
            <a:avLst>
              <a:gd name="adj" fmla="val 3516"/>
            </a:avLst>
          </a:prstGeom>
          <a:solidFill>
            <a:schemeClr val="bg1"/>
          </a:solidFill>
          <a:ln w="15875">
            <a:solidFill>
              <a:schemeClr val="accent5"/>
            </a:solidFill>
            <a:prstDash val="solid"/>
          </a:ln>
        </p:spPr>
      </p:sp>
      <p:sp>
        <p:nvSpPr>
          <p:cNvPr id="6" name="Text 3"/>
          <p:cNvSpPr txBox="1"/>
          <p:nvPr/>
        </p:nvSpPr>
        <p:spPr>
          <a:xfrm>
            <a:off x="777240" y="1755648"/>
            <a:ext cx="6400800" cy="411480"/>
          </a:xfrm>
          <a:prstGeom prst="rect">
            <a:avLst/>
          </a:prstGeom>
          <a:noFill/>
          <a:ln/>
        </p:spPr>
        <p:txBody>
          <a:bodyPr wrap="square" lIns="0" tIns="0" rIns="0" bIns="0" rtlCol="0" anchor="t"/>
          <a:lstStyle/>
          <a:p>
            <a:pPr indent="0" marL="0">
              <a:buNone/>
            </a:pPr>
            <a:r>
              <a:rPr lang="ja-JP" altLang="en-US" sz="1800" b="1" dirty="0">
                <a:solidFill>
                  <a:schemeClr val="tx2"/>
                </a:solidFill>
              </a:rPr>
              <a:t>2027年の鉄鋼需要予測（前年比）</a:t>
            </a:r>
            <a:endParaRPr lang="ja-JP" sz="1800" dirty="0"/>
          </a:p>
        </p:txBody>
      </p:sp>
      <p:graphicFrame>
        <p:nvGraphicFramePr>
          <p:cNvPr id="7" name="Chart 0" descr=""/>
          <p:cNvGraphicFramePr/>
          <p:nvPr/>
        </p:nvGraphicFramePr>
        <p:xfrm>
          <a:off x="731520" y="2194560"/>
          <a:ext cx="6492240" cy="34747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772400" y="1691640"/>
            <a:ext cx="1325880" cy="438912"/>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NEWS ③</a:t>
            </a:r>
            <a:endParaRPr lang="ja-JP" sz="1600" dirty="0"/>
          </a:p>
        </p:txBody>
      </p:sp>
      <p:sp>
        <p:nvSpPr>
          <p:cNvPr id="9" name="Text 5"/>
          <p:cNvSpPr txBox="1"/>
          <p:nvPr/>
        </p:nvSpPr>
        <p:spPr>
          <a:xfrm>
            <a:off x="7772400" y="2286000"/>
            <a:ext cx="3867912" cy="822960"/>
          </a:xfrm>
          <a:prstGeom prst="rect">
            <a:avLst/>
          </a:prstGeom>
          <a:noFill/>
          <a:ln/>
        </p:spPr>
        <p:txBody>
          <a:bodyPr wrap="square" lIns="0" tIns="0" rIns="0" bIns="0" rtlCol="0" anchor="t"/>
          <a:lstStyle/>
          <a:p>
            <a:pPr indent="0" marL="0">
              <a:buNone/>
            </a:pPr>
            <a:r>
              <a:rPr lang="ja-JP" altLang="en-US" sz="2000" b="1" dirty="0">
                <a:solidFill>
                  <a:schemeClr val="tx2"/>
                </a:solidFill>
              </a:rPr>
              <a:t>世界鉄鋼協会</a:t>
            </a:r>
            <a:endParaRPr lang="ja-JP" sz="2000" dirty="0"/>
          </a:p>
          <a:p>
            <a:pPr indent="0" marL="0">
              <a:buNone/>
            </a:pPr>
            <a:r>
              <a:rPr lang="ja-JP" altLang="en-US" sz="2000" b="1" dirty="0">
                <a:solidFill>
                  <a:schemeClr val="tx2"/>
                </a:solidFill>
              </a:rPr>
              <a:t>2026年10月12日公表</a:t>
            </a:r>
            <a:endParaRPr lang="ja-JP" sz="2000" dirty="0"/>
          </a:p>
        </p:txBody>
      </p:sp>
      <p:sp>
        <p:nvSpPr>
          <p:cNvPr id="10" name="Text 6"/>
          <p:cNvSpPr txBox="1"/>
          <p:nvPr/>
        </p:nvSpPr>
        <p:spPr>
          <a:xfrm>
            <a:off x="7772400" y="3246120"/>
            <a:ext cx="1920240" cy="502920"/>
          </a:xfrm>
          <a:prstGeom prst="rect">
            <a:avLst/>
          </a:prstGeom>
          <a:noFill/>
          <a:ln/>
        </p:spPr>
        <p:txBody>
          <a:bodyPr wrap="square" lIns="0" tIns="0" rIns="0" bIns="0" rtlCol="0" anchor="ctr"/>
          <a:lstStyle/>
          <a:p>
            <a:pPr indent="0" marL="0">
              <a:buNone/>
            </a:pPr>
            <a:r>
              <a:rPr lang="ja-JP" altLang="en-US" sz="1800" dirty="0">
                <a:solidFill>
                  <a:schemeClr val="tx1"/>
                </a:solidFill>
              </a:rPr>
              <a:t>インド </a:t>
            </a:r>
            <a:pPr indent="0" marL="0">
              <a:buNone/>
            </a:pPr>
            <a:r>
              <a:rPr lang="ja-JP" altLang="en-US" sz="2200" b="1" dirty="0">
                <a:solidFill>
                  <a:srgbClr val="B86E10"/>
                </a:solidFill>
              </a:rPr>
              <a:t>＋8.0％</a:t>
            </a:r>
            <a:endParaRPr lang="ja-JP" sz="2000" dirty="0"/>
          </a:p>
        </p:txBody>
      </p:sp>
      <p:sp>
        <p:nvSpPr>
          <p:cNvPr id="11" name="Text 7"/>
          <p:cNvSpPr txBox="1"/>
          <p:nvPr/>
        </p:nvSpPr>
        <p:spPr>
          <a:xfrm>
            <a:off x="9738360" y="3246120"/>
            <a:ext cx="1920240" cy="502920"/>
          </a:xfrm>
          <a:prstGeom prst="rect">
            <a:avLst/>
          </a:prstGeom>
          <a:noFill/>
          <a:ln/>
        </p:spPr>
        <p:txBody>
          <a:bodyPr wrap="square" lIns="0" tIns="0" rIns="0" bIns="0" rtlCol="0" anchor="ctr"/>
          <a:lstStyle/>
          <a:p>
            <a:pPr indent="0" marL="0">
              <a:buNone/>
            </a:pPr>
            <a:r>
              <a:rPr lang="ja-JP" altLang="en-US" sz="1800" dirty="0">
                <a:solidFill>
                  <a:schemeClr val="tx1"/>
                </a:solidFill>
              </a:rPr>
              <a:t>中国 </a:t>
            </a:r>
            <a:pPr indent="0" marL="0">
              <a:buNone/>
            </a:pPr>
            <a:r>
              <a:rPr lang="ja-JP" altLang="en-US" sz="2200" b="1" dirty="0">
                <a:solidFill>
                  <a:srgbClr val="C8483D"/>
                </a:solidFill>
              </a:rPr>
              <a:t>−1.0％</a:t>
            </a:r>
            <a:endParaRPr lang="ja-JP" sz="2000" dirty="0"/>
          </a:p>
        </p:txBody>
      </p:sp>
      <p:sp>
        <p:nvSpPr>
          <p:cNvPr id="12" name="Text 8"/>
          <p:cNvSpPr txBox="1"/>
          <p:nvPr/>
        </p:nvSpPr>
        <p:spPr>
          <a:xfrm>
            <a:off x="7772400" y="3813048"/>
            <a:ext cx="1920240" cy="502920"/>
          </a:xfrm>
          <a:prstGeom prst="rect">
            <a:avLst/>
          </a:prstGeom>
          <a:noFill/>
          <a:ln/>
        </p:spPr>
        <p:txBody>
          <a:bodyPr wrap="square" lIns="0" tIns="0" rIns="0" bIns="0" rtlCol="0" anchor="ctr"/>
          <a:lstStyle/>
          <a:p>
            <a:pPr indent="0" marL="0">
              <a:buNone/>
            </a:pPr>
            <a:r>
              <a:rPr lang="ja-JP" altLang="en-US" sz="1800" dirty="0">
                <a:solidFill>
                  <a:schemeClr val="tx1"/>
                </a:solidFill>
              </a:rPr>
              <a:t>日本 </a:t>
            </a:r>
            <a:pPr indent="0" marL="0">
              <a:buNone/>
            </a:pPr>
            <a:r>
              <a:rPr lang="ja-JP" altLang="en-US" sz="2200" b="1" dirty="0">
                <a:solidFill>
                  <a:srgbClr val="067F82"/>
                </a:solidFill>
              </a:rPr>
              <a:t>＋1.7％</a:t>
            </a:r>
            <a:endParaRPr lang="ja-JP" sz="2000" dirty="0"/>
          </a:p>
        </p:txBody>
      </p:sp>
      <p:sp>
        <p:nvSpPr>
          <p:cNvPr id="13" name="Text 9"/>
          <p:cNvSpPr txBox="1"/>
          <p:nvPr/>
        </p:nvSpPr>
        <p:spPr>
          <a:xfrm>
            <a:off x="9738360" y="3813048"/>
            <a:ext cx="1920240" cy="502920"/>
          </a:xfrm>
          <a:prstGeom prst="rect">
            <a:avLst/>
          </a:prstGeom>
          <a:noFill/>
          <a:ln/>
        </p:spPr>
        <p:txBody>
          <a:bodyPr wrap="square" lIns="0" tIns="0" rIns="0" bIns="0" rtlCol="0" anchor="ctr"/>
          <a:lstStyle/>
          <a:p>
            <a:pPr indent="0" marL="0">
              <a:buNone/>
            </a:pPr>
            <a:r>
              <a:rPr lang="ja-JP" altLang="en-US" sz="1800" dirty="0">
                <a:solidFill>
                  <a:schemeClr val="tx1"/>
                </a:solidFill>
              </a:rPr>
              <a:t>世界 </a:t>
            </a:r>
            <a:pPr indent="0" marL="0">
              <a:buNone/>
            </a:pPr>
            <a:r>
              <a:rPr lang="ja-JP" altLang="en-US" sz="2200" b="1" dirty="0">
                <a:solidFill>
                  <a:srgbClr val="5B6B7C"/>
                </a:solidFill>
              </a:rPr>
              <a:t>＋1.7％</a:t>
            </a:r>
            <a:endParaRPr lang="ja-JP" sz="2000" dirty="0"/>
          </a:p>
        </p:txBody>
      </p:sp>
      <p:sp>
        <p:nvSpPr>
          <p:cNvPr id="14" name="Shape 10"/>
          <p:cNvSpPr/>
          <p:nvPr/>
        </p:nvSpPr>
        <p:spPr>
          <a:xfrm>
            <a:off x="7772400" y="4526280"/>
            <a:ext cx="3867912" cy="1280160"/>
          </a:xfrm>
          <a:prstGeom prst="roundRect">
            <a:avLst>
              <a:gd name="adj" fmla="val 10000"/>
            </a:avLst>
          </a:prstGeom>
          <a:solidFill>
            <a:srgbClr val="FCEBD3"/>
          </a:solidFill>
          <a:ln/>
        </p:spPr>
      </p:sp>
      <p:sp>
        <p:nvSpPr>
          <p:cNvPr id="15" name="Text 11"/>
          <p:cNvSpPr txBox="1"/>
          <p:nvPr/>
        </p:nvSpPr>
        <p:spPr>
          <a:xfrm>
            <a:off x="7955280" y="4526280"/>
            <a:ext cx="3566160" cy="1280160"/>
          </a:xfrm>
          <a:prstGeom prst="rect">
            <a:avLst/>
          </a:prstGeom>
          <a:noFill/>
          <a:ln/>
        </p:spPr>
        <p:txBody>
          <a:bodyPr wrap="square" lIns="0" tIns="0" rIns="0" bIns="0" rtlCol="0" anchor="ctr"/>
          <a:lstStyle/>
          <a:p>
            <a:pPr indent="0" marL="0">
              <a:buNone/>
            </a:pPr>
            <a:r>
              <a:rPr lang="ja-JP" altLang="en-US" sz="1800" b="1" dirty="0">
                <a:solidFill>
                  <a:schemeClr val="tx2"/>
                </a:solidFill>
              </a:rPr>
              <a:t>※2027年の実績ではなく、</a:t>
            </a:r>
            <a:endParaRPr lang="ja-JP" sz="1800" dirty="0"/>
          </a:p>
          <a:p>
            <a:pPr indent="0" marL="0">
              <a:buNone/>
            </a:pPr>
            <a:r>
              <a:rPr lang="ja-JP" altLang="en-US" sz="1800" b="1" dirty="0">
                <a:solidFill>
                  <a:schemeClr val="tx2"/>
                </a:solidFill>
              </a:rPr>
              <a:t>2026年時点の「予測」。</a:t>
            </a:r>
            <a:endParaRPr lang="ja-JP" sz="1800" dirty="0"/>
          </a:p>
        </p:txBody>
      </p:sp>
      <p:sp>
        <p:nvSpPr>
          <p:cNvPr id="16" name="Text 12"/>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※示しているのは鉄鋼需要であり、金属産業全体の実績や企業利益ではない。出典：worldsteel Short Range Outlook（2026/10/12）</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04｜3つのニュースから未来を考える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ミニGD① なぜ同じ会社で価格の動きが違う？</a:t>
            </a:r>
            <a:endParaRPr lang="en-US" sz="3000" dirty="0"/>
          </a:p>
        </p:txBody>
      </p:sp>
      <p:sp>
        <p:nvSpPr>
          <p:cNvPr id="5" name="Shape 2"/>
          <p:cNvSpPr/>
          <p:nvPr/>
        </p:nvSpPr>
        <p:spPr>
          <a:xfrm>
            <a:off x="548640" y="1691640"/>
            <a:ext cx="8229600" cy="1600200"/>
          </a:xfrm>
          <a:prstGeom prst="roundRect">
            <a:avLst>
              <a:gd name="adj" fmla="val 11429"/>
            </a:avLst>
          </a:prstGeom>
          <a:solidFill>
            <a:schemeClr val="bg1"/>
          </a:solidFill>
          <a:ln/>
          <a:effectLst>
            <a:outerShdw sx="100000" sy="100000" kx="0" ky="0" algn="bl" rotWithShape="0" blurRad="101600" dist="25400" dir="5400000">
              <a:srgbClr val="12243A">
                <a:alpha val="14000"/>
              </a:srgbClr>
            </a:outerShdw>
          </a:effectLst>
        </p:spPr>
      </p:sp>
      <p:sp>
        <p:nvSpPr>
          <p:cNvPr id="6" name="Text 3"/>
          <p:cNvSpPr txBox="1"/>
          <p:nvPr/>
        </p:nvSpPr>
        <p:spPr>
          <a:xfrm>
            <a:off x="777240" y="2176272"/>
            <a:ext cx="640080" cy="640080"/>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2600" b="1" dirty="0">
                <a:solidFill>
                  <a:schemeClr val="tx2"/>
                </a:solidFill>
              </a:rPr>
              <a:t>Q</a:t>
            </a:r>
            <a:endParaRPr lang="ja-JP" sz="2600" dirty="0"/>
          </a:p>
        </p:txBody>
      </p:sp>
      <p:sp>
        <p:nvSpPr>
          <p:cNvPr id="7" name="Text 4"/>
          <p:cNvSpPr txBox="1"/>
          <p:nvPr/>
        </p:nvSpPr>
        <p:spPr>
          <a:xfrm>
            <a:off x="1645920" y="1691640"/>
            <a:ext cx="6949440" cy="1600200"/>
          </a:xfrm>
          <a:prstGeom prst="rect">
            <a:avLst/>
          </a:prstGeom>
          <a:noFill/>
          <a:ln/>
        </p:spPr>
        <p:txBody>
          <a:bodyPr wrap="square" lIns="0" tIns="0" rIns="0" bIns="0" rtlCol="0" anchor="ctr"/>
          <a:lstStyle/>
          <a:p>
            <a:pPr indent="0" marL="0">
              <a:buNone/>
            </a:pPr>
            <a:r>
              <a:rPr lang="ja-JP" altLang="en-US" sz="2600" b="1" dirty="0">
                <a:solidFill>
                  <a:schemeClr val="tx2"/>
                </a:solidFill>
              </a:rPr>
              <a:t>日本製鉄は、なぜ一部の製品を値上げし、別の製品を値下げした？</a:t>
            </a:r>
            <a:endParaRPr lang="ja-JP" sz="2600" dirty="0"/>
          </a:p>
        </p:txBody>
      </p:sp>
      <p:sp>
        <p:nvSpPr>
          <p:cNvPr id="8" name="Shape 5"/>
          <p:cNvSpPr/>
          <p:nvPr/>
        </p:nvSpPr>
        <p:spPr>
          <a:xfrm>
            <a:off x="9509760" y="1554480"/>
            <a:ext cx="1920240" cy="1920240"/>
          </a:xfrm>
          <a:prstGeom prst="ellipse">
            <a:avLst/>
          </a:prstGeom>
          <a:solidFill>
            <a:schemeClr val="tx2"/>
          </a:solidFill>
          <a:ln/>
          <a:effectLst>
            <a:outerShdw sx="100000" sy="100000" kx="0" ky="0" algn="bl" rotWithShape="0" blurRad="101600" dist="25400" dir="5400000">
              <a:srgbClr val="12243A">
                <a:alpha val="14000"/>
              </a:srgbClr>
            </a:outerShdw>
          </a:effectLst>
        </p:spPr>
      </p:sp>
      <p:sp>
        <p:nvSpPr>
          <p:cNvPr id="9" name="Shape 6"/>
          <p:cNvSpPr/>
          <p:nvPr/>
        </p:nvSpPr>
        <p:spPr>
          <a:xfrm>
            <a:off x="9619488" y="1664208"/>
            <a:ext cx="1700784" cy="1700784"/>
          </a:xfrm>
          <a:prstGeom prst="ellipse">
            <a:avLst/>
          </a:prstGeom>
          <a:solidFill>
            <a:schemeClr val="tx2"/>
          </a:solidFill>
          <a:ln w="38100">
            <a:solidFill>
              <a:schemeClr val="accent2"/>
            </a:solidFill>
            <a:prstDash val="solid"/>
          </a:ln>
        </p:spPr>
      </p:sp>
      <p:sp>
        <p:nvSpPr>
          <p:cNvPr id="10" name="Text 7"/>
          <p:cNvSpPr txBox="1"/>
          <p:nvPr/>
        </p:nvSpPr>
        <p:spPr>
          <a:xfrm>
            <a:off x="9509760" y="2053742"/>
            <a:ext cx="1920240" cy="691286"/>
          </a:xfrm>
          <a:prstGeom prst="rect">
            <a:avLst/>
          </a:prstGeom>
          <a:noFill/>
          <a:ln/>
        </p:spPr>
        <p:txBody>
          <a:bodyPr wrap="square" lIns="0" tIns="0" rIns="0" bIns="0" rtlCol="0" anchor="ctr"/>
          <a:lstStyle/>
          <a:p>
            <a:pPr algn="ctr" indent="0" marL="0">
              <a:buNone/>
            </a:pPr>
            <a:r>
              <a:rPr lang="ja-JP" altLang="en-US" sz="4200" b="1" dirty="0">
                <a:solidFill>
                  <a:schemeClr val="bg1"/>
                </a:solidFill>
              </a:rPr>
              <a:t>4:00</a:t>
            </a:r>
            <a:endParaRPr lang="ja-JP" sz="4200" dirty="0"/>
          </a:p>
        </p:txBody>
      </p:sp>
      <p:sp>
        <p:nvSpPr>
          <p:cNvPr id="11" name="Text 8"/>
          <p:cNvSpPr txBox="1"/>
          <p:nvPr/>
        </p:nvSpPr>
        <p:spPr>
          <a:xfrm>
            <a:off x="9509760" y="2764231"/>
            <a:ext cx="1920240" cy="274320"/>
          </a:xfrm>
          <a:prstGeom prst="rect">
            <a:avLst/>
          </a:prstGeom>
          <a:noFill/>
          <a:ln/>
        </p:spPr>
        <p:txBody>
          <a:bodyPr wrap="square" lIns="0" tIns="0" rIns="0" bIns="0" rtlCol="0" anchor="t"/>
          <a:lstStyle/>
          <a:p>
            <a:pPr algn="ctr" indent="0" marL="0">
              <a:buNone/>
            </a:pPr>
            <a:r>
              <a:rPr lang="ja-JP" altLang="en-US" sz="1300" b="1" dirty="0">
                <a:solidFill>
                  <a:schemeClr val="accent2"/>
                </a:solidFill>
              </a:rPr>
              <a:t>TIMER</a:t>
            </a:r>
            <a:endParaRPr lang="ja-JP" sz="1300" dirty="0"/>
          </a:p>
        </p:txBody>
      </p:sp>
      <p:sp>
        <p:nvSpPr>
          <p:cNvPr id="12" name="Text 9"/>
          <p:cNvSpPr txBox="1"/>
          <p:nvPr/>
        </p:nvSpPr>
        <p:spPr>
          <a:xfrm>
            <a:off x="548640" y="3584448"/>
            <a:ext cx="914400" cy="365760"/>
          </a:xfrm>
          <a:prstGeom prst="rect">
            <a:avLst/>
          </a:prstGeom>
          <a:noFill/>
          <a:ln/>
        </p:spPr>
        <p:txBody>
          <a:bodyPr wrap="square" lIns="0" tIns="0" rIns="0" bIns="0" rtlCol="0" anchor="t"/>
          <a:lstStyle/>
          <a:p>
            <a:pPr indent="0" marL="0">
              <a:buNone/>
            </a:pPr>
            <a:r>
              <a:rPr lang="ja-JP" altLang="en-US" sz="1800" b="1" dirty="0">
                <a:solidFill>
                  <a:schemeClr val="accent1"/>
                </a:solidFill>
              </a:rPr>
              <a:t>ヒント</a:t>
            </a:r>
            <a:endParaRPr lang="ja-JP" sz="1800" dirty="0"/>
          </a:p>
        </p:txBody>
      </p:sp>
      <p:sp>
        <p:nvSpPr>
          <p:cNvPr id="13" name="Shape 10"/>
          <p:cNvSpPr/>
          <p:nvPr/>
        </p:nvSpPr>
        <p:spPr>
          <a:xfrm>
            <a:off x="1554480" y="3493008"/>
            <a:ext cx="1325880" cy="1097280"/>
          </a:xfrm>
          <a:prstGeom prst="roundRect">
            <a:avLst>
              <a:gd name="adj" fmla="val 11667"/>
            </a:avLst>
          </a:prstGeom>
          <a:solidFill>
            <a:schemeClr val="bg1"/>
          </a:solidFill>
          <a:ln w="15875">
            <a:solidFill>
              <a:schemeClr val="accent5"/>
            </a:solidFill>
            <a:prstDash val="solid"/>
          </a:ln>
        </p:spPr>
      </p:sp>
      <p:pic>
        <p:nvPicPr>
          <p:cNvPr id="14" name="Image 0" descr="TbPackage">    </p:cNvPr>
          <p:cNvPicPr>
            <a:picLocks noChangeAspect="1"/>
          </p:cNvPicPr>
          <p:nvPr/>
        </p:nvPicPr>
        <p:blipFill>
          <a:blip r:embed="rId1"/>
          <a:stretch>
            <a:fillRect/>
          </a:stretch>
        </p:blipFill>
        <p:spPr>
          <a:xfrm>
            <a:off x="2011680" y="3584448"/>
            <a:ext cx="411480" cy="411480"/>
          </a:xfrm>
          <a:prstGeom prst="rect">
            <a:avLst/>
          </a:prstGeom>
        </p:spPr>
      </p:pic>
      <p:sp>
        <p:nvSpPr>
          <p:cNvPr id="15" name="Text 11"/>
          <p:cNvSpPr txBox="1"/>
          <p:nvPr/>
        </p:nvSpPr>
        <p:spPr>
          <a:xfrm>
            <a:off x="1554480" y="4069080"/>
            <a:ext cx="1325880" cy="411480"/>
          </a:xfrm>
          <a:prstGeom prst="rect">
            <a:avLst/>
          </a:prstGeom>
          <a:noFill/>
          <a:ln/>
        </p:spPr>
        <p:txBody>
          <a:bodyPr wrap="square" lIns="0" tIns="0" rIns="0" bIns="0" rtlCol="0" anchor="t"/>
          <a:lstStyle/>
          <a:p>
            <a:pPr algn="ctr" indent="0" marL="0">
              <a:buNone/>
            </a:pPr>
            <a:r>
              <a:rPr lang="ja-JP" altLang="en-US" sz="1600" b="1" dirty="0">
                <a:solidFill>
                  <a:schemeClr val="tx2"/>
                </a:solidFill>
              </a:rPr>
              <a:t>原材料</a:t>
            </a:r>
            <a:endParaRPr lang="ja-JP" sz="1600" dirty="0"/>
          </a:p>
        </p:txBody>
      </p:sp>
      <p:sp>
        <p:nvSpPr>
          <p:cNvPr id="16" name="Shape 12"/>
          <p:cNvSpPr/>
          <p:nvPr/>
        </p:nvSpPr>
        <p:spPr>
          <a:xfrm>
            <a:off x="3017520" y="3493008"/>
            <a:ext cx="1325880" cy="1097280"/>
          </a:xfrm>
          <a:prstGeom prst="roundRect">
            <a:avLst>
              <a:gd name="adj" fmla="val 11667"/>
            </a:avLst>
          </a:prstGeom>
          <a:solidFill>
            <a:schemeClr val="bg1"/>
          </a:solidFill>
          <a:ln w="15875">
            <a:solidFill>
              <a:schemeClr val="accent5"/>
            </a:solidFill>
            <a:prstDash val="solid"/>
          </a:ln>
        </p:spPr>
      </p:sp>
      <p:pic>
        <p:nvPicPr>
          <p:cNvPr id="17" name="Image 1" descr="TbChartBar">    </p:cNvPr>
          <p:cNvPicPr>
            <a:picLocks noChangeAspect="1"/>
          </p:cNvPicPr>
          <p:nvPr/>
        </p:nvPicPr>
        <p:blipFill>
          <a:blip r:embed="rId2"/>
          <a:stretch>
            <a:fillRect/>
          </a:stretch>
        </p:blipFill>
        <p:spPr>
          <a:xfrm>
            <a:off x="3474720" y="3584448"/>
            <a:ext cx="411480" cy="411480"/>
          </a:xfrm>
          <a:prstGeom prst="rect">
            <a:avLst/>
          </a:prstGeom>
        </p:spPr>
      </p:pic>
      <p:sp>
        <p:nvSpPr>
          <p:cNvPr id="18" name="Text 13"/>
          <p:cNvSpPr txBox="1"/>
          <p:nvPr/>
        </p:nvSpPr>
        <p:spPr>
          <a:xfrm>
            <a:off x="3017520" y="4069080"/>
            <a:ext cx="1325880" cy="411480"/>
          </a:xfrm>
          <a:prstGeom prst="rect">
            <a:avLst/>
          </a:prstGeom>
          <a:noFill/>
          <a:ln/>
        </p:spPr>
        <p:txBody>
          <a:bodyPr wrap="square" lIns="0" tIns="0" rIns="0" bIns="0" rtlCol="0" anchor="t"/>
          <a:lstStyle/>
          <a:p>
            <a:pPr algn="ctr" indent="0" marL="0">
              <a:buNone/>
            </a:pPr>
            <a:r>
              <a:rPr lang="ja-JP" altLang="en-US" sz="1600" b="1" dirty="0">
                <a:solidFill>
                  <a:schemeClr val="tx2"/>
                </a:solidFill>
              </a:rPr>
              <a:t>需要</a:t>
            </a:r>
            <a:endParaRPr lang="ja-JP" sz="1600" dirty="0"/>
          </a:p>
        </p:txBody>
      </p:sp>
      <p:sp>
        <p:nvSpPr>
          <p:cNvPr id="19" name="Shape 14"/>
          <p:cNvSpPr/>
          <p:nvPr/>
        </p:nvSpPr>
        <p:spPr>
          <a:xfrm>
            <a:off x="4480560" y="3493008"/>
            <a:ext cx="1325880" cy="1097280"/>
          </a:xfrm>
          <a:prstGeom prst="roundRect">
            <a:avLst>
              <a:gd name="adj" fmla="val 11667"/>
            </a:avLst>
          </a:prstGeom>
          <a:solidFill>
            <a:schemeClr val="bg1"/>
          </a:solidFill>
          <a:ln w="15875">
            <a:solidFill>
              <a:schemeClr val="accent5"/>
            </a:solidFill>
            <a:prstDash val="solid"/>
          </a:ln>
        </p:spPr>
      </p:sp>
      <p:pic>
        <p:nvPicPr>
          <p:cNvPr id="20" name="Image 2" descr="TbCoin">    </p:cNvPr>
          <p:cNvPicPr>
            <a:picLocks noChangeAspect="1"/>
          </p:cNvPicPr>
          <p:nvPr/>
        </p:nvPicPr>
        <p:blipFill>
          <a:blip r:embed="rId3"/>
          <a:stretch>
            <a:fillRect/>
          </a:stretch>
        </p:blipFill>
        <p:spPr>
          <a:xfrm>
            <a:off x="4937760" y="3584448"/>
            <a:ext cx="411480" cy="411480"/>
          </a:xfrm>
          <a:prstGeom prst="rect">
            <a:avLst/>
          </a:prstGeom>
        </p:spPr>
      </p:pic>
      <p:sp>
        <p:nvSpPr>
          <p:cNvPr id="21" name="Text 15"/>
          <p:cNvSpPr txBox="1"/>
          <p:nvPr/>
        </p:nvSpPr>
        <p:spPr>
          <a:xfrm>
            <a:off x="4480560" y="4069080"/>
            <a:ext cx="1325880" cy="411480"/>
          </a:xfrm>
          <a:prstGeom prst="rect">
            <a:avLst/>
          </a:prstGeom>
          <a:noFill/>
          <a:ln/>
        </p:spPr>
        <p:txBody>
          <a:bodyPr wrap="square" lIns="0" tIns="0" rIns="0" bIns="0" rtlCol="0" anchor="t"/>
          <a:lstStyle/>
          <a:p>
            <a:pPr algn="ctr" indent="0" marL="0">
              <a:buNone/>
            </a:pPr>
            <a:r>
              <a:rPr lang="ja-JP" altLang="en-US" sz="1600" b="1" dirty="0">
                <a:solidFill>
                  <a:schemeClr val="tx2"/>
                </a:solidFill>
              </a:rPr>
              <a:t>コスト</a:t>
            </a:r>
            <a:endParaRPr lang="ja-JP" sz="1600" dirty="0"/>
          </a:p>
        </p:txBody>
      </p:sp>
      <p:sp>
        <p:nvSpPr>
          <p:cNvPr id="22" name="Shape 16"/>
          <p:cNvSpPr/>
          <p:nvPr/>
        </p:nvSpPr>
        <p:spPr>
          <a:xfrm>
            <a:off x="5943600" y="3493008"/>
            <a:ext cx="1325880" cy="1097280"/>
          </a:xfrm>
          <a:prstGeom prst="roundRect">
            <a:avLst>
              <a:gd name="adj" fmla="val 11667"/>
            </a:avLst>
          </a:prstGeom>
          <a:solidFill>
            <a:schemeClr val="bg1"/>
          </a:solidFill>
          <a:ln w="15875">
            <a:solidFill>
              <a:schemeClr val="accent5"/>
            </a:solidFill>
            <a:prstDash val="solid"/>
          </a:ln>
        </p:spPr>
      </p:sp>
      <p:pic>
        <p:nvPicPr>
          <p:cNvPr id="23" name="Image 3" descr="TbCurrencyYen">    </p:cNvPr>
          <p:cNvPicPr>
            <a:picLocks noChangeAspect="1"/>
          </p:cNvPicPr>
          <p:nvPr/>
        </p:nvPicPr>
        <p:blipFill>
          <a:blip r:embed="rId4"/>
          <a:stretch>
            <a:fillRect/>
          </a:stretch>
        </p:blipFill>
        <p:spPr>
          <a:xfrm>
            <a:off x="6400800" y="3584448"/>
            <a:ext cx="411480" cy="411480"/>
          </a:xfrm>
          <a:prstGeom prst="rect">
            <a:avLst/>
          </a:prstGeom>
        </p:spPr>
      </p:pic>
      <p:sp>
        <p:nvSpPr>
          <p:cNvPr id="24" name="Text 17"/>
          <p:cNvSpPr txBox="1"/>
          <p:nvPr/>
        </p:nvSpPr>
        <p:spPr>
          <a:xfrm>
            <a:off x="5943600" y="4069080"/>
            <a:ext cx="1325880" cy="411480"/>
          </a:xfrm>
          <a:prstGeom prst="rect">
            <a:avLst/>
          </a:prstGeom>
          <a:noFill/>
          <a:ln/>
        </p:spPr>
        <p:txBody>
          <a:bodyPr wrap="square" lIns="0" tIns="0" rIns="0" bIns="0" rtlCol="0" anchor="t"/>
          <a:lstStyle/>
          <a:p>
            <a:pPr algn="ctr" indent="0" marL="0">
              <a:buNone/>
            </a:pPr>
            <a:r>
              <a:rPr lang="ja-JP" altLang="en-US" sz="1600" b="1" dirty="0">
                <a:solidFill>
                  <a:schemeClr val="tx2"/>
                </a:solidFill>
              </a:rPr>
              <a:t>為替</a:t>
            </a:r>
            <a:endParaRPr lang="ja-JP" sz="1600" dirty="0"/>
          </a:p>
        </p:txBody>
      </p:sp>
      <p:sp>
        <p:nvSpPr>
          <p:cNvPr id="25" name="Shape 18"/>
          <p:cNvSpPr/>
          <p:nvPr/>
        </p:nvSpPr>
        <p:spPr>
          <a:xfrm>
            <a:off x="7406640" y="3493008"/>
            <a:ext cx="1325880" cy="1097280"/>
          </a:xfrm>
          <a:prstGeom prst="roundRect">
            <a:avLst>
              <a:gd name="adj" fmla="val 11667"/>
            </a:avLst>
          </a:prstGeom>
          <a:solidFill>
            <a:schemeClr val="bg1"/>
          </a:solidFill>
          <a:ln w="15875">
            <a:solidFill>
              <a:schemeClr val="accent5"/>
            </a:solidFill>
            <a:prstDash val="solid"/>
          </a:ln>
        </p:spPr>
      </p:sp>
      <p:pic>
        <p:nvPicPr>
          <p:cNvPr id="26" name="Image 4" descr="TbFileText">    </p:cNvPr>
          <p:cNvPicPr>
            <a:picLocks noChangeAspect="1"/>
          </p:cNvPicPr>
          <p:nvPr/>
        </p:nvPicPr>
        <p:blipFill>
          <a:blip r:embed="rId5"/>
          <a:stretch>
            <a:fillRect/>
          </a:stretch>
        </p:blipFill>
        <p:spPr>
          <a:xfrm>
            <a:off x="7863840" y="3584448"/>
            <a:ext cx="411480" cy="411480"/>
          </a:xfrm>
          <a:prstGeom prst="rect">
            <a:avLst/>
          </a:prstGeom>
        </p:spPr>
      </p:pic>
      <p:sp>
        <p:nvSpPr>
          <p:cNvPr id="27" name="Text 19"/>
          <p:cNvSpPr txBox="1"/>
          <p:nvPr/>
        </p:nvSpPr>
        <p:spPr>
          <a:xfrm>
            <a:off x="7406640" y="4069080"/>
            <a:ext cx="1325880" cy="411480"/>
          </a:xfrm>
          <a:prstGeom prst="rect">
            <a:avLst/>
          </a:prstGeom>
          <a:noFill/>
          <a:ln/>
        </p:spPr>
        <p:txBody>
          <a:bodyPr wrap="square" lIns="0" tIns="0" rIns="0" bIns="0" rtlCol="0" anchor="t"/>
          <a:lstStyle/>
          <a:p>
            <a:pPr algn="ctr" indent="0" marL="0">
              <a:buNone/>
            </a:pPr>
            <a:r>
              <a:rPr lang="ja-JP" altLang="en-US" sz="1600" b="1" dirty="0">
                <a:solidFill>
                  <a:schemeClr val="tx2"/>
                </a:solidFill>
              </a:rPr>
              <a:t>契約条件</a:t>
            </a:r>
            <a:endParaRPr lang="ja-JP" sz="1600" dirty="0"/>
          </a:p>
        </p:txBody>
      </p:sp>
      <p:sp>
        <p:nvSpPr>
          <p:cNvPr id="28" name="Text 20"/>
          <p:cNvSpPr txBox="1"/>
          <p:nvPr/>
        </p:nvSpPr>
        <p:spPr>
          <a:xfrm>
            <a:off x="9006840" y="3520440"/>
            <a:ext cx="2651760" cy="347472"/>
          </a:xfrm>
          <a:prstGeom prst="rect">
            <a:avLst/>
          </a:prstGeom>
          <a:noFill/>
          <a:ln/>
        </p:spPr>
        <p:txBody>
          <a:bodyPr wrap="square" lIns="0" tIns="0" rIns="0" bIns="0" rtlCol="0" anchor="t"/>
          <a:lstStyle/>
          <a:p>
            <a:pPr indent="0" marL="0">
              <a:buNone/>
            </a:pPr>
            <a:r>
              <a:rPr lang="ja-JP" altLang="en-US" sz="1600" b="1" dirty="0">
                <a:solidFill>
                  <a:schemeClr val="accent1"/>
                </a:solidFill>
              </a:rPr>
              <a:t>進め方</a:t>
            </a:r>
            <a:endParaRPr lang="ja-JP" sz="1600" dirty="0"/>
          </a:p>
        </p:txBody>
      </p:sp>
      <p:sp>
        <p:nvSpPr>
          <p:cNvPr id="29" name="Text 21"/>
          <p:cNvSpPr txBox="1"/>
          <p:nvPr/>
        </p:nvSpPr>
        <p:spPr>
          <a:xfrm>
            <a:off x="9006840" y="3886200"/>
            <a:ext cx="2651760" cy="329184"/>
          </a:xfrm>
          <a:prstGeom prst="rect">
            <a:avLst/>
          </a:prstGeom>
          <a:noFill/>
          <a:ln/>
        </p:spPr>
        <p:txBody>
          <a:bodyPr wrap="square" lIns="0" tIns="0" rIns="0" bIns="0" rtlCol="0" anchor="ctr"/>
          <a:lstStyle/>
          <a:p>
            <a:pPr indent="0" marL="0">
              <a:buNone/>
            </a:pPr>
            <a:r>
              <a:rPr lang="ja-JP" altLang="en-US" sz="1500" b="1" dirty="0">
                <a:solidFill>
                  <a:schemeClr val="tx2"/>
                </a:solidFill>
              </a:rPr>
              <a:t>1. 自分の仮説を1つ</a:t>
            </a:r>
            <a:endParaRPr lang="ja-JP" sz="1500" dirty="0"/>
          </a:p>
        </p:txBody>
      </p:sp>
      <p:sp>
        <p:nvSpPr>
          <p:cNvPr id="30" name="Text 22"/>
          <p:cNvSpPr txBox="1"/>
          <p:nvPr/>
        </p:nvSpPr>
        <p:spPr>
          <a:xfrm>
            <a:off x="9006840" y="4251960"/>
            <a:ext cx="2651760" cy="329184"/>
          </a:xfrm>
          <a:prstGeom prst="rect">
            <a:avLst/>
          </a:prstGeom>
          <a:noFill/>
          <a:ln/>
        </p:spPr>
        <p:txBody>
          <a:bodyPr wrap="square" lIns="0" tIns="0" rIns="0" bIns="0" rtlCol="0" anchor="ctr"/>
          <a:lstStyle/>
          <a:p>
            <a:pPr indent="0" marL="0">
              <a:buNone/>
            </a:pPr>
            <a:r>
              <a:rPr lang="ja-JP" altLang="en-US" sz="1500" b="1" dirty="0">
                <a:solidFill>
                  <a:schemeClr val="tx2"/>
                </a:solidFill>
              </a:rPr>
              <a:t>2. 班で共有</a:t>
            </a:r>
            <a:endParaRPr lang="ja-JP" sz="1500" dirty="0"/>
          </a:p>
        </p:txBody>
      </p:sp>
      <p:sp>
        <p:nvSpPr>
          <p:cNvPr id="31" name="Text 23"/>
          <p:cNvSpPr txBox="1"/>
          <p:nvPr/>
        </p:nvSpPr>
        <p:spPr>
          <a:xfrm>
            <a:off x="9006840" y="4617720"/>
            <a:ext cx="2651760" cy="329184"/>
          </a:xfrm>
          <a:prstGeom prst="rect">
            <a:avLst/>
          </a:prstGeom>
          <a:noFill/>
          <a:ln/>
        </p:spPr>
        <p:txBody>
          <a:bodyPr wrap="square" lIns="0" tIns="0" rIns="0" bIns="0" rtlCol="0" anchor="ctr"/>
          <a:lstStyle/>
          <a:p>
            <a:pPr indent="0" marL="0">
              <a:buNone/>
            </a:pPr>
            <a:r>
              <a:rPr lang="ja-JP" altLang="en-US" sz="1500" b="1" dirty="0">
                <a:solidFill>
                  <a:schemeClr val="tx2"/>
                </a:solidFill>
              </a:rPr>
              <a:t>3. 必要な追加情報を考える</a:t>
            </a:r>
            <a:endParaRPr lang="ja-JP" sz="1500" dirty="0"/>
          </a:p>
        </p:txBody>
      </p:sp>
      <p:sp>
        <p:nvSpPr>
          <p:cNvPr id="32" name="Text 24"/>
          <p:cNvSpPr txBox="1"/>
          <p:nvPr/>
        </p:nvSpPr>
        <p:spPr>
          <a:xfrm>
            <a:off x="548640" y="4928616"/>
            <a:ext cx="1828800" cy="274320"/>
          </a:xfrm>
          <a:prstGeom prst="rect">
            <a:avLst/>
          </a:prstGeom>
          <a:noFill/>
          <a:ln/>
        </p:spPr>
        <p:txBody>
          <a:bodyPr wrap="square" lIns="0" tIns="0" rIns="0" bIns="0" rtlCol="0" anchor="t"/>
          <a:lstStyle/>
          <a:p>
            <a:pPr indent="0" marL="0">
              <a:buNone/>
            </a:pPr>
            <a:r>
              <a:rPr lang="ja-JP" altLang="en-US" sz="1400" b="1" dirty="0">
                <a:solidFill>
                  <a:schemeClr val="accent4"/>
                </a:solidFill>
              </a:rPr>
              <a:t>進行</a:t>
            </a:r>
            <a:endParaRPr lang="ja-JP" sz="1400" dirty="0"/>
          </a:p>
        </p:txBody>
      </p:sp>
      <p:sp>
        <p:nvSpPr>
          <p:cNvPr id="33" name="Text 25"/>
          <p:cNvSpPr txBox="1"/>
          <p:nvPr/>
        </p:nvSpPr>
        <p:spPr>
          <a:xfrm>
            <a:off x="548640" y="5257800"/>
            <a:ext cx="1331595" cy="457200"/>
          </a:xfrm>
          <a:prstGeom prst="rect">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個人 30秒</a:t>
            </a:r>
            <a:endParaRPr lang="ja-JP" sz="1600" dirty="0"/>
          </a:p>
        </p:txBody>
      </p:sp>
      <p:sp>
        <p:nvSpPr>
          <p:cNvPr id="34" name="Text 26"/>
          <p:cNvSpPr txBox="1"/>
          <p:nvPr/>
        </p:nvSpPr>
        <p:spPr>
          <a:xfrm>
            <a:off x="1935099" y="5257800"/>
            <a:ext cx="6877431" cy="457200"/>
          </a:xfrm>
          <a:prstGeom prst="rect">
            <a:avLst/>
          </a:prstGeom>
          <a:solidFill>
            <a:schemeClr val="accent1"/>
          </a:solidFill>
          <a:ln/>
        </p:spPr>
        <p:txBody>
          <a:bodyPr wrap="square" lIns="0" tIns="0" rIns="0" bIns="0" rtlCol="0" anchor="ctr"/>
          <a:lstStyle/>
          <a:p>
            <a:pPr algn="ctr" indent="0" marL="0">
              <a:buNone/>
            </a:pPr>
            <a:r>
              <a:rPr lang="ja-JP" altLang="en-US" sz="1600" b="1" dirty="0">
                <a:solidFill>
                  <a:schemeClr val="bg1"/>
                </a:solidFill>
              </a:rPr>
              <a:t>討論 2分30秒</a:t>
            </a:r>
            <a:endParaRPr lang="ja-JP" sz="1600" dirty="0"/>
          </a:p>
        </p:txBody>
      </p:sp>
      <p:sp>
        <p:nvSpPr>
          <p:cNvPr id="35" name="Text 27"/>
          <p:cNvSpPr txBox="1"/>
          <p:nvPr/>
        </p:nvSpPr>
        <p:spPr>
          <a:xfrm>
            <a:off x="8867394" y="5257800"/>
            <a:ext cx="2772918" cy="457200"/>
          </a:xfrm>
          <a:prstGeom prst="rect">
            <a:avLst/>
          </a:prstGeom>
          <a:solidFill>
            <a:schemeClr val="tx2"/>
          </a:solidFill>
          <a:ln/>
        </p:spPr>
        <p:txBody>
          <a:bodyPr wrap="square" lIns="0" tIns="0" rIns="0" bIns="0" rtlCol="0" anchor="ctr"/>
          <a:lstStyle/>
          <a:p>
            <a:pPr algn="ctr" indent="0" marL="0">
              <a:buNone/>
            </a:pPr>
            <a:r>
              <a:rPr lang="ja-JP" altLang="en-US" sz="1600" b="1" dirty="0">
                <a:solidFill>
                  <a:schemeClr val="bg1"/>
                </a:solidFill>
              </a:rPr>
              <a:t>共有 1分</a:t>
            </a:r>
            <a:endParaRPr lang="ja-JP" sz="16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04｜3つのニュースから未来を考える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解説① 金属価格を動かすのは何か？</a:t>
            </a:r>
            <a:endParaRPr lang="en-US" sz="3000" dirty="0"/>
          </a:p>
        </p:txBody>
      </p:sp>
      <p:sp>
        <p:nvSpPr>
          <p:cNvPr id="5" name="Shape 2"/>
          <p:cNvSpPr/>
          <p:nvPr/>
        </p:nvSpPr>
        <p:spPr>
          <a:xfrm>
            <a:off x="548640" y="1691640"/>
            <a:ext cx="4800600" cy="1719072"/>
          </a:xfrm>
          <a:prstGeom prst="roundRect">
            <a:avLst>
              <a:gd name="adj" fmla="val 8511"/>
            </a:avLst>
          </a:prstGeom>
          <a:solidFill>
            <a:srgbClr val="FCEBD3"/>
          </a:solidFill>
          <a:ln/>
        </p:spPr>
      </p:sp>
      <p:sp>
        <p:nvSpPr>
          <p:cNvPr id="6" name="Text 3"/>
          <p:cNvSpPr txBox="1"/>
          <p:nvPr/>
        </p:nvSpPr>
        <p:spPr>
          <a:xfrm>
            <a:off x="749808" y="1874520"/>
            <a:ext cx="1051560" cy="411480"/>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値上げ</a:t>
            </a:r>
            <a:endParaRPr lang="ja-JP" sz="1600" dirty="0"/>
          </a:p>
        </p:txBody>
      </p:sp>
      <p:pic>
        <p:nvPicPr>
          <p:cNvPr id="7" name="Image 0" descr="TbTrendingUp">    </p:cNvPr>
          <p:cNvPicPr>
            <a:picLocks noChangeAspect="1"/>
          </p:cNvPicPr>
          <p:nvPr/>
        </p:nvPicPr>
        <p:blipFill>
          <a:blip r:embed="rId1"/>
          <a:stretch>
            <a:fillRect/>
          </a:stretch>
        </p:blipFill>
        <p:spPr>
          <a:xfrm>
            <a:off x="1938528" y="1856232"/>
            <a:ext cx="457200" cy="457200"/>
          </a:xfrm>
          <a:prstGeom prst="rect">
            <a:avLst/>
          </a:prstGeom>
        </p:spPr>
      </p:pic>
      <p:sp>
        <p:nvSpPr>
          <p:cNvPr id="8" name="Text 4"/>
          <p:cNvSpPr txBox="1"/>
          <p:nvPr/>
        </p:nvSpPr>
        <p:spPr>
          <a:xfrm>
            <a:off x="2514600" y="1828800"/>
            <a:ext cx="2743200" cy="502920"/>
          </a:xfrm>
          <a:prstGeom prst="rect">
            <a:avLst/>
          </a:prstGeom>
          <a:noFill/>
          <a:ln/>
        </p:spPr>
        <p:txBody>
          <a:bodyPr wrap="square" lIns="0" tIns="0" rIns="0" bIns="0" rtlCol="0" anchor="ctr"/>
          <a:lstStyle/>
          <a:p>
            <a:pPr indent="0" marL="0">
              <a:buNone/>
            </a:pPr>
            <a:r>
              <a:rPr lang="ja-JP" altLang="en-US" sz="2200" b="1" dirty="0">
                <a:solidFill>
                  <a:schemeClr val="tx2"/>
                </a:solidFill>
              </a:rPr>
              <a:t>薄板</a:t>
            </a:r>
            <a:endParaRPr lang="ja-JP" sz="2200" dirty="0"/>
          </a:p>
        </p:txBody>
      </p:sp>
      <p:sp>
        <p:nvSpPr>
          <p:cNvPr id="9" name="Text 5"/>
          <p:cNvSpPr txBox="1"/>
          <p:nvPr/>
        </p:nvSpPr>
        <p:spPr>
          <a:xfrm>
            <a:off x="749808" y="2423160"/>
            <a:ext cx="4434840" cy="868680"/>
          </a:xfrm>
          <a:prstGeom prst="rect">
            <a:avLst/>
          </a:prstGeom>
          <a:noFill/>
          <a:ln/>
        </p:spPr>
        <p:txBody>
          <a:bodyPr wrap="square" lIns="0" tIns="0" rIns="0" bIns="0" rtlCol="0" anchor="t"/>
          <a:lstStyle/>
          <a:p>
            <a:pPr indent="0" marL="0">
              <a:buNone/>
            </a:pPr>
            <a:r>
              <a:rPr lang="ja-JP" altLang="en-US" sz="1800" dirty="0">
                <a:solidFill>
                  <a:schemeClr val="tx2"/>
                </a:solidFill>
              </a:rPr>
              <a:t>原料炭・人件費・物流費などの上昇が背景</a:t>
            </a:r>
            <a:endParaRPr lang="ja-JP" sz="1800" dirty="0"/>
          </a:p>
        </p:txBody>
      </p:sp>
      <p:sp>
        <p:nvSpPr>
          <p:cNvPr id="10" name="Shape 6"/>
          <p:cNvSpPr/>
          <p:nvPr/>
        </p:nvSpPr>
        <p:spPr>
          <a:xfrm>
            <a:off x="548640" y="3593592"/>
            <a:ext cx="4800600" cy="1719072"/>
          </a:xfrm>
          <a:prstGeom prst="roundRect">
            <a:avLst>
              <a:gd name="adj" fmla="val 8511"/>
            </a:avLst>
          </a:prstGeom>
          <a:solidFill>
            <a:srgbClr val="D6ECEC"/>
          </a:solidFill>
          <a:ln/>
        </p:spPr>
      </p:sp>
      <p:sp>
        <p:nvSpPr>
          <p:cNvPr id="11" name="Text 7"/>
          <p:cNvSpPr txBox="1"/>
          <p:nvPr/>
        </p:nvSpPr>
        <p:spPr>
          <a:xfrm>
            <a:off x="749808" y="3776472"/>
            <a:ext cx="1051560" cy="411480"/>
          </a:xfrm>
          <a:prstGeom prst="roundRect">
            <a:avLst>
              <a:gd name="adj" fmla="val 50000"/>
            </a:avLst>
          </a:prstGeom>
          <a:solidFill>
            <a:schemeClr val="accent2"/>
          </a:solidFill>
          <a:ln/>
        </p:spPr>
        <p:txBody>
          <a:bodyPr wrap="square" lIns="0" tIns="0" rIns="0" bIns="0" rtlCol="0" anchor="ctr"/>
          <a:lstStyle/>
          <a:p>
            <a:pPr algn="ctr" indent="0" marL="0">
              <a:buNone/>
            </a:pPr>
            <a:r>
              <a:rPr lang="ja-JP" altLang="en-US" sz="1600" b="1" dirty="0">
                <a:solidFill>
                  <a:schemeClr val="tx2"/>
                </a:solidFill>
              </a:rPr>
              <a:t>値下げ</a:t>
            </a:r>
            <a:endParaRPr lang="ja-JP" sz="1600" dirty="0"/>
          </a:p>
        </p:txBody>
      </p:sp>
      <p:pic>
        <p:nvPicPr>
          <p:cNvPr id="12" name="Image 1" descr="TbTrendingDown">    </p:cNvPr>
          <p:cNvPicPr>
            <a:picLocks noChangeAspect="1"/>
          </p:cNvPicPr>
          <p:nvPr/>
        </p:nvPicPr>
        <p:blipFill>
          <a:blip r:embed="rId2"/>
          <a:stretch>
            <a:fillRect/>
          </a:stretch>
        </p:blipFill>
        <p:spPr>
          <a:xfrm>
            <a:off x="1938528" y="3758184"/>
            <a:ext cx="457200" cy="457200"/>
          </a:xfrm>
          <a:prstGeom prst="rect">
            <a:avLst/>
          </a:prstGeom>
        </p:spPr>
      </p:pic>
      <p:sp>
        <p:nvSpPr>
          <p:cNvPr id="13" name="Text 8"/>
          <p:cNvSpPr txBox="1"/>
          <p:nvPr/>
        </p:nvSpPr>
        <p:spPr>
          <a:xfrm>
            <a:off x="2514600" y="3730752"/>
            <a:ext cx="2743200" cy="502920"/>
          </a:xfrm>
          <a:prstGeom prst="rect">
            <a:avLst/>
          </a:prstGeom>
          <a:noFill/>
          <a:ln/>
        </p:spPr>
        <p:txBody>
          <a:bodyPr wrap="square" lIns="0" tIns="0" rIns="0" bIns="0" rtlCol="0" anchor="ctr"/>
          <a:lstStyle/>
          <a:p>
            <a:pPr indent="0" marL="0">
              <a:buNone/>
            </a:pPr>
            <a:r>
              <a:rPr lang="ja-JP" altLang="en-US" sz="2200" b="1" dirty="0">
                <a:solidFill>
                  <a:schemeClr val="tx2"/>
                </a:solidFill>
              </a:rPr>
              <a:t>ステンレス</a:t>
            </a:r>
            <a:endParaRPr lang="ja-JP" sz="2200" dirty="0"/>
          </a:p>
        </p:txBody>
      </p:sp>
      <p:sp>
        <p:nvSpPr>
          <p:cNvPr id="14" name="Text 9"/>
          <p:cNvSpPr txBox="1"/>
          <p:nvPr/>
        </p:nvSpPr>
        <p:spPr>
          <a:xfrm>
            <a:off x="749808" y="4325112"/>
            <a:ext cx="4434840" cy="868680"/>
          </a:xfrm>
          <a:prstGeom prst="rect">
            <a:avLst/>
          </a:prstGeom>
          <a:noFill/>
          <a:ln/>
        </p:spPr>
        <p:txBody>
          <a:bodyPr wrap="square" lIns="0" tIns="0" rIns="0" bIns="0" rtlCol="0" anchor="t"/>
          <a:lstStyle/>
          <a:p>
            <a:pPr indent="0" marL="0">
              <a:buNone/>
            </a:pPr>
            <a:r>
              <a:rPr lang="ja-JP" altLang="en-US" sz="1800" dirty="0">
                <a:solidFill>
                  <a:schemeClr val="tx2"/>
                </a:solidFill>
              </a:rPr>
              <a:t>円高などで合金原料の調達価格が下落</a:t>
            </a:r>
            <a:endParaRPr lang="ja-JP" sz="1800" dirty="0"/>
          </a:p>
        </p:txBody>
      </p:sp>
      <p:sp>
        <p:nvSpPr>
          <p:cNvPr id="15" name="Text 10"/>
          <p:cNvSpPr txBox="1"/>
          <p:nvPr/>
        </p:nvSpPr>
        <p:spPr>
          <a:xfrm>
            <a:off x="5532120" y="2852928"/>
            <a:ext cx="1188720" cy="1371600"/>
          </a:xfrm>
          <a:prstGeom prst="roundRect">
            <a:avLst>
              <a:gd name="adj" fmla="val 10769"/>
            </a:avLst>
          </a:prstGeom>
          <a:solidFill>
            <a:schemeClr val="tx2"/>
          </a:solidFill>
          <a:ln/>
        </p:spPr>
        <p:txBody>
          <a:bodyPr wrap="square" lIns="0" tIns="0" rIns="0" bIns="0" rtlCol="0" anchor="ctr"/>
          <a:lstStyle/>
          <a:p>
            <a:pPr algn="ctr" indent="0" marL="0">
              <a:buNone/>
            </a:pPr>
            <a:r>
              <a:rPr lang="ja-JP" altLang="en-US" sz="1600" b="1" dirty="0">
                <a:solidFill>
                  <a:schemeClr val="bg1"/>
                </a:solidFill>
              </a:rPr>
              <a:t>原材料・</a:t>
            </a:r>
            <a:endParaRPr lang="ja-JP" sz="1600" dirty="0"/>
          </a:p>
          <a:p>
            <a:pPr algn="ctr" indent="0" marL="0">
              <a:buNone/>
            </a:pPr>
            <a:r>
              <a:rPr lang="ja-JP" altLang="en-US" sz="1600" b="1" dirty="0">
                <a:solidFill>
                  <a:schemeClr val="bg1"/>
                </a:solidFill>
              </a:rPr>
              <a:t>契約が</a:t>
            </a:r>
            <a:endParaRPr lang="ja-JP" sz="1600" dirty="0"/>
          </a:p>
          <a:p>
            <a:pPr algn="ctr" indent="0" marL="0">
              <a:buNone/>
            </a:pPr>
            <a:r>
              <a:rPr lang="ja-JP" altLang="en-US" sz="1600" b="1" dirty="0">
                <a:solidFill>
                  <a:schemeClr val="bg1"/>
                </a:solidFill>
              </a:rPr>
              <a:t>異なる</a:t>
            </a:r>
            <a:endParaRPr lang="ja-JP" sz="1600" dirty="0"/>
          </a:p>
        </p:txBody>
      </p:sp>
      <p:sp>
        <p:nvSpPr>
          <p:cNvPr id="16" name="Shape 11"/>
          <p:cNvSpPr/>
          <p:nvPr/>
        </p:nvSpPr>
        <p:spPr>
          <a:xfrm>
            <a:off x="5349240" y="2560320"/>
            <a:ext cx="182880" cy="548640"/>
          </a:xfrm>
          <a:prstGeom prst="line">
            <a:avLst/>
          </a:prstGeom>
          <a:noFill/>
          <a:ln w="19050">
            <a:solidFill>
              <a:schemeClr val="tx2"/>
            </a:solidFill>
            <a:prstDash val="solid"/>
          </a:ln>
        </p:spPr>
      </p:sp>
      <p:sp>
        <p:nvSpPr>
          <p:cNvPr id="17" name="Shape 12"/>
          <p:cNvSpPr/>
          <p:nvPr/>
        </p:nvSpPr>
        <p:spPr>
          <a:xfrm flipV="1">
            <a:off x="5349240" y="3977640"/>
            <a:ext cx="182880" cy="484632"/>
          </a:xfrm>
          <a:prstGeom prst="line">
            <a:avLst/>
          </a:prstGeom>
          <a:noFill/>
          <a:ln w="19050">
            <a:solidFill>
              <a:schemeClr val="tx2"/>
            </a:solidFill>
            <a:prstDash val="solid"/>
          </a:ln>
        </p:spPr>
      </p:sp>
      <p:sp>
        <p:nvSpPr>
          <p:cNvPr id="18" name="Text 13"/>
          <p:cNvSpPr txBox="1"/>
          <p:nvPr/>
        </p:nvSpPr>
        <p:spPr>
          <a:xfrm>
            <a:off x="6949440" y="1645920"/>
            <a:ext cx="4690872" cy="411480"/>
          </a:xfrm>
          <a:prstGeom prst="rect">
            <a:avLst/>
          </a:prstGeom>
          <a:noFill/>
          <a:ln/>
        </p:spPr>
        <p:txBody>
          <a:bodyPr wrap="square" lIns="0" tIns="0" rIns="0" bIns="0" rtlCol="0" anchor="t"/>
          <a:lstStyle/>
          <a:p>
            <a:pPr indent="0" marL="0">
              <a:buNone/>
            </a:pPr>
            <a:r>
              <a:rPr lang="ja-JP" altLang="en-US" sz="2000" b="1" dirty="0">
                <a:solidFill>
                  <a:schemeClr val="tx2"/>
                </a:solidFill>
              </a:rPr>
              <a:t>製品ごとの価格を動かす4つの要因</a:t>
            </a:r>
            <a:endParaRPr lang="ja-JP" sz="2000" dirty="0"/>
          </a:p>
        </p:txBody>
      </p:sp>
      <p:sp>
        <p:nvSpPr>
          <p:cNvPr id="19" name="Shape 14"/>
          <p:cNvSpPr/>
          <p:nvPr/>
        </p:nvSpPr>
        <p:spPr>
          <a:xfrm>
            <a:off x="6949440" y="2148840"/>
            <a:ext cx="2267712" cy="1463040"/>
          </a:xfrm>
          <a:prstGeom prst="roundRect">
            <a:avLst>
              <a:gd name="adj" fmla="val 8750"/>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20" name="Shape 15"/>
          <p:cNvSpPr/>
          <p:nvPr/>
        </p:nvSpPr>
        <p:spPr>
          <a:xfrm>
            <a:off x="7132320" y="2331720"/>
            <a:ext cx="594360" cy="594360"/>
          </a:xfrm>
          <a:prstGeom prst="ellipse">
            <a:avLst/>
          </a:prstGeom>
          <a:solidFill>
            <a:schemeClr val="bg2"/>
          </a:solidFill>
          <a:ln/>
        </p:spPr>
      </p:sp>
      <p:pic>
        <p:nvPicPr>
          <p:cNvPr id="21" name="Image 2" descr="TbPackage">    </p:cNvPr>
          <p:cNvPicPr>
            <a:picLocks noChangeAspect="1"/>
          </p:cNvPicPr>
          <p:nvPr/>
        </p:nvPicPr>
        <p:blipFill>
          <a:blip r:embed="rId3"/>
          <a:stretch>
            <a:fillRect/>
          </a:stretch>
        </p:blipFill>
        <p:spPr>
          <a:xfrm>
            <a:off x="7263079" y="2462479"/>
            <a:ext cx="332842" cy="332842"/>
          </a:xfrm>
          <a:prstGeom prst="rect">
            <a:avLst/>
          </a:prstGeom>
        </p:spPr>
      </p:pic>
      <p:sp>
        <p:nvSpPr>
          <p:cNvPr id="22" name="Text 16"/>
          <p:cNvSpPr txBox="1"/>
          <p:nvPr/>
        </p:nvSpPr>
        <p:spPr>
          <a:xfrm>
            <a:off x="7863840" y="2377440"/>
            <a:ext cx="457200" cy="457200"/>
          </a:xfrm>
          <a:prstGeom prst="rect">
            <a:avLst/>
          </a:prstGeom>
          <a:noFill/>
          <a:ln/>
        </p:spPr>
        <p:txBody>
          <a:bodyPr wrap="square" lIns="0" tIns="0" rIns="0" bIns="0" rtlCol="0" anchor="ctr"/>
          <a:lstStyle/>
          <a:p>
            <a:pPr indent="0" marL="0">
              <a:buNone/>
            </a:pPr>
            <a:r>
              <a:rPr lang="ja-JP" altLang="en-US" sz="2200" b="1" dirty="0">
                <a:solidFill>
                  <a:schemeClr val="accent1"/>
                </a:solidFill>
              </a:rPr>
              <a:t>①</a:t>
            </a:r>
            <a:endParaRPr lang="ja-JP" sz="2200" dirty="0"/>
          </a:p>
        </p:txBody>
      </p:sp>
      <p:sp>
        <p:nvSpPr>
          <p:cNvPr id="23" name="Text 17"/>
          <p:cNvSpPr txBox="1"/>
          <p:nvPr/>
        </p:nvSpPr>
        <p:spPr>
          <a:xfrm>
            <a:off x="7132320" y="3017520"/>
            <a:ext cx="1965960" cy="457200"/>
          </a:xfrm>
          <a:prstGeom prst="rect">
            <a:avLst/>
          </a:prstGeom>
          <a:noFill/>
          <a:ln/>
        </p:spPr>
        <p:txBody>
          <a:bodyPr wrap="square" lIns="0" tIns="0" rIns="0" bIns="0" rtlCol="0" anchor="ctr"/>
          <a:lstStyle/>
          <a:p>
            <a:pPr indent="0" marL="0">
              <a:buNone/>
            </a:pPr>
            <a:r>
              <a:rPr lang="ja-JP" altLang="en-US" sz="1900" b="1" dirty="0">
                <a:solidFill>
                  <a:schemeClr val="tx2"/>
                </a:solidFill>
              </a:rPr>
              <a:t>原材料価格</a:t>
            </a:r>
            <a:endParaRPr lang="ja-JP" sz="1900" dirty="0"/>
          </a:p>
        </p:txBody>
      </p:sp>
      <p:sp>
        <p:nvSpPr>
          <p:cNvPr id="24" name="Shape 18"/>
          <p:cNvSpPr/>
          <p:nvPr/>
        </p:nvSpPr>
        <p:spPr>
          <a:xfrm>
            <a:off x="9345168" y="2148840"/>
            <a:ext cx="2267712" cy="1463040"/>
          </a:xfrm>
          <a:prstGeom prst="roundRect">
            <a:avLst>
              <a:gd name="adj" fmla="val 8750"/>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25" name="Shape 19"/>
          <p:cNvSpPr/>
          <p:nvPr/>
        </p:nvSpPr>
        <p:spPr>
          <a:xfrm>
            <a:off x="9528048" y="2331720"/>
            <a:ext cx="594360" cy="594360"/>
          </a:xfrm>
          <a:prstGeom prst="ellipse">
            <a:avLst/>
          </a:prstGeom>
          <a:solidFill>
            <a:schemeClr val="bg2"/>
          </a:solidFill>
          <a:ln/>
        </p:spPr>
      </p:sp>
      <p:pic>
        <p:nvPicPr>
          <p:cNvPr id="26" name="Image 3" descr="TbChartBar">    </p:cNvPr>
          <p:cNvPicPr>
            <a:picLocks noChangeAspect="1"/>
          </p:cNvPicPr>
          <p:nvPr/>
        </p:nvPicPr>
        <p:blipFill>
          <a:blip r:embed="rId4"/>
          <a:stretch>
            <a:fillRect/>
          </a:stretch>
        </p:blipFill>
        <p:spPr>
          <a:xfrm>
            <a:off x="9658807" y="2462479"/>
            <a:ext cx="332842" cy="332842"/>
          </a:xfrm>
          <a:prstGeom prst="rect">
            <a:avLst/>
          </a:prstGeom>
        </p:spPr>
      </p:pic>
      <p:sp>
        <p:nvSpPr>
          <p:cNvPr id="27" name="Text 20"/>
          <p:cNvSpPr txBox="1"/>
          <p:nvPr/>
        </p:nvSpPr>
        <p:spPr>
          <a:xfrm>
            <a:off x="10259568" y="2377440"/>
            <a:ext cx="457200" cy="457200"/>
          </a:xfrm>
          <a:prstGeom prst="rect">
            <a:avLst/>
          </a:prstGeom>
          <a:noFill/>
          <a:ln/>
        </p:spPr>
        <p:txBody>
          <a:bodyPr wrap="square" lIns="0" tIns="0" rIns="0" bIns="0" rtlCol="0" anchor="ctr"/>
          <a:lstStyle/>
          <a:p>
            <a:pPr indent="0" marL="0">
              <a:buNone/>
            </a:pPr>
            <a:r>
              <a:rPr lang="ja-JP" altLang="en-US" sz="2200" b="1" dirty="0">
                <a:solidFill>
                  <a:schemeClr val="accent1"/>
                </a:solidFill>
              </a:rPr>
              <a:t>②</a:t>
            </a:r>
            <a:endParaRPr lang="ja-JP" sz="2200" dirty="0"/>
          </a:p>
        </p:txBody>
      </p:sp>
      <p:sp>
        <p:nvSpPr>
          <p:cNvPr id="28" name="Text 21"/>
          <p:cNvSpPr txBox="1"/>
          <p:nvPr/>
        </p:nvSpPr>
        <p:spPr>
          <a:xfrm>
            <a:off x="9528048" y="3017520"/>
            <a:ext cx="1965960" cy="457200"/>
          </a:xfrm>
          <a:prstGeom prst="rect">
            <a:avLst/>
          </a:prstGeom>
          <a:noFill/>
          <a:ln/>
        </p:spPr>
        <p:txBody>
          <a:bodyPr wrap="square" lIns="0" tIns="0" rIns="0" bIns="0" rtlCol="0" anchor="ctr"/>
          <a:lstStyle/>
          <a:p>
            <a:pPr indent="0" marL="0">
              <a:buNone/>
            </a:pPr>
            <a:r>
              <a:rPr lang="ja-JP" altLang="en-US" sz="1900" b="1" dirty="0">
                <a:solidFill>
                  <a:schemeClr val="tx2"/>
                </a:solidFill>
              </a:rPr>
              <a:t>需給</a:t>
            </a:r>
            <a:endParaRPr lang="ja-JP" sz="1900" dirty="0"/>
          </a:p>
        </p:txBody>
      </p:sp>
      <p:sp>
        <p:nvSpPr>
          <p:cNvPr id="29" name="Shape 22"/>
          <p:cNvSpPr/>
          <p:nvPr/>
        </p:nvSpPr>
        <p:spPr>
          <a:xfrm>
            <a:off x="6949440" y="3749040"/>
            <a:ext cx="2267712" cy="1463040"/>
          </a:xfrm>
          <a:prstGeom prst="roundRect">
            <a:avLst>
              <a:gd name="adj" fmla="val 8750"/>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30" name="Shape 23"/>
          <p:cNvSpPr/>
          <p:nvPr/>
        </p:nvSpPr>
        <p:spPr>
          <a:xfrm>
            <a:off x="7132320" y="3931920"/>
            <a:ext cx="594360" cy="594360"/>
          </a:xfrm>
          <a:prstGeom prst="ellipse">
            <a:avLst/>
          </a:prstGeom>
          <a:solidFill>
            <a:schemeClr val="bg2"/>
          </a:solidFill>
          <a:ln/>
        </p:spPr>
      </p:sp>
      <p:pic>
        <p:nvPicPr>
          <p:cNvPr id="31" name="Image 4" descr="TbTruck">    </p:cNvPr>
          <p:cNvPicPr>
            <a:picLocks noChangeAspect="1"/>
          </p:cNvPicPr>
          <p:nvPr/>
        </p:nvPicPr>
        <p:blipFill>
          <a:blip r:embed="rId5"/>
          <a:stretch>
            <a:fillRect/>
          </a:stretch>
        </p:blipFill>
        <p:spPr>
          <a:xfrm>
            <a:off x="7263079" y="4062679"/>
            <a:ext cx="332842" cy="332842"/>
          </a:xfrm>
          <a:prstGeom prst="rect">
            <a:avLst/>
          </a:prstGeom>
        </p:spPr>
      </p:pic>
      <p:sp>
        <p:nvSpPr>
          <p:cNvPr id="32" name="Text 24"/>
          <p:cNvSpPr txBox="1"/>
          <p:nvPr/>
        </p:nvSpPr>
        <p:spPr>
          <a:xfrm>
            <a:off x="7863840" y="3977640"/>
            <a:ext cx="457200" cy="457200"/>
          </a:xfrm>
          <a:prstGeom prst="rect">
            <a:avLst/>
          </a:prstGeom>
          <a:noFill/>
          <a:ln/>
        </p:spPr>
        <p:txBody>
          <a:bodyPr wrap="square" lIns="0" tIns="0" rIns="0" bIns="0" rtlCol="0" anchor="ctr"/>
          <a:lstStyle/>
          <a:p>
            <a:pPr indent="0" marL="0">
              <a:buNone/>
            </a:pPr>
            <a:r>
              <a:rPr lang="ja-JP" altLang="en-US" sz="2200" b="1" dirty="0">
                <a:solidFill>
                  <a:schemeClr val="accent1"/>
                </a:solidFill>
              </a:rPr>
              <a:t>③</a:t>
            </a:r>
            <a:endParaRPr lang="ja-JP" sz="2200" dirty="0"/>
          </a:p>
        </p:txBody>
      </p:sp>
      <p:sp>
        <p:nvSpPr>
          <p:cNvPr id="33" name="Text 25"/>
          <p:cNvSpPr txBox="1"/>
          <p:nvPr/>
        </p:nvSpPr>
        <p:spPr>
          <a:xfrm>
            <a:off x="7132320" y="4617720"/>
            <a:ext cx="1965960" cy="457200"/>
          </a:xfrm>
          <a:prstGeom prst="rect">
            <a:avLst/>
          </a:prstGeom>
          <a:noFill/>
          <a:ln/>
        </p:spPr>
        <p:txBody>
          <a:bodyPr wrap="square" lIns="0" tIns="0" rIns="0" bIns="0" rtlCol="0" anchor="ctr"/>
          <a:lstStyle/>
          <a:p>
            <a:pPr indent="0" marL="0">
              <a:buNone/>
            </a:pPr>
            <a:r>
              <a:rPr lang="ja-JP" altLang="en-US" sz="1900" b="1" dirty="0">
                <a:solidFill>
                  <a:schemeClr val="tx2"/>
                </a:solidFill>
              </a:rPr>
              <a:t>製造・物流費</a:t>
            </a:r>
            <a:endParaRPr lang="ja-JP" sz="1900" dirty="0"/>
          </a:p>
        </p:txBody>
      </p:sp>
      <p:sp>
        <p:nvSpPr>
          <p:cNvPr id="34" name="Shape 26"/>
          <p:cNvSpPr/>
          <p:nvPr/>
        </p:nvSpPr>
        <p:spPr>
          <a:xfrm>
            <a:off x="9345168" y="3749040"/>
            <a:ext cx="2267712" cy="1463040"/>
          </a:xfrm>
          <a:prstGeom prst="roundRect">
            <a:avLst>
              <a:gd name="adj" fmla="val 8750"/>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35" name="Shape 27"/>
          <p:cNvSpPr/>
          <p:nvPr/>
        </p:nvSpPr>
        <p:spPr>
          <a:xfrm>
            <a:off x="9528048" y="3931920"/>
            <a:ext cx="594360" cy="594360"/>
          </a:xfrm>
          <a:prstGeom prst="ellipse">
            <a:avLst/>
          </a:prstGeom>
          <a:solidFill>
            <a:schemeClr val="bg2"/>
          </a:solidFill>
          <a:ln/>
        </p:spPr>
      </p:sp>
      <p:pic>
        <p:nvPicPr>
          <p:cNvPr id="36" name="Image 5" descr="TbCurrencyYen">    </p:cNvPr>
          <p:cNvPicPr>
            <a:picLocks noChangeAspect="1"/>
          </p:cNvPicPr>
          <p:nvPr/>
        </p:nvPicPr>
        <p:blipFill>
          <a:blip r:embed="rId6"/>
          <a:stretch>
            <a:fillRect/>
          </a:stretch>
        </p:blipFill>
        <p:spPr>
          <a:xfrm>
            <a:off x="9658807" y="4062679"/>
            <a:ext cx="332842" cy="332842"/>
          </a:xfrm>
          <a:prstGeom prst="rect">
            <a:avLst/>
          </a:prstGeom>
        </p:spPr>
      </p:pic>
      <p:sp>
        <p:nvSpPr>
          <p:cNvPr id="37" name="Text 28"/>
          <p:cNvSpPr txBox="1"/>
          <p:nvPr/>
        </p:nvSpPr>
        <p:spPr>
          <a:xfrm>
            <a:off x="10259568" y="3977640"/>
            <a:ext cx="457200" cy="457200"/>
          </a:xfrm>
          <a:prstGeom prst="rect">
            <a:avLst/>
          </a:prstGeom>
          <a:noFill/>
          <a:ln/>
        </p:spPr>
        <p:txBody>
          <a:bodyPr wrap="square" lIns="0" tIns="0" rIns="0" bIns="0" rtlCol="0" anchor="ctr"/>
          <a:lstStyle/>
          <a:p>
            <a:pPr indent="0" marL="0">
              <a:buNone/>
            </a:pPr>
            <a:r>
              <a:rPr lang="ja-JP" altLang="en-US" sz="2200" b="1" dirty="0">
                <a:solidFill>
                  <a:schemeClr val="accent1"/>
                </a:solidFill>
              </a:rPr>
              <a:t>④</a:t>
            </a:r>
            <a:endParaRPr lang="ja-JP" sz="2200" dirty="0"/>
          </a:p>
        </p:txBody>
      </p:sp>
      <p:sp>
        <p:nvSpPr>
          <p:cNvPr id="38" name="Text 29"/>
          <p:cNvSpPr txBox="1"/>
          <p:nvPr/>
        </p:nvSpPr>
        <p:spPr>
          <a:xfrm>
            <a:off x="9528048" y="4617720"/>
            <a:ext cx="1965960" cy="457200"/>
          </a:xfrm>
          <a:prstGeom prst="rect">
            <a:avLst/>
          </a:prstGeom>
          <a:noFill/>
          <a:ln/>
        </p:spPr>
        <p:txBody>
          <a:bodyPr wrap="square" lIns="0" tIns="0" rIns="0" bIns="0" rtlCol="0" anchor="ctr"/>
          <a:lstStyle/>
          <a:p>
            <a:pPr indent="0" marL="0">
              <a:buNone/>
            </a:pPr>
            <a:r>
              <a:rPr lang="ja-JP" altLang="en-US" sz="1900" b="1" dirty="0">
                <a:solidFill>
                  <a:schemeClr val="tx2"/>
                </a:solidFill>
              </a:rPr>
              <a:t>為替・契約条件</a:t>
            </a:r>
            <a:endParaRPr lang="ja-JP" sz="1900" dirty="0"/>
          </a:p>
        </p:txBody>
      </p:sp>
      <p:sp>
        <p:nvSpPr>
          <p:cNvPr id="39" name="Text 30"/>
          <p:cNvSpPr txBox="1"/>
          <p:nvPr/>
        </p:nvSpPr>
        <p:spPr>
          <a:xfrm>
            <a:off x="548640" y="5413248"/>
            <a:ext cx="11091672" cy="457200"/>
          </a:xfrm>
          <a:prstGeom prst="rect">
            <a:avLst/>
          </a:prstGeom>
          <a:noFill/>
          <a:ln/>
        </p:spPr>
        <p:txBody>
          <a:bodyPr wrap="square" lIns="0" tIns="0" rIns="0" bIns="0" rtlCol="0" anchor="ctr"/>
          <a:lstStyle/>
          <a:p>
            <a:pPr indent="0" marL="0">
              <a:buNone/>
            </a:pPr>
            <a:r>
              <a:rPr lang="ja-JP" altLang="en-US" sz="2400" b="1" dirty="0">
                <a:solidFill>
                  <a:schemeClr val="tx2"/>
                </a:solidFill>
              </a:rPr>
              <a:t>価格が上がる＝利益が増える、</a:t>
            </a:r>
            <a:pPr indent="0" marL="0">
              <a:buNone/>
            </a:pPr>
            <a:r>
              <a:rPr lang="ja-JP" altLang="en-US" sz="2400" b="1" dirty="0">
                <a:solidFill>
                  <a:srgbClr val="B86E10"/>
                </a:solidFill>
              </a:rPr>
              <a:t>ではない。</a:t>
            </a:r>
            <a:endParaRPr lang="ja-JP" sz="2400" dirty="0"/>
          </a:p>
        </p:txBody>
      </p:sp>
      <p:sp>
        <p:nvSpPr>
          <p:cNvPr id="40" name="Text 31"/>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出典：日刊産業新聞（2026/9/30、2026/10/9）</a:t>
            </a:r>
            <a:pPr indent="0" marL="0">
              <a:buNone/>
            </a:pPr>
            <a:r>
              <a:rPr lang="ja-JP" altLang="en-US" sz="1200" b="1" dirty="0">
                <a:solidFill>
                  <a:srgbClr val="B86E10"/>
                </a:solidFill>
              </a:rPr>
              <a:t>　【要確認】ステンレス値下げの理由</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04｜3つのニュースから未来を考える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ミニGD② 脱炭素へ先行投資する？</a:t>
            </a:r>
            <a:endParaRPr lang="en-US" sz="3000" dirty="0"/>
          </a:p>
        </p:txBody>
      </p:sp>
      <p:sp>
        <p:nvSpPr>
          <p:cNvPr id="5" name="Text 2"/>
          <p:cNvSpPr txBox="1"/>
          <p:nvPr/>
        </p:nvSpPr>
        <p:spPr>
          <a:xfrm>
            <a:off x="548640" y="1645920"/>
            <a:ext cx="8503920" cy="548640"/>
          </a:xfrm>
          <a:prstGeom prst="rect">
            <a:avLst/>
          </a:prstGeom>
          <a:noFill/>
          <a:ln/>
        </p:spPr>
        <p:txBody>
          <a:bodyPr wrap="square" lIns="0" tIns="0" rIns="0" bIns="0" rtlCol="0" anchor="ctr"/>
          <a:lstStyle/>
          <a:p>
            <a:pPr indent="0" marL="0">
              <a:buNone/>
            </a:pPr>
            <a:r>
              <a:rPr lang="ja-JP" altLang="en-US" sz="2600" b="1" dirty="0">
                <a:solidFill>
                  <a:schemeClr val="tx2"/>
                </a:solidFill>
              </a:rPr>
              <a:t>あなたが鉄鋼メーカーの経営者なら？</a:t>
            </a:r>
            <a:endParaRPr lang="ja-JP" sz="2600" dirty="0"/>
          </a:p>
        </p:txBody>
      </p:sp>
      <p:sp>
        <p:nvSpPr>
          <p:cNvPr id="6" name="Shape 3"/>
          <p:cNvSpPr/>
          <p:nvPr/>
        </p:nvSpPr>
        <p:spPr>
          <a:xfrm>
            <a:off x="9509760" y="1554480"/>
            <a:ext cx="1920240" cy="1920240"/>
          </a:xfrm>
          <a:prstGeom prst="ellipse">
            <a:avLst/>
          </a:prstGeom>
          <a:solidFill>
            <a:schemeClr val="tx2"/>
          </a:solidFill>
          <a:ln/>
          <a:effectLst>
            <a:outerShdw sx="100000" sy="100000" kx="0" ky="0" algn="bl" rotWithShape="0" blurRad="101600" dist="25400" dir="5400000">
              <a:srgbClr val="12243A">
                <a:alpha val="14000"/>
              </a:srgbClr>
            </a:outerShdw>
          </a:effectLst>
        </p:spPr>
      </p:sp>
      <p:sp>
        <p:nvSpPr>
          <p:cNvPr id="7" name="Shape 4"/>
          <p:cNvSpPr/>
          <p:nvPr/>
        </p:nvSpPr>
        <p:spPr>
          <a:xfrm>
            <a:off x="9619488" y="1664208"/>
            <a:ext cx="1700784" cy="1700784"/>
          </a:xfrm>
          <a:prstGeom prst="ellipse">
            <a:avLst/>
          </a:prstGeom>
          <a:solidFill>
            <a:schemeClr val="tx2"/>
          </a:solidFill>
          <a:ln w="38100">
            <a:solidFill>
              <a:schemeClr val="accent2"/>
            </a:solidFill>
            <a:prstDash val="solid"/>
          </a:ln>
        </p:spPr>
      </p:sp>
      <p:sp>
        <p:nvSpPr>
          <p:cNvPr id="8" name="Text 5"/>
          <p:cNvSpPr txBox="1"/>
          <p:nvPr/>
        </p:nvSpPr>
        <p:spPr>
          <a:xfrm>
            <a:off x="9509760" y="2053742"/>
            <a:ext cx="1920240" cy="691286"/>
          </a:xfrm>
          <a:prstGeom prst="rect">
            <a:avLst/>
          </a:prstGeom>
          <a:noFill/>
          <a:ln/>
        </p:spPr>
        <p:txBody>
          <a:bodyPr wrap="square" lIns="0" tIns="0" rIns="0" bIns="0" rtlCol="0" anchor="ctr"/>
          <a:lstStyle/>
          <a:p>
            <a:pPr algn="ctr" indent="0" marL="0">
              <a:buNone/>
            </a:pPr>
            <a:r>
              <a:rPr lang="ja-JP" altLang="en-US" sz="4200" b="1" dirty="0">
                <a:solidFill>
                  <a:schemeClr val="bg1"/>
                </a:solidFill>
              </a:rPr>
              <a:t>5:00</a:t>
            </a:r>
            <a:endParaRPr lang="ja-JP" sz="4200" dirty="0"/>
          </a:p>
        </p:txBody>
      </p:sp>
      <p:sp>
        <p:nvSpPr>
          <p:cNvPr id="9" name="Text 6"/>
          <p:cNvSpPr txBox="1"/>
          <p:nvPr/>
        </p:nvSpPr>
        <p:spPr>
          <a:xfrm>
            <a:off x="9509760" y="2764231"/>
            <a:ext cx="1920240" cy="274320"/>
          </a:xfrm>
          <a:prstGeom prst="rect">
            <a:avLst/>
          </a:prstGeom>
          <a:noFill/>
          <a:ln/>
        </p:spPr>
        <p:txBody>
          <a:bodyPr wrap="square" lIns="0" tIns="0" rIns="0" bIns="0" rtlCol="0" anchor="t"/>
          <a:lstStyle/>
          <a:p>
            <a:pPr algn="ctr" indent="0" marL="0">
              <a:buNone/>
            </a:pPr>
            <a:r>
              <a:rPr lang="ja-JP" altLang="en-US" sz="1300" b="1" dirty="0">
                <a:solidFill>
                  <a:schemeClr val="accent2"/>
                </a:solidFill>
              </a:rPr>
              <a:t>TIMER</a:t>
            </a:r>
            <a:endParaRPr lang="ja-JP" sz="1300" dirty="0"/>
          </a:p>
        </p:txBody>
      </p:sp>
      <p:sp>
        <p:nvSpPr>
          <p:cNvPr id="10" name="Shape 7"/>
          <p:cNvSpPr/>
          <p:nvPr/>
        </p:nvSpPr>
        <p:spPr>
          <a:xfrm>
            <a:off x="548640" y="2377440"/>
            <a:ext cx="4069080" cy="1874520"/>
          </a:xfrm>
          <a:prstGeom prst="roundRect">
            <a:avLst>
              <a:gd name="adj" fmla="val 9756"/>
            </a:avLst>
          </a:prstGeom>
          <a:solidFill>
            <a:schemeClr val="accent1"/>
          </a:solidFill>
          <a:ln/>
          <a:effectLst>
            <a:outerShdw sx="100000" sy="100000" kx="0" ky="0" algn="bl" rotWithShape="0" blurRad="101600" dist="25400" dir="5400000">
              <a:srgbClr val="12243A">
                <a:alpha val="14000"/>
              </a:srgbClr>
            </a:outerShdw>
          </a:effectLst>
        </p:spPr>
      </p:sp>
      <p:sp>
        <p:nvSpPr>
          <p:cNvPr id="11" name="Text 8"/>
          <p:cNvSpPr txBox="1"/>
          <p:nvPr/>
        </p:nvSpPr>
        <p:spPr>
          <a:xfrm>
            <a:off x="822960" y="2487168"/>
            <a:ext cx="914400" cy="685800"/>
          </a:xfrm>
          <a:prstGeom prst="rect">
            <a:avLst/>
          </a:prstGeom>
          <a:noFill/>
          <a:ln/>
        </p:spPr>
        <p:txBody>
          <a:bodyPr wrap="square" lIns="0" tIns="0" rIns="0" bIns="0" rtlCol="0" anchor="t"/>
          <a:lstStyle/>
          <a:p>
            <a:pPr indent="0" marL="0">
              <a:buNone/>
            </a:pPr>
            <a:r>
              <a:rPr lang="ja-JP" altLang="en-US" sz="4000" b="1" dirty="0">
                <a:solidFill>
                  <a:schemeClr val="accent3"/>
                </a:solidFill>
              </a:rPr>
              <a:t>A</a:t>
            </a:r>
            <a:endParaRPr lang="ja-JP" sz="4000" dirty="0"/>
          </a:p>
        </p:txBody>
      </p:sp>
      <p:sp>
        <p:nvSpPr>
          <p:cNvPr id="12" name="Text 9"/>
          <p:cNvSpPr txBox="1"/>
          <p:nvPr/>
        </p:nvSpPr>
        <p:spPr>
          <a:xfrm>
            <a:off x="822960" y="3154680"/>
            <a:ext cx="3566160" cy="1005840"/>
          </a:xfrm>
          <a:prstGeom prst="rect">
            <a:avLst/>
          </a:prstGeom>
          <a:noFill/>
          <a:ln/>
        </p:spPr>
        <p:txBody>
          <a:bodyPr wrap="square" lIns="0" tIns="0" rIns="0" bIns="0" rtlCol="0" anchor="t"/>
          <a:lstStyle/>
          <a:p>
            <a:pPr indent="0" marL="0">
              <a:buNone/>
            </a:pPr>
            <a:r>
              <a:rPr lang="ja-JP" altLang="en-US" sz="2100" b="1" dirty="0">
                <a:solidFill>
                  <a:schemeClr val="bg1"/>
                </a:solidFill>
              </a:rPr>
              <a:t>今から水素還元などの設備に投資する</a:t>
            </a:r>
            <a:endParaRPr lang="ja-JP" sz="2100" dirty="0"/>
          </a:p>
        </p:txBody>
      </p:sp>
      <p:sp>
        <p:nvSpPr>
          <p:cNvPr id="13" name="Shape 10"/>
          <p:cNvSpPr/>
          <p:nvPr/>
        </p:nvSpPr>
        <p:spPr>
          <a:xfrm>
            <a:off x="4983480" y="2377440"/>
            <a:ext cx="4069080" cy="1874520"/>
          </a:xfrm>
          <a:prstGeom prst="roundRect">
            <a:avLst>
              <a:gd name="adj" fmla="val 9756"/>
            </a:avLst>
          </a:prstGeom>
          <a:solidFill>
            <a:schemeClr val="tx2"/>
          </a:solidFill>
          <a:ln/>
          <a:effectLst>
            <a:outerShdw sx="100000" sy="100000" kx="0" ky="0" algn="bl" rotWithShape="0" blurRad="101600" dist="25400" dir="5400000">
              <a:srgbClr val="12243A">
                <a:alpha val="14000"/>
              </a:srgbClr>
            </a:outerShdw>
          </a:effectLst>
        </p:spPr>
      </p:sp>
      <p:sp>
        <p:nvSpPr>
          <p:cNvPr id="14" name="Text 11"/>
          <p:cNvSpPr txBox="1"/>
          <p:nvPr/>
        </p:nvSpPr>
        <p:spPr>
          <a:xfrm>
            <a:off x="5257800" y="2487168"/>
            <a:ext cx="914400" cy="685800"/>
          </a:xfrm>
          <a:prstGeom prst="rect">
            <a:avLst/>
          </a:prstGeom>
          <a:noFill/>
          <a:ln/>
        </p:spPr>
        <p:txBody>
          <a:bodyPr wrap="square" lIns="0" tIns="0" rIns="0" bIns="0" rtlCol="0" anchor="t"/>
          <a:lstStyle/>
          <a:p>
            <a:pPr indent="0" marL="0">
              <a:buNone/>
            </a:pPr>
            <a:r>
              <a:rPr lang="ja-JP" altLang="en-US" sz="4000" b="1" dirty="0">
                <a:solidFill>
                  <a:schemeClr val="accent3"/>
                </a:solidFill>
              </a:rPr>
              <a:t>B</a:t>
            </a:r>
            <a:endParaRPr lang="ja-JP" sz="4000" dirty="0"/>
          </a:p>
        </p:txBody>
      </p:sp>
      <p:sp>
        <p:nvSpPr>
          <p:cNvPr id="15" name="Text 12"/>
          <p:cNvSpPr txBox="1"/>
          <p:nvPr/>
        </p:nvSpPr>
        <p:spPr>
          <a:xfrm>
            <a:off x="5257800" y="3154680"/>
            <a:ext cx="3566160" cy="1005840"/>
          </a:xfrm>
          <a:prstGeom prst="rect">
            <a:avLst/>
          </a:prstGeom>
          <a:noFill/>
          <a:ln/>
        </p:spPr>
        <p:txBody>
          <a:bodyPr wrap="square" lIns="0" tIns="0" rIns="0" bIns="0" rtlCol="0" anchor="t"/>
          <a:lstStyle/>
          <a:p>
            <a:pPr indent="0" marL="0">
              <a:buNone/>
            </a:pPr>
            <a:r>
              <a:rPr lang="ja-JP" altLang="en-US" sz="2100" b="1" dirty="0">
                <a:solidFill>
                  <a:schemeClr val="bg1"/>
                </a:solidFill>
              </a:rPr>
              <a:t>まず既存設備の利益・投資回収を優先する</a:t>
            </a:r>
            <a:endParaRPr lang="ja-JP" sz="2100" dirty="0"/>
          </a:p>
        </p:txBody>
      </p:sp>
      <p:sp>
        <p:nvSpPr>
          <p:cNvPr id="16" name="Text 13"/>
          <p:cNvSpPr txBox="1"/>
          <p:nvPr/>
        </p:nvSpPr>
        <p:spPr>
          <a:xfrm>
            <a:off x="4352544" y="3017520"/>
            <a:ext cx="804672" cy="804672"/>
          </a:xfrm>
          <a:prstGeom prst="ellipse">
            <a:avLst/>
          </a:prstGeom>
          <a:solidFill>
            <a:schemeClr val="accent3"/>
          </a:solidFill>
          <a:ln/>
        </p:spPr>
        <p:txBody>
          <a:bodyPr wrap="square" lIns="0" tIns="0" rIns="0" bIns="0" rtlCol="0" anchor="ctr"/>
          <a:lstStyle/>
          <a:p>
            <a:pPr algn="ctr" indent="0" marL="0">
              <a:buNone/>
            </a:pPr>
            <a:r>
              <a:rPr lang="ja-JP" altLang="en-US" sz="2200" b="1" dirty="0">
                <a:solidFill>
                  <a:schemeClr val="tx2"/>
                </a:solidFill>
              </a:rPr>
              <a:t>or</a:t>
            </a:r>
            <a:endParaRPr lang="ja-JP" sz="2200" dirty="0"/>
          </a:p>
        </p:txBody>
      </p:sp>
      <p:pic>
        <p:nvPicPr>
          <p:cNvPr id="17" name="Image 0" descr="TbBriefcase">    </p:cNvPr>
          <p:cNvPicPr>
            <a:picLocks noChangeAspect="1"/>
          </p:cNvPicPr>
          <p:nvPr/>
        </p:nvPicPr>
        <p:blipFill>
          <a:blip r:embed="rId1"/>
          <a:stretch>
            <a:fillRect/>
          </a:stretch>
        </p:blipFill>
        <p:spPr>
          <a:xfrm>
            <a:off x="9509760" y="3657600"/>
            <a:ext cx="347472" cy="347472"/>
          </a:xfrm>
          <a:prstGeom prst="rect">
            <a:avLst/>
          </a:prstGeom>
        </p:spPr>
      </p:pic>
      <p:sp>
        <p:nvSpPr>
          <p:cNvPr id="18" name="Text 14"/>
          <p:cNvSpPr txBox="1"/>
          <p:nvPr/>
        </p:nvSpPr>
        <p:spPr>
          <a:xfrm>
            <a:off x="9966960" y="3657600"/>
            <a:ext cx="1737360" cy="347472"/>
          </a:xfrm>
          <a:prstGeom prst="rect">
            <a:avLst/>
          </a:prstGeom>
          <a:noFill/>
          <a:ln/>
        </p:spPr>
        <p:txBody>
          <a:bodyPr wrap="square" lIns="0" tIns="0" rIns="0" bIns="0" rtlCol="0" anchor="ctr"/>
          <a:lstStyle/>
          <a:p>
            <a:pPr indent="0" marL="0">
              <a:buNone/>
            </a:pPr>
            <a:r>
              <a:rPr lang="ja-JP" altLang="en-US" sz="1600" b="1" dirty="0">
                <a:solidFill>
                  <a:schemeClr val="tx2"/>
                </a:solidFill>
              </a:rPr>
              <a:t>経営者の立場</a:t>
            </a:r>
            <a:endParaRPr lang="ja-JP" sz="1600" dirty="0"/>
          </a:p>
        </p:txBody>
      </p:sp>
      <p:pic>
        <p:nvPicPr>
          <p:cNvPr id="19" name="Image 1" descr="TbCoin">    </p:cNvPr>
          <p:cNvPicPr>
            <a:picLocks noChangeAspect="1"/>
          </p:cNvPicPr>
          <p:nvPr/>
        </p:nvPicPr>
        <p:blipFill>
          <a:blip r:embed="rId2"/>
          <a:stretch>
            <a:fillRect/>
          </a:stretch>
        </p:blipFill>
        <p:spPr>
          <a:xfrm>
            <a:off x="9509760" y="4114800"/>
            <a:ext cx="347472" cy="347472"/>
          </a:xfrm>
          <a:prstGeom prst="rect">
            <a:avLst/>
          </a:prstGeom>
        </p:spPr>
      </p:pic>
      <p:sp>
        <p:nvSpPr>
          <p:cNvPr id="20" name="Text 15"/>
          <p:cNvSpPr txBox="1"/>
          <p:nvPr/>
        </p:nvSpPr>
        <p:spPr>
          <a:xfrm>
            <a:off x="9966960" y="4114800"/>
            <a:ext cx="1737360" cy="347472"/>
          </a:xfrm>
          <a:prstGeom prst="rect">
            <a:avLst/>
          </a:prstGeom>
          <a:noFill/>
          <a:ln/>
        </p:spPr>
        <p:txBody>
          <a:bodyPr wrap="square" lIns="0" tIns="0" rIns="0" bIns="0" rtlCol="0" anchor="ctr"/>
          <a:lstStyle/>
          <a:p>
            <a:pPr indent="0" marL="0">
              <a:buNone/>
            </a:pPr>
            <a:r>
              <a:rPr lang="ja-JP" altLang="en-US" sz="1600" b="1" dirty="0">
                <a:solidFill>
                  <a:schemeClr val="tx2"/>
                </a:solidFill>
              </a:rPr>
              <a:t>資金</a:t>
            </a:r>
            <a:endParaRPr lang="ja-JP" sz="1600" dirty="0"/>
          </a:p>
        </p:txBody>
      </p:sp>
      <p:pic>
        <p:nvPicPr>
          <p:cNvPr id="21" name="Image 2" descr="TbLeaf">    </p:cNvPr>
          <p:cNvPicPr>
            <a:picLocks noChangeAspect="1"/>
          </p:cNvPicPr>
          <p:nvPr/>
        </p:nvPicPr>
        <p:blipFill>
          <a:blip r:embed="rId3"/>
          <a:stretch>
            <a:fillRect/>
          </a:stretch>
        </p:blipFill>
        <p:spPr>
          <a:xfrm>
            <a:off x="9509760" y="4572000"/>
            <a:ext cx="347472" cy="347472"/>
          </a:xfrm>
          <a:prstGeom prst="rect">
            <a:avLst/>
          </a:prstGeom>
        </p:spPr>
      </p:pic>
      <p:sp>
        <p:nvSpPr>
          <p:cNvPr id="22" name="Text 16"/>
          <p:cNvSpPr txBox="1"/>
          <p:nvPr/>
        </p:nvSpPr>
        <p:spPr>
          <a:xfrm>
            <a:off x="9966960" y="4572000"/>
            <a:ext cx="1737360" cy="347472"/>
          </a:xfrm>
          <a:prstGeom prst="rect">
            <a:avLst/>
          </a:prstGeom>
          <a:noFill/>
          <a:ln/>
        </p:spPr>
        <p:txBody>
          <a:bodyPr wrap="square" lIns="0" tIns="0" rIns="0" bIns="0" rtlCol="0" anchor="ctr"/>
          <a:lstStyle/>
          <a:p>
            <a:pPr indent="0" marL="0">
              <a:buNone/>
            </a:pPr>
            <a:r>
              <a:rPr lang="ja-JP" altLang="en-US" sz="1600" b="1" dirty="0">
                <a:solidFill>
                  <a:schemeClr val="tx2"/>
                </a:solidFill>
              </a:rPr>
              <a:t>排出規制</a:t>
            </a:r>
            <a:endParaRPr lang="ja-JP" sz="1600" dirty="0"/>
          </a:p>
        </p:txBody>
      </p:sp>
      <p:sp>
        <p:nvSpPr>
          <p:cNvPr id="23" name="Text 17"/>
          <p:cNvSpPr txBox="1"/>
          <p:nvPr/>
        </p:nvSpPr>
        <p:spPr>
          <a:xfrm>
            <a:off x="548640" y="4462272"/>
            <a:ext cx="8503920" cy="502920"/>
          </a:xfrm>
          <a:prstGeom prst="rect">
            <a:avLst/>
          </a:prstGeom>
          <a:noFill/>
          <a:ln/>
        </p:spPr>
        <p:txBody>
          <a:bodyPr wrap="square" lIns="0" tIns="0" rIns="0" bIns="0" rtlCol="0" anchor="ctr"/>
          <a:lstStyle/>
          <a:p>
            <a:pPr indent="0" marL="0">
              <a:buNone/>
            </a:pPr>
            <a:r>
              <a:rPr lang="ja-JP" altLang="en-US" sz="2400" b="1" dirty="0">
                <a:solidFill>
                  <a:srgbClr val="B86E10"/>
                </a:solidFill>
              </a:rPr>
              <a:t>「どんな条件なら判断が変わる？」</a:t>
            </a:r>
            <a:endParaRPr lang="ja-JP" sz="2400" dirty="0"/>
          </a:p>
        </p:txBody>
      </p:sp>
      <p:sp>
        <p:nvSpPr>
          <p:cNvPr id="24" name="Text 18"/>
          <p:cNvSpPr txBox="1"/>
          <p:nvPr/>
        </p:nvSpPr>
        <p:spPr>
          <a:xfrm>
            <a:off x="548640" y="5020056"/>
            <a:ext cx="1828800" cy="274320"/>
          </a:xfrm>
          <a:prstGeom prst="rect">
            <a:avLst/>
          </a:prstGeom>
          <a:noFill/>
          <a:ln/>
        </p:spPr>
        <p:txBody>
          <a:bodyPr wrap="square" lIns="0" tIns="0" rIns="0" bIns="0" rtlCol="0" anchor="t"/>
          <a:lstStyle/>
          <a:p>
            <a:pPr indent="0" marL="0">
              <a:buNone/>
            </a:pPr>
            <a:r>
              <a:rPr lang="ja-JP" altLang="en-US" sz="1400" b="1" dirty="0">
                <a:solidFill>
                  <a:schemeClr val="accent4"/>
                </a:solidFill>
              </a:rPr>
              <a:t>進行</a:t>
            </a:r>
            <a:endParaRPr lang="ja-JP" sz="1400" dirty="0"/>
          </a:p>
        </p:txBody>
      </p:sp>
      <p:sp>
        <p:nvSpPr>
          <p:cNvPr id="25" name="Text 19"/>
          <p:cNvSpPr txBox="1"/>
          <p:nvPr/>
        </p:nvSpPr>
        <p:spPr>
          <a:xfrm>
            <a:off x="548640" y="5349240"/>
            <a:ext cx="1177544" cy="457200"/>
          </a:xfrm>
          <a:prstGeom prst="rect">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個人 30秒</a:t>
            </a:r>
            <a:endParaRPr lang="ja-JP" sz="1600" dirty="0"/>
          </a:p>
        </p:txBody>
      </p:sp>
      <p:sp>
        <p:nvSpPr>
          <p:cNvPr id="26" name="Text 20"/>
          <p:cNvSpPr txBox="1"/>
          <p:nvPr/>
        </p:nvSpPr>
        <p:spPr>
          <a:xfrm>
            <a:off x="1781048" y="5349240"/>
            <a:ext cx="7339584" cy="457200"/>
          </a:xfrm>
          <a:prstGeom prst="rect">
            <a:avLst/>
          </a:prstGeom>
          <a:solidFill>
            <a:schemeClr val="accent1"/>
          </a:solidFill>
          <a:ln/>
        </p:spPr>
        <p:txBody>
          <a:bodyPr wrap="square" lIns="0" tIns="0" rIns="0" bIns="0" rtlCol="0" anchor="ctr"/>
          <a:lstStyle/>
          <a:p>
            <a:pPr algn="ctr" indent="0" marL="0">
              <a:buNone/>
            </a:pPr>
            <a:r>
              <a:rPr lang="ja-JP" altLang="en-US" sz="1600" b="1" dirty="0">
                <a:solidFill>
                  <a:schemeClr val="bg1"/>
                </a:solidFill>
              </a:rPr>
              <a:t>討論 3分</a:t>
            </a:r>
            <a:endParaRPr lang="ja-JP" sz="1600" dirty="0"/>
          </a:p>
        </p:txBody>
      </p:sp>
      <p:sp>
        <p:nvSpPr>
          <p:cNvPr id="27" name="Text 21"/>
          <p:cNvSpPr txBox="1"/>
          <p:nvPr/>
        </p:nvSpPr>
        <p:spPr>
          <a:xfrm>
            <a:off x="9175496" y="5349240"/>
            <a:ext cx="2464816" cy="457200"/>
          </a:xfrm>
          <a:prstGeom prst="rect">
            <a:avLst/>
          </a:prstGeom>
          <a:solidFill>
            <a:schemeClr val="tx2"/>
          </a:solidFill>
          <a:ln/>
        </p:spPr>
        <p:txBody>
          <a:bodyPr wrap="square" lIns="0" tIns="0" rIns="0" bIns="0" rtlCol="0" anchor="ctr"/>
          <a:lstStyle/>
          <a:p>
            <a:pPr algn="ctr" indent="0" marL="0">
              <a:buNone/>
            </a:pPr>
            <a:r>
              <a:rPr lang="ja-JP" altLang="en-US" sz="1600" b="1" dirty="0">
                <a:solidFill>
                  <a:schemeClr val="bg1"/>
                </a:solidFill>
              </a:rPr>
              <a:t>全体共有 1分</a:t>
            </a:r>
            <a:endParaRPr lang="ja-JP" sz="16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04｜3つのニュースから未来を考える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解説② 脱炭素投資はコストにも競争力にもなる</a:t>
            </a:r>
            <a:endParaRPr lang="en-US" sz="3000" dirty="0"/>
          </a:p>
        </p:txBody>
      </p:sp>
      <p:sp>
        <p:nvSpPr>
          <p:cNvPr id="5" name="Shape 2"/>
          <p:cNvSpPr/>
          <p:nvPr/>
        </p:nvSpPr>
        <p:spPr>
          <a:xfrm>
            <a:off x="548640" y="1645920"/>
            <a:ext cx="5029200" cy="1920240"/>
          </a:xfrm>
          <a:prstGeom prst="roundRect">
            <a:avLst>
              <a:gd name="adj" fmla="val 8571"/>
            </a:avLst>
          </a:prstGeom>
          <a:solidFill>
            <a:srgbClr val="FCEBD3"/>
          </a:solidFill>
          <a:ln/>
        </p:spPr>
      </p:sp>
      <p:pic>
        <p:nvPicPr>
          <p:cNvPr id="6" name="Image 0" descr="TbCoin">    </p:cNvPr>
          <p:cNvPicPr>
            <a:picLocks noChangeAspect="1"/>
          </p:cNvPicPr>
          <p:nvPr/>
        </p:nvPicPr>
        <p:blipFill>
          <a:blip r:embed="rId1"/>
          <a:stretch>
            <a:fillRect/>
          </a:stretch>
        </p:blipFill>
        <p:spPr>
          <a:xfrm>
            <a:off x="777240" y="1810512"/>
            <a:ext cx="457200" cy="457200"/>
          </a:xfrm>
          <a:prstGeom prst="rect">
            <a:avLst/>
          </a:prstGeom>
        </p:spPr>
      </p:pic>
      <p:sp>
        <p:nvSpPr>
          <p:cNvPr id="7" name="Text 3"/>
          <p:cNvSpPr txBox="1"/>
          <p:nvPr/>
        </p:nvSpPr>
        <p:spPr>
          <a:xfrm>
            <a:off x="1325880" y="1783080"/>
            <a:ext cx="4023360" cy="502920"/>
          </a:xfrm>
          <a:prstGeom prst="rect">
            <a:avLst/>
          </a:prstGeom>
          <a:noFill/>
          <a:ln/>
        </p:spPr>
        <p:txBody>
          <a:bodyPr wrap="square" lIns="0" tIns="0" rIns="0" bIns="0" rtlCol="0" anchor="ctr"/>
          <a:lstStyle/>
          <a:p>
            <a:pPr indent="0" marL="0">
              <a:buNone/>
            </a:pPr>
            <a:r>
              <a:rPr lang="ja-JP" altLang="en-US" sz="2200" b="1" dirty="0">
                <a:solidFill>
                  <a:schemeClr val="tx2"/>
                </a:solidFill>
              </a:rPr>
              <a:t>短期的な負担</a:t>
            </a:r>
            <a:endParaRPr lang="ja-JP" sz="2200" dirty="0"/>
          </a:p>
        </p:txBody>
      </p:sp>
      <p:sp>
        <p:nvSpPr>
          <p:cNvPr id="8" name="Text 4"/>
          <p:cNvSpPr txBox="1"/>
          <p:nvPr/>
        </p:nvSpPr>
        <p:spPr>
          <a:xfrm>
            <a:off x="777240" y="2450592"/>
            <a:ext cx="2240280" cy="457200"/>
          </a:xfrm>
          <a:prstGeom prst="roundRect">
            <a:avLst>
              <a:gd name="adj" fmla="val 50000"/>
            </a:avLst>
          </a:prstGeom>
          <a:solidFill>
            <a:schemeClr val="bg1"/>
          </a:solidFill>
          <a:ln/>
        </p:spPr>
        <p:txBody>
          <a:bodyPr wrap="square" lIns="0" tIns="0" rIns="0" bIns="0" rtlCol="0" anchor="ctr"/>
          <a:lstStyle/>
          <a:p>
            <a:pPr algn="ctr" indent="0" marL="0">
              <a:buNone/>
            </a:pPr>
            <a:r>
              <a:rPr lang="ja-JP" altLang="en-US" sz="1600" b="1" dirty="0">
                <a:solidFill>
                  <a:schemeClr val="tx2"/>
                </a:solidFill>
              </a:rPr>
              <a:t>設備投資</a:t>
            </a:r>
            <a:endParaRPr lang="ja-JP" sz="1600" dirty="0"/>
          </a:p>
        </p:txBody>
      </p:sp>
      <p:sp>
        <p:nvSpPr>
          <p:cNvPr id="9" name="Text 5"/>
          <p:cNvSpPr txBox="1"/>
          <p:nvPr/>
        </p:nvSpPr>
        <p:spPr>
          <a:xfrm>
            <a:off x="3108960" y="2450592"/>
            <a:ext cx="2240280" cy="457200"/>
          </a:xfrm>
          <a:prstGeom prst="roundRect">
            <a:avLst>
              <a:gd name="adj" fmla="val 50000"/>
            </a:avLst>
          </a:prstGeom>
          <a:solidFill>
            <a:schemeClr val="bg1"/>
          </a:solidFill>
          <a:ln/>
        </p:spPr>
        <p:txBody>
          <a:bodyPr wrap="square" lIns="0" tIns="0" rIns="0" bIns="0" rtlCol="0" anchor="ctr"/>
          <a:lstStyle/>
          <a:p>
            <a:pPr algn="ctr" indent="0" marL="0">
              <a:buNone/>
            </a:pPr>
            <a:r>
              <a:rPr lang="ja-JP" altLang="en-US" sz="1600" b="1" dirty="0">
                <a:solidFill>
                  <a:schemeClr val="tx2"/>
                </a:solidFill>
              </a:rPr>
              <a:t>研究費</a:t>
            </a:r>
            <a:endParaRPr lang="ja-JP" sz="1600" dirty="0"/>
          </a:p>
        </p:txBody>
      </p:sp>
      <p:sp>
        <p:nvSpPr>
          <p:cNvPr id="10" name="Text 6"/>
          <p:cNvSpPr txBox="1"/>
          <p:nvPr/>
        </p:nvSpPr>
        <p:spPr>
          <a:xfrm>
            <a:off x="777240" y="2999232"/>
            <a:ext cx="2240280" cy="457200"/>
          </a:xfrm>
          <a:prstGeom prst="roundRect">
            <a:avLst>
              <a:gd name="adj" fmla="val 50000"/>
            </a:avLst>
          </a:prstGeom>
          <a:solidFill>
            <a:schemeClr val="bg1"/>
          </a:solidFill>
          <a:ln/>
        </p:spPr>
        <p:txBody>
          <a:bodyPr wrap="square" lIns="0" tIns="0" rIns="0" bIns="0" rtlCol="0" anchor="ctr"/>
          <a:lstStyle/>
          <a:p>
            <a:pPr algn="ctr" indent="0" marL="0">
              <a:buNone/>
            </a:pPr>
            <a:r>
              <a:rPr lang="ja-JP" altLang="en-US" sz="1600" b="1" dirty="0">
                <a:solidFill>
                  <a:schemeClr val="tx2"/>
                </a:solidFill>
              </a:rPr>
              <a:t>水素／電力の調達</a:t>
            </a:r>
            <a:endParaRPr lang="ja-JP" sz="1600" dirty="0"/>
          </a:p>
        </p:txBody>
      </p:sp>
      <p:sp>
        <p:nvSpPr>
          <p:cNvPr id="11" name="Shape 7"/>
          <p:cNvSpPr/>
          <p:nvPr/>
        </p:nvSpPr>
        <p:spPr>
          <a:xfrm>
            <a:off x="6611112" y="1645920"/>
            <a:ext cx="5029200" cy="1920240"/>
          </a:xfrm>
          <a:prstGeom prst="roundRect">
            <a:avLst>
              <a:gd name="adj" fmla="val 8571"/>
            </a:avLst>
          </a:prstGeom>
          <a:solidFill>
            <a:srgbClr val="D6ECEC"/>
          </a:solidFill>
          <a:ln/>
        </p:spPr>
      </p:sp>
      <p:pic>
        <p:nvPicPr>
          <p:cNvPr id="12" name="Image 1" descr="TbTrendingUp">    </p:cNvPr>
          <p:cNvPicPr>
            <a:picLocks noChangeAspect="1"/>
          </p:cNvPicPr>
          <p:nvPr/>
        </p:nvPicPr>
        <p:blipFill>
          <a:blip r:embed="rId2"/>
          <a:stretch>
            <a:fillRect/>
          </a:stretch>
        </p:blipFill>
        <p:spPr>
          <a:xfrm>
            <a:off x="6839712" y="1810512"/>
            <a:ext cx="457200" cy="457200"/>
          </a:xfrm>
          <a:prstGeom prst="rect">
            <a:avLst/>
          </a:prstGeom>
        </p:spPr>
      </p:pic>
      <p:sp>
        <p:nvSpPr>
          <p:cNvPr id="13" name="Text 8"/>
          <p:cNvSpPr txBox="1"/>
          <p:nvPr/>
        </p:nvSpPr>
        <p:spPr>
          <a:xfrm>
            <a:off x="7388352" y="1783080"/>
            <a:ext cx="4023360" cy="502920"/>
          </a:xfrm>
          <a:prstGeom prst="rect">
            <a:avLst/>
          </a:prstGeom>
          <a:noFill/>
          <a:ln/>
        </p:spPr>
        <p:txBody>
          <a:bodyPr wrap="square" lIns="0" tIns="0" rIns="0" bIns="0" rtlCol="0" anchor="ctr"/>
          <a:lstStyle/>
          <a:p>
            <a:pPr indent="0" marL="0">
              <a:buNone/>
            </a:pPr>
            <a:r>
              <a:rPr lang="ja-JP" altLang="en-US" sz="2200" b="1" dirty="0">
                <a:solidFill>
                  <a:schemeClr val="tx2"/>
                </a:solidFill>
              </a:rPr>
              <a:t>長期の可能性</a:t>
            </a:r>
            <a:endParaRPr lang="ja-JP" sz="2200" dirty="0"/>
          </a:p>
        </p:txBody>
      </p:sp>
      <p:sp>
        <p:nvSpPr>
          <p:cNvPr id="14" name="Text 9"/>
          <p:cNvSpPr txBox="1"/>
          <p:nvPr/>
        </p:nvSpPr>
        <p:spPr>
          <a:xfrm>
            <a:off x="6839712" y="2450592"/>
            <a:ext cx="2240280" cy="457200"/>
          </a:xfrm>
          <a:prstGeom prst="roundRect">
            <a:avLst>
              <a:gd name="adj" fmla="val 50000"/>
            </a:avLst>
          </a:prstGeom>
          <a:solidFill>
            <a:schemeClr val="bg1"/>
          </a:solidFill>
          <a:ln/>
        </p:spPr>
        <p:txBody>
          <a:bodyPr wrap="square" lIns="0" tIns="0" rIns="0" bIns="0" rtlCol="0" anchor="ctr"/>
          <a:lstStyle/>
          <a:p>
            <a:pPr algn="ctr" indent="0" marL="0">
              <a:buNone/>
            </a:pPr>
            <a:r>
              <a:rPr lang="ja-JP" altLang="en-US" sz="1600" b="1" dirty="0">
                <a:solidFill>
                  <a:schemeClr val="tx2"/>
                </a:solidFill>
              </a:rPr>
              <a:t>規制対応</a:t>
            </a:r>
            <a:endParaRPr lang="ja-JP" sz="1600" dirty="0"/>
          </a:p>
        </p:txBody>
      </p:sp>
      <p:sp>
        <p:nvSpPr>
          <p:cNvPr id="15" name="Text 10"/>
          <p:cNvSpPr txBox="1"/>
          <p:nvPr/>
        </p:nvSpPr>
        <p:spPr>
          <a:xfrm>
            <a:off x="9171432" y="2450592"/>
            <a:ext cx="2240280" cy="457200"/>
          </a:xfrm>
          <a:prstGeom prst="roundRect">
            <a:avLst>
              <a:gd name="adj" fmla="val 50000"/>
            </a:avLst>
          </a:prstGeom>
          <a:solidFill>
            <a:schemeClr val="bg1"/>
          </a:solidFill>
          <a:ln/>
        </p:spPr>
        <p:txBody>
          <a:bodyPr wrap="square" lIns="0" tIns="0" rIns="0" bIns="0" rtlCol="0" anchor="ctr"/>
          <a:lstStyle/>
          <a:p>
            <a:pPr algn="ctr" indent="0" marL="0">
              <a:buNone/>
            </a:pPr>
            <a:r>
              <a:rPr lang="ja-JP" altLang="en-US" sz="1600" b="1" dirty="0">
                <a:solidFill>
                  <a:schemeClr val="tx2"/>
                </a:solidFill>
              </a:rPr>
              <a:t>新たな需要</a:t>
            </a:r>
            <a:endParaRPr lang="ja-JP" sz="1600" dirty="0"/>
          </a:p>
        </p:txBody>
      </p:sp>
      <p:sp>
        <p:nvSpPr>
          <p:cNvPr id="16" name="Text 11"/>
          <p:cNvSpPr txBox="1"/>
          <p:nvPr/>
        </p:nvSpPr>
        <p:spPr>
          <a:xfrm>
            <a:off x="6839712" y="2999232"/>
            <a:ext cx="2240280" cy="457200"/>
          </a:xfrm>
          <a:prstGeom prst="roundRect">
            <a:avLst>
              <a:gd name="adj" fmla="val 50000"/>
            </a:avLst>
          </a:prstGeom>
          <a:solidFill>
            <a:schemeClr val="bg1"/>
          </a:solidFill>
          <a:ln/>
        </p:spPr>
        <p:txBody>
          <a:bodyPr wrap="square" lIns="0" tIns="0" rIns="0" bIns="0" rtlCol="0" anchor="ctr"/>
          <a:lstStyle/>
          <a:p>
            <a:pPr algn="ctr" indent="0" marL="0">
              <a:buNone/>
            </a:pPr>
            <a:r>
              <a:rPr lang="ja-JP" altLang="en-US" sz="1600" b="1" dirty="0">
                <a:solidFill>
                  <a:schemeClr val="tx2"/>
                </a:solidFill>
              </a:rPr>
              <a:t>技術競争力</a:t>
            </a:r>
            <a:endParaRPr lang="ja-JP" sz="1600" dirty="0"/>
          </a:p>
        </p:txBody>
      </p:sp>
      <p:sp>
        <p:nvSpPr>
          <p:cNvPr id="17" name="Shape 12"/>
          <p:cNvSpPr/>
          <p:nvPr/>
        </p:nvSpPr>
        <p:spPr>
          <a:xfrm>
            <a:off x="1097280" y="3639312"/>
            <a:ext cx="9994392" cy="109728"/>
          </a:xfrm>
          <a:prstGeom prst="rect">
            <a:avLst/>
          </a:prstGeom>
          <a:solidFill>
            <a:schemeClr val="tx2"/>
          </a:solidFill>
          <a:ln/>
        </p:spPr>
      </p:sp>
      <p:sp>
        <p:nvSpPr>
          <p:cNvPr id="18" name="Shape 13"/>
          <p:cNvSpPr/>
          <p:nvPr/>
        </p:nvSpPr>
        <p:spPr>
          <a:xfrm>
            <a:off x="5687568" y="3749040"/>
            <a:ext cx="822960" cy="594360"/>
          </a:xfrm>
          <a:prstGeom prst="triangle">
            <a:avLst/>
          </a:prstGeom>
          <a:solidFill>
            <a:schemeClr val="tx2"/>
          </a:solidFill>
          <a:ln/>
        </p:spPr>
      </p:sp>
      <p:sp>
        <p:nvSpPr>
          <p:cNvPr id="19" name="Text 14"/>
          <p:cNvSpPr txBox="1"/>
          <p:nvPr/>
        </p:nvSpPr>
        <p:spPr>
          <a:xfrm>
            <a:off x="548640" y="4526280"/>
            <a:ext cx="1554480" cy="502920"/>
          </a:xfrm>
          <a:prstGeom prst="rect">
            <a:avLst/>
          </a:prstGeom>
          <a:noFill/>
          <a:ln/>
        </p:spPr>
        <p:txBody>
          <a:bodyPr wrap="square" lIns="0" tIns="0" rIns="0" bIns="0" rtlCol="0" anchor="ctr"/>
          <a:lstStyle/>
          <a:p>
            <a:pPr indent="0" marL="0">
              <a:buNone/>
            </a:pPr>
            <a:r>
              <a:rPr lang="ja-JP" altLang="en-US" sz="1800" b="1" dirty="0">
                <a:solidFill>
                  <a:schemeClr val="accent1"/>
                </a:solidFill>
              </a:rPr>
              <a:t>必要な条件</a:t>
            </a:r>
            <a:endParaRPr lang="ja-JP" sz="1800" dirty="0"/>
          </a:p>
        </p:txBody>
      </p:sp>
      <p:sp>
        <p:nvSpPr>
          <p:cNvPr id="20" name="Text 15"/>
          <p:cNvSpPr txBox="1"/>
          <p:nvPr/>
        </p:nvSpPr>
        <p:spPr>
          <a:xfrm>
            <a:off x="2194560" y="4526280"/>
            <a:ext cx="2194560" cy="50292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800" b="1" dirty="0">
                <a:solidFill>
                  <a:schemeClr val="tx2"/>
                </a:solidFill>
              </a:rPr>
              <a:t>安価な水素</a:t>
            </a:r>
            <a:endParaRPr lang="ja-JP" sz="1800" dirty="0"/>
          </a:p>
        </p:txBody>
      </p:sp>
      <p:sp>
        <p:nvSpPr>
          <p:cNvPr id="21" name="Text 16"/>
          <p:cNvSpPr txBox="1"/>
          <p:nvPr/>
        </p:nvSpPr>
        <p:spPr>
          <a:xfrm>
            <a:off x="4572000" y="4526280"/>
            <a:ext cx="2194560" cy="50292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800" b="1" dirty="0">
                <a:solidFill>
                  <a:schemeClr val="tx2"/>
                </a:solidFill>
              </a:rPr>
              <a:t>製造品質</a:t>
            </a:r>
            <a:endParaRPr lang="ja-JP" sz="1800" dirty="0"/>
          </a:p>
        </p:txBody>
      </p:sp>
      <p:sp>
        <p:nvSpPr>
          <p:cNvPr id="22" name="Text 17"/>
          <p:cNvSpPr txBox="1"/>
          <p:nvPr/>
        </p:nvSpPr>
        <p:spPr>
          <a:xfrm>
            <a:off x="6949440" y="4526280"/>
            <a:ext cx="2194560" cy="50292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800" b="1" dirty="0">
                <a:solidFill>
                  <a:schemeClr val="tx2"/>
                </a:solidFill>
              </a:rPr>
              <a:t>量産</a:t>
            </a:r>
            <a:endParaRPr lang="ja-JP" sz="1800" dirty="0"/>
          </a:p>
        </p:txBody>
      </p:sp>
      <p:sp>
        <p:nvSpPr>
          <p:cNvPr id="23" name="Text 18"/>
          <p:cNvSpPr txBox="1"/>
          <p:nvPr/>
        </p:nvSpPr>
        <p:spPr>
          <a:xfrm>
            <a:off x="9326880" y="4526280"/>
            <a:ext cx="2194560" cy="502920"/>
          </a:xfrm>
          <a:prstGeom prst="roundRect">
            <a:avLst>
              <a:gd name="adj" fmla="val 50000"/>
            </a:avLst>
          </a:prstGeom>
          <a:solidFill>
            <a:schemeClr val="bg1"/>
          </a:solidFill>
          <a:ln w="19050">
            <a:solidFill>
              <a:schemeClr val="accent1"/>
            </a:solidFill>
          </a:ln>
        </p:spPr>
        <p:txBody>
          <a:bodyPr wrap="square" lIns="0" tIns="0" rIns="0" bIns="0" rtlCol="0" anchor="ctr"/>
          <a:lstStyle/>
          <a:p>
            <a:pPr algn="ctr" indent="0" marL="0">
              <a:buNone/>
            </a:pPr>
            <a:r>
              <a:rPr lang="ja-JP" altLang="en-US" sz="1800" b="1" dirty="0">
                <a:solidFill>
                  <a:schemeClr val="tx2"/>
                </a:solidFill>
              </a:rPr>
              <a:t>投資回収</a:t>
            </a:r>
            <a:endParaRPr lang="ja-JP" sz="1800" dirty="0"/>
          </a:p>
        </p:txBody>
      </p:sp>
      <p:sp>
        <p:nvSpPr>
          <p:cNvPr id="24" name="Shape 19"/>
          <p:cNvSpPr/>
          <p:nvPr/>
        </p:nvSpPr>
        <p:spPr>
          <a:xfrm>
            <a:off x="548640" y="5212080"/>
            <a:ext cx="11091672" cy="621792"/>
          </a:xfrm>
          <a:prstGeom prst="roundRect">
            <a:avLst>
              <a:gd name="adj" fmla="val 17647"/>
            </a:avLst>
          </a:prstGeom>
          <a:solidFill>
            <a:schemeClr val="tx2"/>
          </a:solidFill>
          <a:ln/>
        </p:spPr>
      </p:sp>
      <p:sp>
        <p:nvSpPr>
          <p:cNvPr id="25" name="Text 20"/>
          <p:cNvSpPr txBox="1"/>
          <p:nvPr/>
        </p:nvSpPr>
        <p:spPr>
          <a:xfrm>
            <a:off x="822960" y="5212080"/>
            <a:ext cx="10607040" cy="621792"/>
          </a:xfrm>
          <a:prstGeom prst="rect">
            <a:avLst/>
          </a:prstGeom>
          <a:noFill/>
          <a:ln/>
        </p:spPr>
        <p:txBody>
          <a:bodyPr wrap="square" lIns="0" tIns="0" rIns="0" bIns="0" rtlCol="0" anchor="ctr"/>
          <a:lstStyle/>
          <a:p>
            <a:pPr indent="0" marL="0">
              <a:buNone/>
            </a:pPr>
            <a:r>
              <a:rPr lang="ja-JP" altLang="en-US" sz="2200" b="1" dirty="0">
                <a:solidFill>
                  <a:schemeClr val="bg1"/>
                </a:solidFill>
              </a:rPr>
              <a:t>経営は「いまの利益」と「将来の競争力」を両方見る。</a:t>
            </a:r>
            <a:endParaRPr lang="ja-JP" sz="2200" dirty="0"/>
          </a:p>
        </p:txBody>
      </p:sp>
      <p:sp>
        <p:nvSpPr>
          <p:cNvPr id="26" name="Text 21"/>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※NEDOの成果は試作段階。事業化には技術・コスト面の課題がある。出典：NEDO（2026/7/31）</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04｜3つのニュースから未来を考える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ミニGD③ 日本の金属企業は何で戦う？</a:t>
            </a:r>
            <a:endParaRPr lang="en-US" sz="3000" dirty="0"/>
          </a:p>
        </p:txBody>
      </p:sp>
      <p:sp>
        <p:nvSpPr>
          <p:cNvPr id="5" name="Text 2"/>
          <p:cNvSpPr txBox="1"/>
          <p:nvPr/>
        </p:nvSpPr>
        <p:spPr>
          <a:xfrm>
            <a:off x="548640" y="1645920"/>
            <a:ext cx="8686800" cy="502920"/>
          </a:xfrm>
          <a:prstGeom prst="rect">
            <a:avLst/>
          </a:prstGeom>
          <a:noFill/>
          <a:ln/>
        </p:spPr>
        <p:txBody>
          <a:bodyPr wrap="square" lIns="0" tIns="0" rIns="0" bIns="0" rtlCol="0" anchor="ctr"/>
          <a:lstStyle/>
          <a:p>
            <a:pPr indent="0" marL="0">
              <a:buNone/>
            </a:pPr>
            <a:r>
              <a:rPr lang="ja-JP" altLang="en-US" sz="2200" b="1" dirty="0">
                <a:solidFill>
                  <a:schemeClr val="tx2"/>
                </a:solidFill>
              </a:rPr>
              <a:t>中国の需要鈍化・インドの需要増加を踏まえて考えよう。</a:t>
            </a:r>
            <a:endParaRPr lang="ja-JP" sz="2200" dirty="0"/>
          </a:p>
        </p:txBody>
      </p:sp>
      <p:sp>
        <p:nvSpPr>
          <p:cNvPr id="6" name="Text 3"/>
          <p:cNvSpPr txBox="1"/>
          <p:nvPr/>
        </p:nvSpPr>
        <p:spPr>
          <a:xfrm>
            <a:off x="548640" y="2240280"/>
            <a:ext cx="1874520" cy="438912"/>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700" b="1" dirty="0">
                <a:solidFill>
                  <a:schemeClr val="tx2"/>
                </a:solidFill>
              </a:rPr>
              <a:t>インド ＋8.0％</a:t>
            </a:r>
            <a:endParaRPr lang="ja-JP" sz="1700" dirty="0"/>
          </a:p>
        </p:txBody>
      </p:sp>
      <p:sp>
        <p:nvSpPr>
          <p:cNvPr id="7" name="Text 4"/>
          <p:cNvSpPr txBox="1"/>
          <p:nvPr/>
        </p:nvSpPr>
        <p:spPr>
          <a:xfrm>
            <a:off x="2560320" y="2240280"/>
            <a:ext cx="1874520" cy="438912"/>
          </a:xfrm>
          <a:prstGeom prst="roundRect">
            <a:avLst>
              <a:gd name="adj" fmla="val 50000"/>
            </a:avLst>
          </a:prstGeom>
          <a:solidFill>
            <a:schemeClr val="accent6"/>
          </a:solidFill>
          <a:ln/>
        </p:spPr>
        <p:txBody>
          <a:bodyPr wrap="square" lIns="0" tIns="0" rIns="0" bIns="0" rtlCol="0" anchor="ctr"/>
          <a:lstStyle/>
          <a:p>
            <a:pPr algn="ctr" indent="0" marL="0">
              <a:buNone/>
            </a:pPr>
            <a:r>
              <a:rPr lang="ja-JP" altLang="en-US" sz="1700" b="1" dirty="0">
                <a:solidFill>
                  <a:schemeClr val="bg1"/>
                </a:solidFill>
              </a:rPr>
              <a:t>中国 −1.0％</a:t>
            </a:r>
            <a:endParaRPr lang="ja-JP" sz="1700" dirty="0"/>
          </a:p>
        </p:txBody>
      </p:sp>
      <p:sp>
        <p:nvSpPr>
          <p:cNvPr id="8" name="Text 5"/>
          <p:cNvSpPr txBox="1"/>
          <p:nvPr/>
        </p:nvSpPr>
        <p:spPr>
          <a:xfrm>
            <a:off x="4572000" y="2240280"/>
            <a:ext cx="1874520" cy="438912"/>
          </a:xfrm>
          <a:prstGeom prst="roundRect">
            <a:avLst>
              <a:gd name="adj" fmla="val 50000"/>
            </a:avLst>
          </a:prstGeom>
          <a:solidFill>
            <a:schemeClr val="accent1"/>
          </a:solidFill>
          <a:ln/>
        </p:spPr>
        <p:txBody>
          <a:bodyPr wrap="square" lIns="0" tIns="0" rIns="0" bIns="0" rtlCol="0" anchor="ctr"/>
          <a:lstStyle/>
          <a:p>
            <a:pPr algn="ctr" indent="0" marL="0">
              <a:buNone/>
            </a:pPr>
            <a:r>
              <a:rPr lang="ja-JP" altLang="en-US" sz="1700" b="1" dirty="0">
                <a:solidFill>
                  <a:schemeClr val="bg1"/>
                </a:solidFill>
              </a:rPr>
              <a:t>日本 ＋1.7％</a:t>
            </a:r>
            <a:endParaRPr lang="ja-JP" sz="1700" dirty="0"/>
          </a:p>
        </p:txBody>
      </p:sp>
      <p:sp>
        <p:nvSpPr>
          <p:cNvPr id="9" name="Text 6"/>
          <p:cNvSpPr txBox="1"/>
          <p:nvPr/>
        </p:nvSpPr>
        <p:spPr>
          <a:xfrm>
            <a:off x="6629400" y="2240280"/>
            <a:ext cx="2377440" cy="438912"/>
          </a:xfrm>
          <a:prstGeom prst="rect">
            <a:avLst/>
          </a:prstGeom>
          <a:noFill/>
          <a:ln/>
        </p:spPr>
        <p:txBody>
          <a:bodyPr wrap="square" lIns="0" tIns="0" rIns="0" bIns="0" rtlCol="0" anchor="ctr"/>
          <a:lstStyle/>
          <a:p>
            <a:pPr indent="0" marL="0">
              <a:buNone/>
            </a:pPr>
            <a:r>
              <a:rPr lang="ja-JP" altLang="en-US" sz="1400" dirty="0">
                <a:solidFill>
                  <a:schemeClr val="accent4"/>
                </a:solidFill>
              </a:rPr>
              <a:t>2027年予測・前年比</a:t>
            </a:r>
            <a:endParaRPr lang="ja-JP" sz="1400" dirty="0"/>
          </a:p>
        </p:txBody>
      </p:sp>
      <p:sp>
        <p:nvSpPr>
          <p:cNvPr id="10" name="Shape 7"/>
          <p:cNvSpPr/>
          <p:nvPr/>
        </p:nvSpPr>
        <p:spPr>
          <a:xfrm>
            <a:off x="9509760" y="1554480"/>
            <a:ext cx="1920240" cy="1920240"/>
          </a:xfrm>
          <a:prstGeom prst="ellipse">
            <a:avLst/>
          </a:prstGeom>
          <a:solidFill>
            <a:schemeClr val="tx2"/>
          </a:solidFill>
          <a:ln/>
          <a:effectLst>
            <a:outerShdw sx="100000" sy="100000" kx="0" ky="0" algn="bl" rotWithShape="0" blurRad="101600" dist="25400" dir="5400000">
              <a:srgbClr val="12243A">
                <a:alpha val="14000"/>
              </a:srgbClr>
            </a:outerShdw>
          </a:effectLst>
        </p:spPr>
      </p:sp>
      <p:sp>
        <p:nvSpPr>
          <p:cNvPr id="11" name="Shape 8"/>
          <p:cNvSpPr/>
          <p:nvPr/>
        </p:nvSpPr>
        <p:spPr>
          <a:xfrm>
            <a:off x="9619488" y="1664208"/>
            <a:ext cx="1700784" cy="1700784"/>
          </a:xfrm>
          <a:prstGeom prst="ellipse">
            <a:avLst/>
          </a:prstGeom>
          <a:solidFill>
            <a:schemeClr val="tx2"/>
          </a:solidFill>
          <a:ln w="38100">
            <a:solidFill>
              <a:schemeClr val="accent2"/>
            </a:solidFill>
            <a:prstDash val="solid"/>
          </a:ln>
        </p:spPr>
      </p:sp>
      <p:sp>
        <p:nvSpPr>
          <p:cNvPr id="12" name="Text 9"/>
          <p:cNvSpPr txBox="1"/>
          <p:nvPr/>
        </p:nvSpPr>
        <p:spPr>
          <a:xfrm>
            <a:off x="9509760" y="2053742"/>
            <a:ext cx="1920240" cy="691286"/>
          </a:xfrm>
          <a:prstGeom prst="rect">
            <a:avLst/>
          </a:prstGeom>
          <a:noFill/>
          <a:ln/>
        </p:spPr>
        <p:txBody>
          <a:bodyPr wrap="square" lIns="0" tIns="0" rIns="0" bIns="0" rtlCol="0" anchor="ctr"/>
          <a:lstStyle/>
          <a:p>
            <a:pPr algn="ctr" indent="0" marL="0">
              <a:buNone/>
            </a:pPr>
            <a:r>
              <a:rPr lang="ja-JP" altLang="en-US" sz="4200" b="1" dirty="0">
                <a:solidFill>
                  <a:schemeClr val="bg1"/>
                </a:solidFill>
              </a:rPr>
              <a:t>4:00</a:t>
            </a:r>
            <a:endParaRPr lang="ja-JP" sz="4200" dirty="0"/>
          </a:p>
        </p:txBody>
      </p:sp>
      <p:sp>
        <p:nvSpPr>
          <p:cNvPr id="13" name="Text 10"/>
          <p:cNvSpPr txBox="1"/>
          <p:nvPr/>
        </p:nvSpPr>
        <p:spPr>
          <a:xfrm>
            <a:off x="9509760" y="2764231"/>
            <a:ext cx="1920240" cy="274320"/>
          </a:xfrm>
          <a:prstGeom prst="rect">
            <a:avLst/>
          </a:prstGeom>
          <a:noFill/>
          <a:ln/>
        </p:spPr>
        <p:txBody>
          <a:bodyPr wrap="square" lIns="0" tIns="0" rIns="0" bIns="0" rtlCol="0" anchor="t"/>
          <a:lstStyle/>
          <a:p>
            <a:pPr algn="ctr" indent="0" marL="0">
              <a:buNone/>
            </a:pPr>
            <a:r>
              <a:rPr lang="ja-JP" altLang="en-US" sz="1300" b="1" dirty="0">
                <a:solidFill>
                  <a:schemeClr val="accent2"/>
                </a:solidFill>
              </a:rPr>
              <a:t>TIMER</a:t>
            </a:r>
            <a:endParaRPr lang="ja-JP" sz="1300" dirty="0"/>
          </a:p>
        </p:txBody>
      </p:sp>
      <p:sp>
        <p:nvSpPr>
          <p:cNvPr id="14" name="Shape 11"/>
          <p:cNvSpPr/>
          <p:nvPr/>
        </p:nvSpPr>
        <p:spPr>
          <a:xfrm>
            <a:off x="548640" y="2880360"/>
            <a:ext cx="2743200" cy="1417320"/>
          </a:xfrm>
          <a:prstGeom prst="roundRect">
            <a:avLst>
              <a:gd name="adj" fmla="val 11613"/>
            </a:avLst>
          </a:prstGeom>
          <a:solidFill>
            <a:schemeClr val="bg1"/>
          </a:solidFill>
          <a:ln/>
          <a:effectLst>
            <a:outerShdw sx="100000" sy="100000" kx="0" ky="0" algn="bl" rotWithShape="0" blurRad="101600" dist="25400" dir="5400000">
              <a:srgbClr val="12243A">
                <a:alpha val="14000"/>
              </a:srgbClr>
            </a:outerShdw>
          </a:effectLst>
        </p:spPr>
      </p:sp>
      <p:sp>
        <p:nvSpPr>
          <p:cNvPr id="15" name="Text 12"/>
          <p:cNvSpPr txBox="1"/>
          <p:nvPr/>
        </p:nvSpPr>
        <p:spPr>
          <a:xfrm>
            <a:off x="749808" y="2971800"/>
            <a:ext cx="640080" cy="594360"/>
          </a:xfrm>
          <a:prstGeom prst="rect">
            <a:avLst/>
          </a:prstGeom>
          <a:noFill/>
          <a:ln/>
        </p:spPr>
        <p:txBody>
          <a:bodyPr wrap="square" lIns="0" tIns="0" rIns="0" bIns="0" rtlCol="0" anchor="t"/>
          <a:lstStyle/>
          <a:p>
            <a:pPr indent="0" marL="0">
              <a:buNone/>
            </a:pPr>
            <a:r>
              <a:rPr lang="ja-JP" altLang="en-US" sz="3200" b="1" dirty="0">
                <a:solidFill>
                  <a:schemeClr val="accent3"/>
                </a:solidFill>
              </a:rPr>
              <a:t>A</a:t>
            </a:r>
            <a:endParaRPr lang="ja-JP" sz="3200" dirty="0"/>
          </a:p>
        </p:txBody>
      </p:sp>
      <p:pic>
        <p:nvPicPr>
          <p:cNvPr id="16" name="Image 0" descr="TbWorld">    </p:cNvPr>
          <p:cNvPicPr>
            <a:picLocks noChangeAspect="1"/>
          </p:cNvPicPr>
          <p:nvPr/>
        </p:nvPicPr>
        <p:blipFill>
          <a:blip r:embed="rId1"/>
          <a:stretch>
            <a:fillRect/>
          </a:stretch>
        </p:blipFill>
        <p:spPr>
          <a:xfrm>
            <a:off x="2560320" y="3017520"/>
            <a:ext cx="502920" cy="502920"/>
          </a:xfrm>
          <a:prstGeom prst="rect">
            <a:avLst/>
          </a:prstGeom>
        </p:spPr>
      </p:pic>
      <p:sp>
        <p:nvSpPr>
          <p:cNvPr id="17" name="Text 13"/>
          <p:cNvSpPr txBox="1"/>
          <p:nvPr/>
        </p:nvSpPr>
        <p:spPr>
          <a:xfrm>
            <a:off x="749808" y="3611880"/>
            <a:ext cx="2377440" cy="548640"/>
          </a:xfrm>
          <a:prstGeom prst="rect">
            <a:avLst/>
          </a:prstGeom>
          <a:noFill/>
          <a:ln/>
        </p:spPr>
        <p:txBody>
          <a:bodyPr wrap="square" lIns="0" tIns="0" rIns="0" bIns="0" rtlCol="0" anchor="ctr"/>
          <a:lstStyle/>
          <a:p>
            <a:pPr indent="0" marL="0">
              <a:buNone/>
            </a:pPr>
            <a:r>
              <a:rPr lang="ja-JP" altLang="en-US" sz="2000" b="1" dirty="0">
                <a:solidFill>
                  <a:schemeClr val="tx2"/>
                </a:solidFill>
              </a:rPr>
              <a:t>海外市場への展開</a:t>
            </a:r>
            <a:endParaRPr lang="ja-JP" sz="2000" dirty="0"/>
          </a:p>
        </p:txBody>
      </p:sp>
      <p:sp>
        <p:nvSpPr>
          <p:cNvPr id="18" name="Shape 14"/>
          <p:cNvSpPr/>
          <p:nvPr/>
        </p:nvSpPr>
        <p:spPr>
          <a:xfrm>
            <a:off x="3474720" y="2880360"/>
            <a:ext cx="2743200" cy="1417320"/>
          </a:xfrm>
          <a:prstGeom prst="roundRect">
            <a:avLst>
              <a:gd name="adj" fmla="val 11613"/>
            </a:avLst>
          </a:prstGeom>
          <a:solidFill>
            <a:schemeClr val="bg1"/>
          </a:solidFill>
          <a:ln/>
          <a:effectLst>
            <a:outerShdw sx="100000" sy="100000" kx="0" ky="0" algn="bl" rotWithShape="0" blurRad="101600" dist="25400" dir="5400000">
              <a:srgbClr val="12243A">
                <a:alpha val="14000"/>
              </a:srgbClr>
            </a:outerShdw>
          </a:effectLst>
        </p:spPr>
      </p:sp>
      <p:sp>
        <p:nvSpPr>
          <p:cNvPr id="19" name="Text 15"/>
          <p:cNvSpPr txBox="1"/>
          <p:nvPr/>
        </p:nvSpPr>
        <p:spPr>
          <a:xfrm>
            <a:off x="3675888" y="2971800"/>
            <a:ext cx="640080" cy="594360"/>
          </a:xfrm>
          <a:prstGeom prst="rect">
            <a:avLst/>
          </a:prstGeom>
          <a:noFill/>
          <a:ln/>
        </p:spPr>
        <p:txBody>
          <a:bodyPr wrap="square" lIns="0" tIns="0" rIns="0" bIns="0" rtlCol="0" anchor="t"/>
          <a:lstStyle/>
          <a:p>
            <a:pPr indent="0" marL="0">
              <a:buNone/>
            </a:pPr>
            <a:r>
              <a:rPr lang="ja-JP" altLang="en-US" sz="3200" b="1" dirty="0">
                <a:solidFill>
                  <a:schemeClr val="accent3"/>
                </a:solidFill>
              </a:rPr>
              <a:t>B</a:t>
            </a:r>
            <a:endParaRPr lang="ja-JP" sz="3200" dirty="0"/>
          </a:p>
        </p:txBody>
      </p:sp>
      <p:pic>
        <p:nvPicPr>
          <p:cNvPr id="20" name="Image 1" descr="TbAward">    </p:cNvPr>
          <p:cNvPicPr>
            <a:picLocks noChangeAspect="1"/>
          </p:cNvPicPr>
          <p:nvPr/>
        </p:nvPicPr>
        <p:blipFill>
          <a:blip r:embed="rId2"/>
          <a:stretch>
            <a:fillRect/>
          </a:stretch>
        </p:blipFill>
        <p:spPr>
          <a:xfrm>
            <a:off x="5486400" y="3017520"/>
            <a:ext cx="502920" cy="502920"/>
          </a:xfrm>
          <a:prstGeom prst="rect">
            <a:avLst/>
          </a:prstGeom>
        </p:spPr>
      </p:pic>
      <p:sp>
        <p:nvSpPr>
          <p:cNvPr id="21" name="Text 16"/>
          <p:cNvSpPr txBox="1"/>
          <p:nvPr/>
        </p:nvSpPr>
        <p:spPr>
          <a:xfrm>
            <a:off x="3675888" y="3611880"/>
            <a:ext cx="2377440" cy="548640"/>
          </a:xfrm>
          <a:prstGeom prst="rect">
            <a:avLst/>
          </a:prstGeom>
          <a:noFill/>
          <a:ln/>
        </p:spPr>
        <p:txBody>
          <a:bodyPr wrap="square" lIns="0" tIns="0" rIns="0" bIns="0" rtlCol="0" anchor="ctr"/>
          <a:lstStyle/>
          <a:p>
            <a:pPr indent="0" marL="0">
              <a:buNone/>
            </a:pPr>
            <a:r>
              <a:rPr lang="ja-JP" altLang="en-US" sz="2000" b="1" dirty="0">
                <a:solidFill>
                  <a:schemeClr val="tx2"/>
                </a:solidFill>
              </a:rPr>
              <a:t>高機能・高品質材料</a:t>
            </a:r>
            <a:endParaRPr lang="ja-JP" sz="2000" dirty="0"/>
          </a:p>
        </p:txBody>
      </p:sp>
      <p:sp>
        <p:nvSpPr>
          <p:cNvPr id="22" name="Shape 17"/>
          <p:cNvSpPr/>
          <p:nvPr/>
        </p:nvSpPr>
        <p:spPr>
          <a:xfrm>
            <a:off x="6400800" y="2880360"/>
            <a:ext cx="2743200" cy="1417320"/>
          </a:xfrm>
          <a:prstGeom prst="roundRect">
            <a:avLst>
              <a:gd name="adj" fmla="val 11613"/>
            </a:avLst>
          </a:prstGeom>
          <a:solidFill>
            <a:schemeClr val="bg1"/>
          </a:solidFill>
          <a:ln/>
          <a:effectLst>
            <a:outerShdw sx="100000" sy="100000" kx="0" ky="0" algn="bl" rotWithShape="0" blurRad="101600" dist="25400" dir="5400000">
              <a:srgbClr val="12243A">
                <a:alpha val="14000"/>
              </a:srgbClr>
            </a:outerShdw>
          </a:effectLst>
        </p:spPr>
      </p:sp>
      <p:sp>
        <p:nvSpPr>
          <p:cNvPr id="23" name="Text 18"/>
          <p:cNvSpPr txBox="1"/>
          <p:nvPr/>
        </p:nvSpPr>
        <p:spPr>
          <a:xfrm>
            <a:off x="6601968" y="2971800"/>
            <a:ext cx="640080" cy="594360"/>
          </a:xfrm>
          <a:prstGeom prst="rect">
            <a:avLst/>
          </a:prstGeom>
          <a:noFill/>
          <a:ln/>
        </p:spPr>
        <p:txBody>
          <a:bodyPr wrap="square" lIns="0" tIns="0" rIns="0" bIns="0" rtlCol="0" anchor="t"/>
          <a:lstStyle/>
          <a:p>
            <a:pPr indent="0" marL="0">
              <a:buNone/>
            </a:pPr>
            <a:r>
              <a:rPr lang="ja-JP" altLang="en-US" sz="3200" b="1" dirty="0">
                <a:solidFill>
                  <a:schemeClr val="accent3"/>
                </a:solidFill>
              </a:rPr>
              <a:t>C</a:t>
            </a:r>
            <a:endParaRPr lang="ja-JP" sz="3200" dirty="0"/>
          </a:p>
        </p:txBody>
      </p:sp>
      <p:pic>
        <p:nvPicPr>
          <p:cNvPr id="24" name="Image 2" descr="TbLeaf">    </p:cNvPr>
          <p:cNvPicPr>
            <a:picLocks noChangeAspect="1"/>
          </p:cNvPicPr>
          <p:nvPr/>
        </p:nvPicPr>
        <p:blipFill>
          <a:blip r:embed="rId3"/>
          <a:stretch>
            <a:fillRect/>
          </a:stretch>
        </p:blipFill>
        <p:spPr>
          <a:xfrm>
            <a:off x="8412480" y="3017520"/>
            <a:ext cx="502920" cy="502920"/>
          </a:xfrm>
          <a:prstGeom prst="rect">
            <a:avLst/>
          </a:prstGeom>
        </p:spPr>
      </p:pic>
      <p:sp>
        <p:nvSpPr>
          <p:cNvPr id="25" name="Text 19"/>
          <p:cNvSpPr txBox="1"/>
          <p:nvPr/>
        </p:nvSpPr>
        <p:spPr>
          <a:xfrm>
            <a:off x="6601968" y="3611880"/>
            <a:ext cx="2377440" cy="548640"/>
          </a:xfrm>
          <a:prstGeom prst="rect">
            <a:avLst/>
          </a:prstGeom>
          <a:noFill/>
          <a:ln/>
        </p:spPr>
        <p:txBody>
          <a:bodyPr wrap="square" lIns="0" tIns="0" rIns="0" bIns="0" rtlCol="0" anchor="ctr"/>
          <a:lstStyle/>
          <a:p>
            <a:pPr indent="0" marL="0">
              <a:buNone/>
            </a:pPr>
            <a:r>
              <a:rPr lang="ja-JP" altLang="en-US" sz="2000" b="1" dirty="0">
                <a:solidFill>
                  <a:schemeClr val="tx2"/>
                </a:solidFill>
              </a:rPr>
              <a:t>環境・新技術</a:t>
            </a:r>
            <a:endParaRPr lang="ja-JP" sz="2000" dirty="0"/>
          </a:p>
        </p:txBody>
      </p:sp>
      <p:sp>
        <p:nvSpPr>
          <p:cNvPr id="26" name="Text 20"/>
          <p:cNvSpPr txBox="1"/>
          <p:nvPr/>
        </p:nvSpPr>
        <p:spPr>
          <a:xfrm>
            <a:off x="548640" y="4526280"/>
            <a:ext cx="11091672" cy="502920"/>
          </a:xfrm>
          <a:prstGeom prst="rect">
            <a:avLst/>
          </a:prstGeom>
          <a:noFill/>
          <a:ln/>
        </p:spPr>
        <p:txBody>
          <a:bodyPr wrap="square" lIns="0" tIns="0" rIns="0" bIns="0" rtlCol="0" anchor="ctr"/>
          <a:lstStyle/>
          <a:p>
            <a:pPr indent="0" marL="0">
              <a:buNone/>
            </a:pPr>
            <a:r>
              <a:rPr lang="ja-JP" altLang="en-US" sz="2200" b="1" dirty="0">
                <a:solidFill>
                  <a:srgbClr val="B86E10"/>
                </a:solidFill>
              </a:rPr>
              <a:t>選んだ戦略の「根拠」と「リスク」を1つずつ</a:t>
            </a:r>
            <a:endParaRPr lang="ja-JP" sz="2200" dirty="0"/>
          </a:p>
        </p:txBody>
      </p:sp>
      <p:sp>
        <p:nvSpPr>
          <p:cNvPr id="27" name="Text 21"/>
          <p:cNvSpPr txBox="1"/>
          <p:nvPr/>
        </p:nvSpPr>
        <p:spPr>
          <a:xfrm>
            <a:off x="548640" y="5020056"/>
            <a:ext cx="1828800" cy="274320"/>
          </a:xfrm>
          <a:prstGeom prst="rect">
            <a:avLst/>
          </a:prstGeom>
          <a:noFill/>
          <a:ln/>
        </p:spPr>
        <p:txBody>
          <a:bodyPr wrap="square" lIns="0" tIns="0" rIns="0" bIns="0" rtlCol="0" anchor="t"/>
          <a:lstStyle/>
          <a:p>
            <a:pPr indent="0" marL="0">
              <a:buNone/>
            </a:pPr>
            <a:r>
              <a:rPr lang="ja-JP" altLang="en-US" sz="1400" b="1" dirty="0">
                <a:solidFill>
                  <a:schemeClr val="accent4"/>
                </a:solidFill>
              </a:rPr>
              <a:t>進行</a:t>
            </a:r>
            <a:endParaRPr lang="ja-JP" sz="1400" dirty="0"/>
          </a:p>
        </p:txBody>
      </p:sp>
      <p:sp>
        <p:nvSpPr>
          <p:cNvPr id="28" name="Text 22"/>
          <p:cNvSpPr txBox="1"/>
          <p:nvPr/>
        </p:nvSpPr>
        <p:spPr>
          <a:xfrm>
            <a:off x="548640" y="5349240"/>
            <a:ext cx="1331595" cy="457200"/>
          </a:xfrm>
          <a:prstGeom prst="rect">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個人 30秒</a:t>
            </a:r>
            <a:endParaRPr lang="ja-JP" sz="1600" dirty="0"/>
          </a:p>
        </p:txBody>
      </p:sp>
      <p:sp>
        <p:nvSpPr>
          <p:cNvPr id="29" name="Text 23"/>
          <p:cNvSpPr txBox="1"/>
          <p:nvPr/>
        </p:nvSpPr>
        <p:spPr>
          <a:xfrm>
            <a:off x="1935099" y="5349240"/>
            <a:ext cx="6877431" cy="457200"/>
          </a:xfrm>
          <a:prstGeom prst="rect">
            <a:avLst/>
          </a:prstGeom>
          <a:solidFill>
            <a:schemeClr val="accent1"/>
          </a:solidFill>
          <a:ln/>
        </p:spPr>
        <p:txBody>
          <a:bodyPr wrap="square" lIns="0" tIns="0" rIns="0" bIns="0" rtlCol="0" anchor="ctr"/>
          <a:lstStyle/>
          <a:p>
            <a:pPr algn="ctr" indent="0" marL="0">
              <a:buNone/>
            </a:pPr>
            <a:r>
              <a:rPr lang="ja-JP" altLang="en-US" sz="1600" b="1" dirty="0">
                <a:solidFill>
                  <a:schemeClr val="bg1"/>
                </a:solidFill>
              </a:rPr>
              <a:t>討論 2分30秒</a:t>
            </a:r>
            <a:endParaRPr lang="ja-JP" sz="1600" dirty="0"/>
          </a:p>
        </p:txBody>
      </p:sp>
      <p:sp>
        <p:nvSpPr>
          <p:cNvPr id="30" name="Text 24"/>
          <p:cNvSpPr txBox="1"/>
          <p:nvPr/>
        </p:nvSpPr>
        <p:spPr>
          <a:xfrm>
            <a:off x="8867394" y="5349240"/>
            <a:ext cx="2772918" cy="457200"/>
          </a:xfrm>
          <a:prstGeom prst="rect">
            <a:avLst/>
          </a:prstGeom>
          <a:solidFill>
            <a:schemeClr val="tx2"/>
          </a:solidFill>
          <a:ln/>
        </p:spPr>
        <p:txBody>
          <a:bodyPr wrap="square" lIns="0" tIns="0" rIns="0" bIns="0" rtlCol="0" anchor="ctr"/>
          <a:lstStyle/>
          <a:p>
            <a:pPr algn="ctr" indent="0" marL="0">
              <a:buNone/>
            </a:pPr>
            <a:r>
              <a:rPr lang="ja-JP" altLang="en-US" sz="1600" b="1" dirty="0">
                <a:solidFill>
                  <a:schemeClr val="bg1"/>
                </a:solidFill>
              </a:rPr>
              <a:t>共有 1分</a:t>
            </a:r>
            <a:endParaRPr lang="ja-JP" sz="16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04｜3つのニュースから未来を考える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解説③ 世界の需要増加と企業の利益は別</a:t>
            </a:r>
            <a:endParaRPr lang="en-US" sz="3000" dirty="0"/>
          </a:p>
        </p:txBody>
      </p:sp>
      <p:sp>
        <p:nvSpPr>
          <p:cNvPr id="5" name="Shape 2"/>
          <p:cNvSpPr/>
          <p:nvPr/>
        </p:nvSpPr>
        <p:spPr>
          <a:xfrm>
            <a:off x="594360" y="2304288"/>
            <a:ext cx="658368" cy="658368"/>
          </a:xfrm>
          <a:prstGeom prst="ellipse">
            <a:avLst/>
          </a:prstGeom>
          <a:solidFill>
            <a:schemeClr val="bg2"/>
          </a:solidFill>
          <a:ln/>
        </p:spPr>
      </p:sp>
      <p:pic>
        <p:nvPicPr>
          <p:cNvPr id="6" name="Image 0" descr="TbWorld">    </p:cNvPr>
          <p:cNvPicPr>
            <a:picLocks noChangeAspect="1"/>
          </p:cNvPicPr>
          <p:nvPr/>
        </p:nvPicPr>
        <p:blipFill>
          <a:blip r:embed="rId1"/>
          <a:stretch>
            <a:fillRect/>
          </a:stretch>
        </p:blipFill>
        <p:spPr>
          <a:xfrm>
            <a:off x="739201" y="2449129"/>
            <a:ext cx="368686" cy="368686"/>
          </a:xfrm>
          <a:prstGeom prst="rect">
            <a:avLst/>
          </a:prstGeom>
        </p:spPr>
      </p:pic>
      <p:sp>
        <p:nvSpPr>
          <p:cNvPr id="7" name="Shape 3"/>
          <p:cNvSpPr/>
          <p:nvPr/>
        </p:nvSpPr>
        <p:spPr>
          <a:xfrm>
            <a:off x="594360" y="3218688"/>
            <a:ext cx="658368" cy="658368"/>
          </a:xfrm>
          <a:prstGeom prst="ellipse">
            <a:avLst/>
          </a:prstGeom>
          <a:solidFill>
            <a:schemeClr val="bg2"/>
          </a:solidFill>
          <a:ln/>
        </p:spPr>
      </p:sp>
      <p:pic>
        <p:nvPicPr>
          <p:cNvPr id="8" name="Image 1" descr="TbAward">    </p:cNvPr>
          <p:cNvPicPr>
            <a:picLocks noChangeAspect="1"/>
          </p:cNvPicPr>
          <p:nvPr/>
        </p:nvPicPr>
        <p:blipFill>
          <a:blip r:embed="rId2"/>
          <a:stretch>
            <a:fillRect/>
          </a:stretch>
        </p:blipFill>
        <p:spPr>
          <a:xfrm>
            <a:off x="739201" y="3363529"/>
            <a:ext cx="368686" cy="368686"/>
          </a:xfrm>
          <a:prstGeom prst="rect">
            <a:avLst/>
          </a:prstGeom>
        </p:spPr>
      </p:pic>
      <p:sp>
        <p:nvSpPr>
          <p:cNvPr id="9" name="Shape 4"/>
          <p:cNvSpPr/>
          <p:nvPr/>
        </p:nvSpPr>
        <p:spPr>
          <a:xfrm>
            <a:off x="594360" y="4133088"/>
            <a:ext cx="658368" cy="658368"/>
          </a:xfrm>
          <a:prstGeom prst="ellipse">
            <a:avLst/>
          </a:prstGeom>
          <a:solidFill>
            <a:schemeClr val="bg2"/>
          </a:solidFill>
          <a:ln/>
        </p:spPr>
      </p:sp>
      <p:pic>
        <p:nvPicPr>
          <p:cNvPr id="10" name="Image 2" descr="TbLeaf">    </p:cNvPr>
          <p:cNvPicPr>
            <a:picLocks noChangeAspect="1"/>
          </p:cNvPicPr>
          <p:nvPr/>
        </p:nvPicPr>
        <p:blipFill>
          <a:blip r:embed="rId3"/>
          <a:stretch>
            <a:fillRect/>
          </a:stretch>
        </p:blipFill>
        <p:spPr>
          <a:xfrm>
            <a:off x="739201" y="4277929"/>
            <a:ext cx="368686" cy="368686"/>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1463040" y="1691640"/>
          <a:ext cx="10177272" cy="914400"/>
        </p:xfrm>
        <a:graphic>
          <a:graphicData uri="http://schemas.openxmlformats.org/drawingml/2006/table">
            <a:tbl>
              <a:tblPr/>
              <a:tblGrid>
                <a:gridCol w="2240280"/>
                <a:gridCol w="3968496"/>
                <a:gridCol w="3968496"/>
              </a:tblGrid>
              <a:tr h="502920">
                <a:tc>
                  <a:txBody>
                    <a:bodyPr/>
                    <a:lstStyle/>
                    <a:p>
                      <a:pPr algn="ctr" indent="0" marL="0">
                        <a:buNone/>
                      </a:pPr>
                      <a:r>
                        <a:rPr lang="en-US" sz="2000" b="1" dirty="0">
                          <a:solidFill>
                            <a:srgbClr val="FFFFFF"/>
                          </a:solidFill>
                          <a:latin typeface="Noto Sans CJK JP" pitchFamily="34" charset="0"/>
                          <a:ea typeface="Noto Sans CJK JP" pitchFamily="34" charset="-122"/>
                          <a:cs typeface="Noto Sans CJK JP" pitchFamily="34" charset="-120"/>
                        </a:rPr>
                        <a:t>戦略</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12243A"/>
                    </a:solidFill>
                  </a:tcPr>
                </a:tc>
                <a:tc>
                  <a:txBody>
                    <a:bodyPr/>
                    <a:lstStyle/>
                    <a:p>
                      <a:pPr algn="ctr" indent="0" marL="0">
                        <a:buNone/>
                      </a:pPr>
                      <a:r>
                        <a:rPr lang="en-US" sz="2000" b="1" dirty="0">
                          <a:solidFill>
                            <a:srgbClr val="FFFFFF"/>
                          </a:solidFill>
                          <a:latin typeface="Noto Sans CJK JP" pitchFamily="34" charset="0"/>
                          <a:ea typeface="Noto Sans CJK JP" pitchFamily="34" charset="-122"/>
                          <a:cs typeface="Noto Sans CJK JP" pitchFamily="34" charset="-120"/>
                        </a:rPr>
                        <a:t>機会</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067F82"/>
                    </a:solidFill>
                  </a:tcPr>
                </a:tc>
                <a:tc>
                  <a:txBody>
                    <a:bodyPr/>
                    <a:lstStyle/>
                    <a:p>
                      <a:pPr algn="ctr" indent="0" marL="0">
                        <a:buNone/>
                      </a:pPr>
                      <a:r>
                        <a:rPr lang="en-US" sz="2000" b="1" dirty="0">
                          <a:solidFill>
                            <a:srgbClr val="12243A"/>
                          </a:solidFill>
                          <a:latin typeface="Noto Sans CJK JP" pitchFamily="34" charset="0"/>
                          <a:ea typeface="Noto Sans CJK JP" pitchFamily="34" charset="-122"/>
                          <a:cs typeface="Noto Sans CJK JP" pitchFamily="34" charset="-120"/>
                        </a:rPr>
                        <a:t>課題</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EEA348"/>
                    </a:solidFill>
                  </a:tcPr>
                </a:tc>
              </a:tr>
              <a:tr h="914400">
                <a:tc>
                  <a:txBody>
                    <a:bodyPr/>
                    <a:lstStyle/>
                    <a:p>
                      <a:pPr indent="0" marL="0">
                        <a:buNone/>
                      </a:pPr>
                      <a:r>
                        <a:rPr lang="en-US" sz="2000" b="1" dirty="0">
                          <a:solidFill>
                            <a:srgbClr val="12243A"/>
                          </a:solidFill>
                          <a:latin typeface="Noto Sans CJK JP" pitchFamily="34" charset="0"/>
                          <a:ea typeface="Noto Sans CJK JP" pitchFamily="34" charset="-122"/>
                          <a:cs typeface="Noto Sans CJK JP" pitchFamily="34" charset="-120"/>
                        </a:rPr>
                        <a:t>海外展開</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r>
                        <a:rPr lang="en-US" sz="2000" dirty="0">
                          <a:solidFill>
                            <a:srgbClr val="12243A"/>
                          </a:solidFill>
                          <a:latin typeface="Noto Sans CJK JP" pitchFamily="34" charset="0"/>
                          <a:ea typeface="Noto Sans CJK JP" pitchFamily="34" charset="-122"/>
                          <a:cs typeface="Noto Sans CJK JP" pitchFamily="34" charset="-120"/>
                        </a:rPr>
                        <a:t>市場成長</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E6F3F3"/>
                    </a:solidFill>
                  </a:tcPr>
                </a:tc>
                <a:tc>
                  <a:txBody>
                    <a:bodyPr/>
                    <a:lstStyle/>
                    <a:p>
                      <a:pPr indent="0" marL="0">
                        <a:buNone/>
                      </a:pPr>
                      <a:r>
                        <a:rPr lang="en-US" sz="2000" dirty="0">
                          <a:solidFill>
                            <a:srgbClr val="12243A"/>
                          </a:solidFill>
                          <a:latin typeface="Noto Sans CJK JP" pitchFamily="34" charset="0"/>
                          <a:ea typeface="Noto Sans CJK JP" pitchFamily="34" charset="-122"/>
                          <a:cs typeface="Noto Sans CJK JP" pitchFamily="34" charset="-120"/>
                        </a:rPr>
                        <a:t>現地競合・関税・物流</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DF3E6"/>
                    </a:solidFill>
                  </a:tcPr>
                </a:tc>
              </a:tr>
              <a:tr h="914400">
                <a:tc>
                  <a:txBody>
                    <a:bodyPr/>
                    <a:lstStyle/>
                    <a:p>
                      <a:pPr indent="0" marL="0">
                        <a:buNone/>
                      </a:pPr>
                      <a:r>
                        <a:rPr lang="en-US" sz="2000" b="1" dirty="0">
                          <a:solidFill>
                            <a:srgbClr val="12243A"/>
                          </a:solidFill>
                          <a:latin typeface="Noto Sans CJK JP" pitchFamily="34" charset="0"/>
                          <a:ea typeface="Noto Sans CJK JP" pitchFamily="34" charset="-122"/>
                          <a:cs typeface="Noto Sans CJK JP" pitchFamily="34" charset="-120"/>
                        </a:rPr>
                        <a:t>高機能材料</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r>
                        <a:rPr lang="en-US" sz="2000" dirty="0">
                          <a:solidFill>
                            <a:srgbClr val="12243A"/>
                          </a:solidFill>
                          <a:latin typeface="Noto Sans CJK JP" pitchFamily="34" charset="0"/>
                          <a:ea typeface="Noto Sans CJK JP" pitchFamily="34" charset="-122"/>
                          <a:cs typeface="Noto Sans CJK JP" pitchFamily="34" charset="-120"/>
                        </a:rPr>
                        <a:t>品質で差別化</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E6F3F3"/>
                    </a:solidFill>
                  </a:tcPr>
                </a:tc>
                <a:tc>
                  <a:txBody>
                    <a:bodyPr/>
                    <a:lstStyle/>
                    <a:p>
                      <a:pPr indent="0" marL="0">
                        <a:buNone/>
                      </a:pPr>
                      <a:r>
                        <a:rPr lang="en-US" sz="2000" dirty="0">
                          <a:solidFill>
                            <a:srgbClr val="12243A"/>
                          </a:solidFill>
                          <a:latin typeface="Noto Sans CJK JP" pitchFamily="34" charset="0"/>
                          <a:ea typeface="Noto Sans CJK JP" pitchFamily="34" charset="-122"/>
                          <a:cs typeface="Noto Sans CJK JP" pitchFamily="34" charset="-120"/>
                        </a:rPr>
                        <a:t>開発費・顧客評価</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DF3E6"/>
                    </a:solidFill>
                  </a:tcPr>
                </a:tc>
              </a:tr>
              <a:tr h="914400">
                <a:tc>
                  <a:txBody>
                    <a:bodyPr/>
                    <a:lstStyle/>
                    <a:p>
                      <a:pPr indent="0" marL="0">
                        <a:buNone/>
                      </a:pPr>
                      <a:r>
                        <a:rPr lang="en-US" sz="2000" b="1" dirty="0">
                          <a:solidFill>
                            <a:srgbClr val="12243A"/>
                          </a:solidFill>
                          <a:latin typeface="Noto Sans CJK JP" pitchFamily="34" charset="0"/>
                          <a:ea typeface="Noto Sans CJK JP" pitchFamily="34" charset="-122"/>
                          <a:cs typeface="Noto Sans CJK JP" pitchFamily="34" charset="-120"/>
                        </a:rPr>
                        <a:t>脱炭素技術</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r>
                        <a:rPr lang="en-US" sz="2000" dirty="0">
                          <a:solidFill>
                            <a:srgbClr val="12243A"/>
                          </a:solidFill>
                          <a:latin typeface="Noto Sans CJK JP" pitchFamily="34" charset="0"/>
                          <a:ea typeface="Noto Sans CJK JP" pitchFamily="34" charset="-122"/>
                          <a:cs typeface="Noto Sans CJK JP" pitchFamily="34" charset="-120"/>
                        </a:rPr>
                        <a:t>新市場・規制対応</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E6F3F3"/>
                    </a:solidFill>
                  </a:tcPr>
                </a:tc>
                <a:tc>
                  <a:txBody>
                    <a:bodyPr/>
                    <a:lstStyle/>
                    <a:p>
                      <a:pPr indent="0" marL="0">
                        <a:buNone/>
                      </a:pPr>
                      <a:r>
                        <a:rPr lang="en-US" sz="2000" dirty="0">
                          <a:solidFill>
                            <a:srgbClr val="12243A"/>
                          </a:solidFill>
                          <a:latin typeface="Noto Sans CJK JP" pitchFamily="34" charset="0"/>
                          <a:ea typeface="Noto Sans CJK JP" pitchFamily="34" charset="-122"/>
                          <a:cs typeface="Noto Sans CJK JP" pitchFamily="34" charset="-120"/>
                        </a:rPr>
                        <a:t>巨額投資・採算</a:t>
                      </a:r>
                      <a:endParaRPr lang="en-US" sz="2000" dirty="0">
                        <a:latin typeface="Noto Sans CJK JP" charset="0"/>
                        <a:ea typeface="Noto Sans CJK JP" charset="0"/>
                        <a:cs typeface="Noto Sans CJK JP" charset="0"/>
                      </a:endParaRPr>
                    </a:p>
                  </a:txBody>
                  <a:tcPr marL="164592" marR="164592"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DF3E6"/>
                    </a:solidFill>
                  </a:tcPr>
                </a:tc>
              </a:tr>
            </a:tbl>
          </a:graphicData>
        </a:graphic>
      </p:graphicFrame>
      <p:sp>
        <p:nvSpPr>
          <p:cNvPr id="12" name="Shape 5"/>
          <p:cNvSpPr/>
          <p:nvPr/>
        </p:nvSpPr>
        <p:spPr>
          <a:xfrm>
            <a:off x="548640" y="5166360"/>
            <a:ext cx="11091672" cy="658368"/>
          </a:xfrm>
          <a:prstGeom prst="roundRect">
            <a:avLst>
              <a:gd name="adj" fmla="val 16667"/>
            </a:avLst>
          </a:prstGeom>
          <a:solidFill>
            <a:schemeClr val="tx2"/>
          </a:solidFill>
          <a:ln/>
        </p:spPr>
      </p:sp>
      <p:sp>
        <p:nvSpPr>
          <p:cNvPr id="13" name="Text 6"/>
          <p:cNvSpPr txBox="1"/>
          <p:nvPr/>
        </p:nvSpPr>
        <p:spPr>
          <a:xfrm>
            <a:off x="822960" y="5166360"/>
            <a:ext cx="10607040" cy="658368"/>
          </a:xfrm>
          <a:prstGeom prst="rect">
            <a:avLst/>
          </a:prstGeom>
          <a:noFill/>
          <a:ln/>
        </p:spPr>
        <p:txBody>
          <a:bodyPr wrap="square" lIns="0" tIns="0" rIns="0" bIns="0" rtlCol="0" anchor="ctr"/>
          <a:lstStyle/>
          <a:p>
            <a:pPr indent="0" marL="0">
              <a:buNone/>
            </a:pPr>
            <a:r>
              <a:rPr lang="ja-JP" altLang="en-US" sz="2200" b="1" dirty="0">
                <a:solidFill>
                  <a:schemeClr val="bg1"/>
                </a:solidFill>
              </a:rPr>
              <a:t>市場が伸びても、すべての日本企業が儲かるわけではない。</a:t>
            </a:r>
            <a:endParaRPr lang="ja-JP" sz="2200" dirty="0"/>
          </a:p>
        </p:txBody>
      </p:sp>
      <p:sp>
        <p:nvSpPr>
          <p:cNvPr id="14" name="Text 7"/>
          <p:cNvSpPr txBox="1"/>
          <p:nvPr/>
        </p:nvSpPr>
        <p:spPr>
          <a:xfrm>
            <a:off x="548640" y="5943600"/>
            <a:ext cx="11091672" cy="365760"/>
          </a:xfrm>
          <a:prstGeom prst="rect">
            <a:avLst/>
          </a:prstGeom>
          <a:noFill/>
          <a:ln/>
        </p:spPr>
        <p:txBody>
          <a:bodyPr wrap="square" lIns="0" tIns="0" rIns="0" bIns="0" rtlCol="0" anchor="b"/>
          <a:lstStyle/>
          <a:p>
            <a:pPr indent="0" marL="0">
              <a:buNone/>
            </a:pPr>
            <a:r>
              <a:rPr lang="ja-JP" altLang="en-US" sz="1200" dirty="0">
                <a:solidFill>
                  <a:srgbClr val="5B6B7C"/>
                </a:solidFill>
              </a:rPr>
              <a:t>出典：worldsteel Short Range Outlook（2026/10/12）</a:t>
            </a:r>
            <a:endParaRPr lang="ja-JP" sz="1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04｜3つのニュースから未来を考える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3つのニュースが教えてくれたこと</a:t>
            </a:r>
            <a:endParaRPr lang="en-US" sz="3000" dirty="0"/>
          </a:p>
        </p:txBody>
      </p:sp>
      <p:sp>
        <p:nvSpPr>
          <p:cNvPr id="5" name="Text 2"/>
          <p:cNvSpPr txBox="1"/>
          <p:nvPr/>
        </p:nvSpPr>
        <p:spPr>
          <a:xfrm>
            <a:off x="548640" y="1901952"/>
            <a:ext cx="1920240" cy="640080"/>
          </a:xfrm>
          <a:prstGeom prst="roundRect">
            <a:avLst>
              <a:gd name="adj" fmla="val 20000"/>
            </a:avLst>
          </a:prstGeom>
          <a:solidFill>
            <a:schemeClr val="tx2"/>
          </a:solidFill>
          <a:ln/>
        </p:spPr>
        <p:txBody>
          <a:bodyPr wrap="square" lIns="0" tIns="0" rIns="0" bIns="0" rtlCol="0" anchor="ctr"/>
          <a:lstStyle/>
          <a:p>
            <a:pPr algn="ctr" indent="0" marL="0">
              <a:buNone/>
            </a:pPr>
            <a:r>
              <a:rPr lang="ja-JP" altLang="en-US" sz="2000" b="1" dirty="0">
                <a:solidFill>
                  <a:schemeClr val="bg1"/>
                </a:solidFill>
              </a:rPr>
              <a:t>ニュース①</a:t>
            </a:r>
            <a:endParaRPr lang="ja-JP" sz="2000" dirty="0"/>
          </a:p>
        </p:txBody>
      </p:sp>
      <p:sp>
        <p:nvSpPr>
          <p:cNvPr id="6" name="Shape 3"/>
          <p:cNvSpPr/>
          <p:nvPr/>
        </p:nvSpPr>
        <p:spPr>
          <a:xfrm>
            <a:off x="2651760" y="1737360"/>
            <a:ext cx="4846320" cy="960120"/>
          </a:xfrm>
          <a:prstGeom prst="roundRect">
            <a:avLst>
              <a:gd name="adj" fmla="val 13333"/>
            </a:avLst>
          </a:prstGeom>
          <a:solidFill>
            <a:schemeClr val="bg2"/>
          </a:solidFill>
          <a:ln/>
        </p:spPr>
      </p:sp>
      <p:pic>
        <p:nvPicPr>
          <p:cNvPr id="7" name="Image 0" descr="TbCurrencyYen">    </p:cNvPr>
          <p:cNvPicPr>
            <a:picLocks noChangeAspect="1"/>
          </p:cNvPicPr>
          <p:nvPr/>
        </p:nvPicPr>
        <p:blipFill>
          <a:blip r:embed="rId1"/>
          <a:stretch>
            <a:fillRect/>
          </a:stretch>
        </p:blipFill>
        <p:spPr>
          <a:xfrm>
            <a:off x="2834640" y="1993392"/>
            <a:ext cx="457200" cy="457200"/>
          </a:xfrm>
          <a:prstGeom prst="rect">
            <a:avLst/>
          </a:prstGeom>
        </p:spPr>
      </p:pic>
      <p:sp>
        <p:nvSpPr>
          <p:cNvPr id="8" name="Text 4"/>
          <p:cNvSpPr txBox="1"/>
          <p:nvPr/>
        </p:nvSpPr>
        <p:spPr>
          <a:xfrm>
            <a:off x="3474720" y="1737360"/>
            <a:ext cx="3931920" cy="960120"/>
          </a:xfrm>
          <a:prstGeom prst="rect">
            <a:avLst/>
          </a:prstGeom>
          <a:noFill/>
          <a:ln/>
        </p:spPr>
        <p:txBody>
          <a:bodyPr wrap="square" lIns="0" tIns="0" rIns="0" bIns="0" rtlCol="0" anchor="ctr"/>
          <a:lstStyle/>
          <a:p>
            <a:pPr indent="0" marL="0">
              <a:buNone/>
            </a:pPr>
            <a:r>
              <a:rPr lang="ja-JP" altLang="en-US" sz="2200" b="1" dirty="0">
                <a:solidFill>
                  <a:schemeClr val="tx2"/>
                </a:solidFill>
              </a:rPr>
              <a:t>価格と費用</a:t>
            </a:r>
            <a:endParaRPr lang="ja-JP" sz="2200" dirty="0"/>
          </a:p>
        </p:txBody>
      </p:sp>
      <p:sp>
        <p:nvSpPr>
          <p:cNvPr id="9" name="Shape 5"/>
          <p:cNvSpPr/>
          <p:nvPr/>
        </p:nvSpPr>
        <p:spPr>
          <a:xfrm>
            <a:off x="7680960" y="2011680"/>
            <a:ext cx="685800" cy="411480"/>
          </a:xfrm>
          <a:prstGeom prst="rightArrow">
            <a:avLst/>
          </a:prstGeom>
          <a:solidFill>
            <a:schemeClr val="accent3"/>
          </a:solidFill>
          <a:ln/>
        </p:spPr>
      </p:sp>
      <p:sp>
        <p:nvSpPr>
          <p:cNvPr id="10" name="Text 6"/>
          <p:cNvSpPr txBox="1"/>
          <p:nvPr/>
        </p:nvSpPr>
        <p:spPr>
          <a:xfrm>
            <a:off x="8549640" y="1810512"/>
            <a:ext cx="3090672" cy="822960"/>
          </a:xfrm>
          <a:prstGeom prst="roundRect">
            <a:avLst>
              <a:gd name="adj" fmla="val 17778"/>
            </a:avLst>
          </a:prstGeom>
          <a:solidFill>
            <a:schemeClr val="accent1"/>
          </a:solidFill>
          <a:ln/>
        </p:spPr>
        <p:txBody>
          <a:bodyPr wrap="square" lIns="0" tIns="0" rIns="0" bIns="0" rtlCol="0" anchor="ctr"/>
          <a:lstStyle/>
          <a:p>
            <a:pPr algn="ctr" indent="0" marL="0">
              <a:buNone/>
            </a:pPr>
            <a:r>
              <a:rPr lang="ja-JP" altLang="en-US" sz="2600" b="1" dirty="0">
                <a:solidFill>
                  <a:schemeClr val="bg1"/>
                </a:solidFill>
              </a:rPr>
              <a:t>利益構造</a:t>
            </a:r>
            <a:endParaRPr lang="ja-JP" sz="2600" dirty="0"/>
          </a:p>
        </p:txBody>
      </p:sp>
      <p:sp>
        <p:nvSpPr>
          <p:cNvPr id="11" name="Text 7"/>
          <p:cNvSpPr txBox="1"/>
          <p:nvPr/>
        </p:nvSpPr>
        <p:spPr>
          <a:xfrm>
            <a:off x="548640" y="3090672"/>
            <a:ext cx="1920240" cy="640080"/>
          </a:xfrm>
          <a:prstGeom prst="roundRect">
            <a:avLst>
              <a:gd name="adj" fmla="val 20000"/>
            </a:avLst>
          </a:prstGeom>
          <a:solidFill>
            <a:schemeClr val="tx2"/>
          </a:solidFill>
          <a:ln/>
        </p:spPr>
        <p:txBody>
          <a:bodyPr wrap="square" lIns="0" tIns="0" rIns="0" bIns="0" rtlCol="0" anchor="ctr"/>
          <a:lstStyle/>
          <a:p>
            <a:pPr algn="ctr" indent="0" marL="0">
              <a:buNone/>
            </a:pPr>
            <a:r>
              <a:rPr lang="ja-JP" altLang="en-US" sz="2000" b="1" dirty="0">
                <a:solidFill>
                  <a:schemeClr val="bg1"/>
                </a:solidFill>
              </a:rPr>
              <a:t>ニュース②</a:t>
            </a:r>
            <a:endParaRPr lang="ja-JP" sz="2000" dirty="0"/>
          </a:p>
        </p:txBody>
      </p:sp>
      <p:sp>
        <p:nvSpPr>
          <p:cNvPr id="12" name="Shape 8"/>
          <p:cNvSpPr/>
          <p:nvPr/>
        </p:nvSpPr>
        <p:spPr>
          <a:xfrm>
            <a:off x="2651760" y="2926080"/>
            <a:ext cx="4846320" cy="960120"/>
          </a:xfrm>
          <a:prstGeom prst="roundRect">
            <a:avLst>
              <a:gd name="adj" fmla="val 13333"/>
            </a:avLst>
          </a:prstGeom>
          <a:solidFill>
            <a:schemeClr val="bg2"/>
          </a:solidFill>
          <a:ln/>
        </p:spPr>
      </p:sp>
      <p:pic>
        <p:nvPicPr>
          <p:cNvPr id="13" name="Image 1" descr="TbScale">    </p:cNvPr>
          <p:cNvPicPr>
            <a:picLocks noChangeAspect="1"/>
          </p:cNvPicPr>
          <p:nvPr/>
        </p:nvPicPr>
        <p:blipFill>
          <a:blip r:embed="rId2"/>
          <a:stretch>
            <a:fillRect/>
          </a:stretch>
        </p:blipFill>
        <p:spPr>
          <a:xfrm>
            <a:off x="2834640" y="3182112"/>
            <a:ext cx="457200" cy="457200"/>
          </a:xfrm>
          <a:prstGeom prst="rect">
            <a:avLst/>
          </a:prstGeom>
        </p:spPr>
      </p:pic>
      <p:sp>
        <p:nvSpPr>
          <p:cNvPr id="14" name="Text 9"/>
          <p:cNvSpPr txBox="1"/>
          <p:nvPr/>
        </p:nvSpPr>
        <p:spPr>
          <a:xfrm>
            <a:off x="3474720" y="2926080"/>
            <a:ext cx="3931920" cy="960120"/>
          </a:xfrm>
          <a:prstGeom prst="rect">
            <a:avLst/>
          </a:prstGeom>
          <a:noFill/>
          <a:ln/>
        </p:spPr>
        <p:txBody>
          <a:bodyPr wrap="square" lIns="0" tIns="0" rIns="0" bIns="0" rtlCol="0" anchor="ctr"/>
          <a:lstStyle/>
          <a:p>
            <a:pPr indent="0" marL="0">
              <a:buNone/>
            </a:pPr>
            <a:r>
              <a:rPr lang="ja-JP" altLang="en-US" sz="2200" b="1" dirty="0">
                <a:solidFill>
                  <a:schemeClr val="tx2"/>
                </a:solidFill>
              </a:rPr>
              <a:t>いまの利益と未来</a:t>
            </a:r>
            <a:endParaRPr lang="ja-JP" sz="2200" dirty="0"/>
          </a:p>
        </p:txBody>
      </p:sp>
      <p:sp>
        <p:nvSpPr>
          <p:cNvPr id="15" name="Shape 10"/>
          <p:cNvSpPr/>
          <p:nvPr/>
        </p:nvSpPr>
        <p:spPr>
          <a:xfrm>
            <a:off x="7680960" y="3200400"/>
            <a:ext cx="685800" cy="411480"/>
          </a:xfrm>
          <a:prstGeom prst="rightArrow">
            <a:avLst/>
          </a:prstGeom>
          <a:solidFill>
            <a:schemeClr val="accent3"/>
          </a:solidFill>
          <a:ln/>
        </p:spPr>
      </p:sp>
      <p:sp>
        <p:nvSpPr>
          <p:cNvPr id="16" name="Text 11"/>
          <p:cNvSpPr txBox="1"/>
          <p:nvPr/>
        </p:nvSpPr>
        <p:spPr>
          <a:xfrm>
            <a:off x="8549640" y="2999232"/>
            <a:ext cx="3090672" cy="822960"/>
          </a:xfrm>
          <a:prstGeom prst="roundRect">
            <a:avLst>
              <a:gd name="adj" fmla="val 17778"/>
            </a:avLst>
          </a:prstGeom>
          <a:solidFill>
            <a:schemeClr val="accent1"/>
          </a:solidFill>
          <a:ln/>
        </p:spPr>
        <p:txBody>
          <a:bodyPr wrap="square" lIns="0" tIns="0" rIns="0" bIns="0" rtlCol="0" anchor="ctr"/>
          <a:lstStyle/>
          <a:p>
            <a:pPr algn="ctr" indent="0" marL="0">
              <a:buNone/>
            </a:pPr>
            <a:r>
              <a:rPr lang="ja-JP" altLang="en-US" sz="2600" b="1" dirty="0">
                <a:solidFill>
                  <a:schemeClr val="bg1"/>
                </a:solidFill>
              </a:rPr>
              <a:t>経営判断</a:t>
            </a:r>
            <a:endParaRPr lang="ja-JP" sz="2600" dirty="0"/>
          </a:p>
        </p:txBody>
      </p:sp>
      <p:sp>
        <p:nvSpPr>
          <p:cNvPr id="17" name="Text 12"/>
          <p:cNvSpPr txBox="1"/>
          <p:nvPr/>
        </p:nvSpPr>
        <p:spPr>
          <a:xfrm>
            <a:off x="548640" y="4279392"/>
            <a:ext cx="1920240" cy="640080"/>
          </a:xfrm>
          <a:prstGeom prst="roundRect">
            <a:avLst>
              <a:gd name="adj" fmla="val 20000"/>
            </a:avLst>
          </a:prstGeom>
          <a:solidFill>
            <a:schemeClr val="tx2"/>
          </a:solidFill>
          <a:ln/>
        </p:spPr>
        <p:txBody>
          <a:bodyPr wrap="square" lIns="0" tIns="0" rIns="0" bIns="0" rtlCol="0" anchor="ctr"/>
          <a:lstStyle/>
          <a:p>
            <a:pPr algn="ctr" indent="0" marL="0">
              <a:buNone/>
            </a:pPr>
            <a:r>
              <a:rPr lang="ja-JP" altLang="en-US" sz="2000" b="1" dirty="0">
                <a:solidFill>
                  <a:schemeClr val="bg1"/>
                </a:solidFill>
              </a:rPr>
              <a:t>ニュース③</a:t>
            </a:r>
            <a:endParaRPr lang="ja-JP" sz="2000" dirty="0"/>
          </a:p>
        </p:txBody>
      </p:sp>
      <p:sp>
        <p:nvSpPr>
          <p:cNvPr id="18" name="Shape 13"/>
          <p:cNvSpPr/>
          <p:nvPr/>
        </p:nvSpPr>
        <p:spPr>
          <a:xfrm>
            <a:off x="2651760" y="4114800"/>
            <a:ext cx="4846320" cy="960120"/>
          </a:xfrm>
          <a:prstGeom prst="roundRect">
            <a:avLst>
              <a:gd name="adj" fmla="val 13333"/>
            </a:avLst>
          </a:prstGeom>
          <a:solidFill>
            <a:schemeClr val="bg2"/>
          </a:solidFill>
          <a:ln/>
        </p:spPr>
      </p:sp>
      <p:pic>
        <p:nvPicPr>
          <p:cNvPr id="19" name="Image 2" descr="TbWorld">    </p:cNvPr>
          <p:cNvPicPr>
            <a:picLocks noChangeAspect="1"/>
          </p:cNvPicPr>
          <p:nvPr/>
        </p:nvPicPr>
        <p:blipFill>
          <a:blip r:embed="rId3"/>
          <a:stretch>
            <a:fillRect/>
          </a:stretch>
        </p:blipFill>
        <p:spPr>
          <a:xfrm>
            <a:off x="2834640" y="4370832"/>
            <a:ext cx="457200" cy="457200"/>
          </a:xfrm>
          <a:prstGeom prst="rect">
            <a:avLst/>
          </a:prstGeom>
        </p:spPr>
      </p:pic>
      <p:sp>
        <p:nvSpPr>
          <p:cNvPr id="20" name="Text 14"/>
          <p:cNvSpPr txBox="1"/>
          <p:nvPr/>
        </p:nvSpPr>
        <p:spPr>
          <a:xfrm>
            <a:off x="3474720" y="4114800"/>
            <a:ext cx="3931920" cy="960120"/>
          </a:xfrm>
          <a:prstGeom prst="rect">
            <a:avLst/>
          </a:prstGeom>
          <a:noFill/>
          <a:ln/>
        </p:spPr>
        <p:txBody>
          <a:bodyPr wrap="square" lIns="0" tIns="0" rIns="0" bIns="0" rtlCol="0" anchor="ctr"/>
          <a:lstStyle/>
          <a:p>
            <a:pPr indent="0" marL="0">
              <a:buNone/>
            </a:pPr>
            <a:r>
              <a:rPr lang="ja-JP" altLang="en-US" sz="2200" b="1" dirty="0">
                <a:solidFill>
                  <a:schemeClr val="tx2"/>
                </a:solidFill>
              </a:rPr>
              <a:t>海外需要と自社の強み</a:t>
            </a:r>
            <a:endParaRPr lang="ja-JP" sz="2200" dirty="0"/>
          </a:p>
        </p:txBody>
      </p:sp>
      <p:sp>
        <p:nvSpPr>
          <p:cNvPr id="21" name="Shape 15"/>
          <p:cNvSpPr/>
          <p:nvPr/>
        </p:nvSpPr>
        <p:spPr>
          <a:xfrm>
            <a:off x="7680960" y="4389120"/>
            <a:ext cx="685800" cy="411480"/>
          </a:xfrm>
          <a:prstGeom prst="rightArrow">
            <a:avLst/>
          </a:prstGeom>
          <a:solidFill>
            <a:schemeClr val="accent3"/>
          </a:solidFill>
          <a:ln/>
        </p:spPr>
      </p:sp>
      <p:sp>
        <p:nvSpPr>
          <p:cNvPr id="22" name="Text 16"/>
          <p:cNvSpPr txBox="1"/>
          <p:nvPr/>
        </p:nvSpPr>
        <p:spPr>
          <a:xfrm>
            <a:off x="8549640" y="4187952"/>
            <a:ext cx="3090672" cy="822960"/>
          </a:xfrm>
          <a:prstGeom prst="roundRect">
            <a:avLst>
              <a:gd name="adj" fmla="val 17778"/>
            </a:avLst>
          </a:prstGeom>
          <a:solidFill>
            <a:schemeClr val="accent1"/>
          </a:solidFill>
          <a:ln/>
        </p:spPr>
        <p:txBody>
          <a:bodyPr wrap="square" lIns="0" tIns="0" rIns="0" bIns="0" rtlCol="0" anchor="ctr"/>
          <a:lstStyle/>
          <a:p>
            <a:pPr algn="ctr" indent="0" marL="0">
              <a:buNone/>
            </a:pPr>
            <a:r>
              <a:rPr lang="ja-JP" altLang="en-US" sz="2600" b="1" dirty="0">
                <a:solidFill>
                  <a:schemeClr val="bg1"/>
                </a:solidFill>
              </a:rPr>
              <a:t>経営戦略</a:t>
            </a:r>
            <a:endParaRPr lang="ja-JP" sz="2600" dirty="0"/>
          </a:p>
        </p:txBody>
      </p:sp>
      <p:sp>
        <p:nvSpPr>
          <p:cNvPr id="23" name="Shape 17"/>
          <p:cNvSpPr/>
          <p:nvPr/>
        </p:nvSpPr>
        <p:spPr>
          <a:xfrm>
            <a:off x="548640" y="5349240"/>
            <a:ext cx="11091672" cy="594360"/>
          </a:xfrm>
          <a:prstGeom prst="roundRect">
            <a:avLst>
              <a:gd name="adj" fmla="val 18462"/>
            </a:avLst>
          </a:prstGeom>
          <a:solidFill>
            <a:schemeClr val="bg1"/>
          </a:solidFill>
          <a:ln w="22225">
            <a:solidFill>
              <a:schemeClr val="accent1"/>
            </a:solidFill>
            <a:prstDash val="solid"/>
          </a:ln>
        </p:spPr>
      </p:sp>
      <p:sp>
        <p:nvSpPr>
          <p:cNvPr id="24" name="Text 18"/>
          <p:cNvSpPr txBox="1"/>
          <p:nvPr/>
        </p:nvSpPr>
        <p:spPr>
          <a:xfrm>
            <a:off x="822960" y="5349240"/>
            <a:ext cx="10607040" cy="594360"/>
          </a:xfrm>
          <a:prstGeom prst="rect">
            <a:avLst/>
          </a:prstGeom>
          <a:noFill/>
          <a:ln/>
        </p:spPr>
        <p:txBody>
          <a:bodyPr wrap="square" lIns="0" tIns="0" rIns="0" bIns="0" rtlCol="0" anchor="ctr"/>
          <a:lstStyle/>
          <a:p>
            <a:pPr indent="0" marL="0">
              <a:buNone/>
            </a:pPr>
            <a:r>
              <a:rPr lang="ja-JP" altLang="en-US" sz="2200" b="1" dirty="0">
                <a:solidFill>
                  <a:schemeClr val="tx2"/>
                </a:solidFill>
              </a:rPr>
              <a:t>1つの金属業界にも、数字・技術・世界市場という面白さがある。</a:t>
            </a:r>
            <a:endParaRPr lang="ja-JP" sz="2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05｜金属業界の魅力を発見する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金属業界の面白さは、どこにある？</a:t>
            </a:r>
            <a:endParaRPr lang="en-US" sz="3000" dirty="0"/>
          </a:p>
        </p:txBody>
      </p:sp>
      <p:pic>
        <p:nvPicPr>
          <p:cNvPr id="5" name="Image 0" descr="イメージ図（一般的なイラスト。実在企業の設備ではありません）">    </p:cNvPr>
          <p:cNvPicPr>
            <a:picLocks noChangeAspect="1"/>
          </p:cNvPicPr>
          <p:nvPr/>
        </p:nvPicPr>
        <p:blipFill>
          <a:blip r:embed="rId1"/>
          <a:stretch>
            <a:fillRect/>
          </a:stretch>
        </p:blipFill>
        <p:spPr>
          <a:xfrm>
            <a:off x="548640" y="1691640"/>
            <a:ext cx="2039112" cy="1645920"/>
          </a:xfrm>
          <a:prstGeom prst="rect">
            <a:avLst/>
          </a:prstGeom>
        </p:spPr>
      </p:pic>
      <p:sp>
        <p:nvSpPr>
          <p:cNvPr id="6" name="Text 2"/>
          <p:cNvSpPr txBox="1"/>
          <p:nvPr/>
        </p:nvSpPr>
        <p:spPr>
          <a:xfrm>
            <a:off x="548640" y="3493008"/>
            <a:ext cx="2039112" cy="731520"/>
          </a:xfrm>
          <a:prstGeom prst="rect">
            <a:avLst/>
          </a:prstGeom>
          <a:noFill/>
          <a:ln/>
        </p:spPr>
        <p:txBody>
          <a:bodyPr wrap="square" lIns="0" tIns="0" rIns="0" bIns="0" rtlCol="0" anchor="ctr"/>
          <a:lstStyle/>
          <a:p>
            <a:pPr indent="0" marL="0">
              <a:buNone/>
            </a:pPr>
            <a:r>
              <a:rPr lang="ja-JP" altLang="en-US" sz="2000" b="1" dirty="0">
                <a:solidFill>
                  <a:schemeClr val="tx2"/>
                </a:solidFill>
              </a:rPr>
              <a:t>社会基盤を支える</a:t>
            </a:r>
            <a:endParaRPr lang="ja-JP" sz="2000" dirty="0"/>
          </a:p>
        </p:txBody>
      </p:sp>
      <p:sp>
        <p:nvSpPr>
          <p:cNvPr id="7" name="Text 3"/>
          <p:cNvSpPr txBox="1"/>
          <p:nvPr/>
        </p:nvSpPr>
        <p:spPr>
          <a:xfrm>
            <a:off x="548640" y="4251960"/>
            <a:ext cx="2039112" cy="777240"/>
          </a:xfrm>
          <a:prstGeom prst="rect">
            <a:avLst/>
          </a:prstGeom>
          <a:noFill/>
          <a:ln/>
        </p:spPr>
        <p:txBody>
          <a:bodyPr wrap="square" lIns="0" tIns="0" rIns="0" bIns="0" rtlCol="0" anchor="t"/>
          <a:lstStyle/>
          <a:p>
            <a:pPr indent="0" marL="0">
              <a:buNone/>
            </a:pPr>
            <a:r>
              <a:rPr lang="ja-JP" altLang="en-US" sz="1700" b="1" dirty="0">
                <a:solidFill>
                  <a:schemeClr val="accent1"/>
                </a:solidFill>
              </a:rPr>
              <a:t>橋・車・電力・</a:t>
            </a:r>
            <a:endParaRPr lang="ja-JP" sz="1700" dirty="0"/>
          </a:p>
          <a:p>
            <a:pPr indent="0" marL="0">
              <a:buNone/>
            </a:pPr>
            <a:r>
              <a:rPr lang="ja-JP" altLang="en-US" sz="1700" b="1" dirty="0">
                <a:solidFill>
                  <a:schemeClr val="accent1"/>
                </a:solidFill>
              </a:rPr>
              <a:t>電子機器</a:t>
            </a:r>
            <a:endParaRPr lang="ja-JP" sz="1700" dirty="0"/>
          </a:p>
        </p:txBody>
      </p:sp>
      <p:pic>
        <p:nvPicPr>
          <p:cNvPr id="8" name="Image 1" descr="イメージ図（一般的なイラスト。実在企業の設備ではありません）">    </p:cNvPr>
          <p:cNvPicPr>
            <a:picLocks noChangeAspect="1"/>
          </p:cNvPicPr>
          <p:nvPr/>
        </p:nvPicPr>
        <p:blipFill>
          <a:blip r:embed="rId2"/>
          <a:stretch>
            <a:fillRect/>
          </a:stretch>
        </p:blipFill>
        <p:spPr>
          <a:xfrm>
            <a:off x="2812694" y="1691640"/>
            <a:ext cx="2039112" cy="1645920"/>
          </a:xfrm>
          <a:prstGeom prst="rect">
            <a:avLst/>
          </a:prstGeom>
        </p:spPr>
      </p:pic>
      <p:sp>
        <p:nvSpPr>
          <p:cNvPr id="9" name="Text 4"/>
          <p:cNvSpPr txBox="1"/>
          <p:nvPr/>
        </p:nvSpPr>
        <p:spPr>
          <a:xfrm>
            <a:off x="2812694" y="3493008"/>
            <a:ext cx="2039112" cy="731520"/>
          </a:xfrm>
          <a:prstGeom prst="rect">
            <a:avLst/>
          </a:prstGeom>
          <a:noFill/>
          <a:ln/>
        </p:spPr>
        <p:txBody>
          <a:bodyPr wrap="square" lIns="0" tIns="0" rIns="0" bIns="0" rtlCol="0" anchor="ctr"/>
          <a:lstStyle/>
          <a:p>
            <a:pPr indent="0" marL="0">
              <a:buNone/>
            </a:pPr>
            <a:r>
              <a:rPr lang="ja-JP" altLang="en-US" sz="2000" b="1" dirty="0">
                <a:solidFill>
                  <a:schemeClr val="tx2"/>
                </a:solidFill>
              </a:rPr>
              <a:t>技術で挑戦する</a:t>
            </a:r>
            <a:endParaRPr lang="ja-JP" sz="2000" dirty="0"/>
          </a:p>
        </p:txBody>
      </p:sp>
      <p:sp>
        <p:nvSpPr>
          <p:cNvPr id="10" name="Text 5"/>
          <p:cNvSpPr txBox="1"/>
          <p:nvPr/>
        </p:nvSpPr>
        <p:spPr>
          <a:xfrm>
            <a:off x="2812694" y="4251960"/>
            <a:ext cx="2039112" cy="777240"/>
          </a:xfrm>
          <a:prstGeom prst="rect">
            <a:avLst/>
          </a:prstGeom>
          <a:noFill/>
          <a:ln/>
        </p:spPr>
        <p:txBody>
          <a:bodyPr wrap="square" lIns="0" tIns="0" rIns="0" bIns="0" rtlCol="0" anchor="t"/>
          <a:lstStyle/>
          <a:p>
            <a:pPr indent="0" marL="0">
              <a:buNone/>
            </a:pPr>
            <a:r>
              <a:rPr lang="ja-JP" altLang="en-US" sz="1700" b="1" dirty="0">
                <a:solidFill>
                  <a:schemeClr val="accent1"/>
                </a:solidFill>
              </a:rPr>
              <a:t>高機能材料・</a:t>
            </a:r>
            <a:endParaRPr lang="ja-JP" sz="1700" dirty="0"/>
          </a:p>
          <a:p>
            <a:pPr indent="0" marL="0">
              <a:buNone/>
            </a:pPr>
            <a:r>
              <a:rPr lang="ja-JP" altLang="en-US" sz="1700" b="1" dirty="0">
                <a:solidFill>
                  <a:schemeClr val="accent1"/>
                </a:solidFill>
              </a:rPr>
              <a:t>製造技術</a:t>
            </a:r>
            <a:endParaRPr lang="ja-JP" sz="1700" dirty="0"/>
          </a:p>
        </p:txBody>
      </p:sp>
      <p:pic>
        <p:nvPicPr>
          <p:cNvPr id="11" name="Image 2" descr="イメージ図（一般的なイラスト。実在企業の設備ではありません）">    </p:cNvPr>
          <p:cNvPicPr>
            <a:picLocks noChangeAspect="1"/>
          </p:cNvPicPr>
          <p:nvPr/>
        </p:nvPicPr>
        <p:blipFill>
          <a:blip r:embed="rId3"/>
          <a:stretch>
            <a:fillRect/>
          </a:stretch>
        </p:blipFill>
        <p:spPr>
          <a:xfrm>
            <a:off x="5076749" y="1691640"/>
            <a:ext cx="2039112" cy="1645920"/>
          </a:xfrm>
          <a:prstGeom prst="rect">
            <a:avLst/>
          </a:prstGeom>
        </p:spPr>
      </p:pic>
      <p:sp>
        <p:nvSpPr>
          <p:cNvPr id="12" name="Text 6"/>
          <p:cNvSpPr txBox="1"/>
          <p:nvPr/>
        </p:nvSpPr>
        <p:spPr>
          <a:xfrm>
            <a:off x="5076749" y="3493008"/>
            <a:ext cx="2039112" cy="731520"/>
          </a:xfrm>
          <a:prstGeom prst="rect">
            <a:avLst/>
          </a:prstGeom>
          <a:noFill/>
          <a:ln/>
        </p:spPr>
        <p:txBody>
          <a:bodyPr wrap="square" lIns="0" tIns="0" rIns="0" bIns="0" rtlCol="0" anchor="ctr"/>
          <a:lstStyle/>
          <a:p>
            <a:pPr indent="0" marL="0">
              <a:buNone/>
            </a:pPr>
            <a:r>
              <a:rPr lang="ja-JP" altLang="en-US" sz="2000" b="1" dirty="0">
                <a:solidFill>
                  <a:schemeClr val="tx2"/>
                </a:solidFill>
              </a:rPr>
              <a:t>世界とつながる</a:t>
            </a:r>
            <a:endParaRPr lang="ja-JP" sz="2000" dirty="0"/>
          </a:p>
        </p:txBody>
      </p:sp>
      <p:sp>
        <p:nvSpPr>
          <p:cNvPr id="13" name="Text 7"/>
          <p:cNvSpPr txBox="1"/>
          <p:nvPr/>
        </p:nvSpPr>
        <p:spPr>
          <a:xfrm>
            <a:off x="5076749" y="4251960"/>
            <a:ext cx="2039112" cy="777240"/>
          </a:xfrm>
          <a:prstGeom prst="rect">
            <a:avLst/>
          </a:prstGeom>
          <a:noFill/>
          <a:ln/>
        </p:spPr>
        <p:txBody>
          <a:bodyPr wrap="square" lIns="0" tIns="0" rIns="0" bIns="0" rtlCol="0" anchor="t"/>
          <a:lstStyle/>
          <a:p>
            <a:pPr indent="0" marL="0">
              <a:buNone/>
            </a:pPr>
            <a:r>
              <a:rPr lang="ja-JP" altLang="en-US" sz="1700" b="1" dirty="0">
                <a:solidFill>
                  <a:schemeClr val="accent1"/>
                </a:solidFill>
              </a:rPr>
              <a:t>資源・生産・輸出</a:t>
            </a:r>
            <a:endParaRPr lang="ja-JP" sz="1700" dirty="0"/>
          </a:p>
        </p:txBody>
      </p:sp>
      <p:pic>
        <p:nvPicPr>
          <p:cNvPr id="14" name="Image 3" descr="イメージ図（一般的なイラスト。実在企業の設備ではありません）">    </p:cNvPr>
          <p:cNvPicPr>
            <a:picLocks noChangeAspect="1"/>
          </p:cNvPicPr>
          <p:nvPr/>
        </p:nvPicPr>
        <p:blipFill>
          <a:blip r:embed="rId4"/>
          <a:stretch>
            <a:fillRect/>
          </a:stretch>
        </p:blipFill>
        <p:spPr>
          <a:xfrm>
            <a:off x="7340803" y="1691640"/>
            <a:ext cx="2039112" cy="1645920"/>
          </a:xfrm>
          <a:prstGeom prst="rect">
            <a:avLst/>
          </a:prstGeom>
        </p:spPr>
      </p:pic>
      <p:sp>
        <p:nvSpPr>
          <p:cNvPr id="15" name="Text 8"/>
          <p:cNvSpPr txBox="1"/>
          <p:nvPr/>
        </p:nvSpPr>
        <p:spPr>
          <a:xfrm>
            <a:off x="7340803" y="3493008"/>
            <a:ext cx="2039112" cy="731520"/>
          </a:xfrm>
          <a:prstGeom prst="rect">
            <a:avLst/>
          </a:prstGeom>
          <a:noFill/>
          <a:ln/>
        </p:spPr>
        <p:txBody>
          <a:bodyPr wrap="square" lIns="0" tIns="0" rIns="0" bIns="0" rtlCol="0" anchor="ctr"/>
          <a:lstStyle/>
          <a:p>
            <a:pPr indent="0" marL="0">
              <a:buNone/>
            </a:pPr>
            <a:r>
              <a:rPr lang="ja-JP" altLang="en-US" sz="2000" b="1" dirty="0">
                <a:solidFill>
                  <a:schemeClr val="tx2"/>
                </a:solidFill>
              </a:rPr>
              <a:t>未来の課題に</a:t>
            </a:r>
            <a:endParaRPr lang="ja-JP" sz="2000" dirty="0"/>
          </a:p>
          <a:p>
            <a:pPr indent="0" marL="0">
              <a:buNone/>
            </a:pPr>
            <a:r>
              <a:rPr lang="ja-JP" altLang="en-US" sz="2000" b="1" dirty="0">
                <a:solidFill>
                  <a:schemeClr val="tx2"/>
                </a:solidFill>
              </a:rPr>
              <a:t>向き合う</a:t>
            </a:r>
            <a:endParaRPr lang="ja-JP" sz="2000" dirty="0"/>
          </a:p>
        </p:txBody>
      </p:sp>
      <p:sp>
        <p:nvSpPr>
          <p:cNvPr id="16" name="Text 9"/>
          <p:cNvSpPr txBox="1"/>
          <p:nvPr/>
        </p:nvSpPr>
        <p:spPr>
          <a:xfrm>
            <a:off x="7340803" y="4251960"/>
            <a:ext cx="2039112" cy="777240"/>
          </a:xfrm>
          <a:prstGeom prst="rect">
            <a:avLst/>
          </a:prstGeom>
          <a:noFill/>
          <a:ln/>
        </p:spPr>
        <p:txBody>
          <a:bodyPr wrap="square" lIns="0" tIns="0" rIns="0" bIns="0" rtlCol="0" anchor="t"/>
          <a:lstStyle/>
          <a:p>
            <a:pPr indent="0" marL="0">
              <a:buNone/>
            </a:pPr>
            <a:r>
              <a:rPr lang="ja-JP" altLang="en-US" sz="1700" b="1" dirty="0">
                <a:solidFill>
                  <a:schemeClr val="accent1"/>
                </a:solidFill>
              </a:rPr>
              <a:t>脱炭素・資源循環</a:t>
            </a:r>
            <a:endParaRPr lang="ja-JP" sz="1700" dirty="0"/>
          </a:p>
        </p:txBody>
      </p:sp>
      <p:pic>
        <p:nvPicPr>
          <p:cNvPr id="17" name="Image 4" descr="イメージ図（一般的なイラスト。実在企業の設備ではありません）">    </p:cNvPr>
          <p:cNvPicPr>
            <a:picLocks noChangeAspect="1"/>
          </p:cNvPicPr>
          <p:nvPr/>
        </p:nvPicPr>
        <p:blipFill>
          <a:blip r:embed="rId5"/>
          <a:stretch>
            <a:fillRect/>
          </a:stretch>
        </p:blipFill>
        <p:spPr>
          <a:xfrm>
            <a:off x="9604858" y="1691640"/>
            <a:ext cx="2039112" cy="1645920"/>
          </a:xfrm>
          <a:prstGeom prst="rect">
            <a:avLst/>
          </a:prstGeom>
        </p:spPr>
      </p:pic>
      <p:sp>
        <p:nvSpPr>
          <p:cNvPr id="18" name="Text 10"/>
          <p:cNvSpPr txBox="1"/>
          <p:nvPr/>
        </p:nvSpPr>
        <p:spPr>
          <a:xfrm>
            <a:off x="9604858" y="3493008"/>
            <a:ext cx="2039112" cy="731520"/>
          </a:xfrm>
          <a:prstGeom prst="rect">
            <a:avLst/>
          </a:prstGeom>
          <a:noFill/>
          <a:ln/>
        </p:spPr>
        <p:txBody>
          <a:bodyPr wrap="square" lIns="0" tIns="0" rIns="0" bIns="0" rtlCol="0" anchor="ctr"/>
          <a:lstStyle/>
          <a:p>
            <a:pPr indent="0" marL="0">
              <a:buNone/>
            </a:pPr>
            <a:r>
              <a:rPr lang="ja-JP" altLang="en-US" sz="2000" b="1" dirty="0">
                <a:solidFill>
                  <a:schemeClr val="tx2"/>
                </a:solidFill>
              </a:rPr>
              <a:t>多様な仕事がある</a:t>
            </a:r>
            <a:endParaRPr lang="ja-JP" sz="2000" dirty="0"/>
          </a:p>
        </p:txBody>
      </p:sp>
      <p:sp>
        <p:nvSpPr>
          <p:cNvPr id="19" name="Text 11"/>
          <p:cNvSpPr txBox="1"/>
          <p:nvPr/>
        </p:nvSpPr>
        <p:spPr>
          <a:xfrm>
            <a:off x="9604858" y="4251960"/>
            <a:ext cx="2039112" cy="777240"/>
          </a:xfrm>
          <a:prstGeom prst="rect">
            <a:avLst/>
          </a:prstGeom>
          <a:noFill/>
          <a:ln/>
        </p:spPr>
        <p:txBody>
          <a:bodyPr wrap="square" lIns="0" tIns="0" rIns="0" bIns="0" rtlCol="0" anchor="t"/>
          <a:lstStyle/>
          <a:p>
            <a:pPr indent="0" marL="0">
              <a:buNone/>
            </a:pPr>
            <a:r>
              <a:rPr lang="ja-JP" altLang="en-US" sz="1700" b="1" dirty="0">
                <a:solidFill>
                  <a:schemeClr val="accent1"/>
                </a:solidFill>
              </a:rPr>
              <a:t>研究・生産・営業・</a:t>
            </a:r>
            <a:endParaRPr lang="ja-JP" sz="1700" dirty="0"/>
          </a:p>
          <a:p>
            <a:pPr indent="0" marL="0">
              <a:buNone/>
            </a:pPr>
            <a:r>
              <a:rPr lang="ja-JP" altLang="en-US" sz="1700" b="1" dirty="0">
                <a:solidFill>
                  <a:schemeClr val="accent1"/>
                </a:solidFill>
              </a:rPr>
              <a:t>調達・企画</a:t>
            </a:r>
            <a:endParaRPr lang="ja-JP" sz="1700" dirty="0"/>
          </a:p>
        </p:txBody>
      </p:sp>
      <p:sp>
        <p:nvSpPr>
          <p:cNvPr id="20" name="Shape 12"/>
          <p:cNvSpPr/>
          <p:nvPr/>
        </p:nvSpPr>
        <p:spPr>
          <a:xfrm>
            <a:off x="548640" y="5257800"/>
            <a:ext cx="11091672" cy="640080"/>
          </a:xfrm>
          <a:prstGeom prst="roundRect">
            <a:avLst>
              <a:gd name="adj" fmla="val 17143"/>
            </a:avLst>
          </a:prstGeom>
          <a:solidFill>
            <a:schemeClr val="bg2"/>
          </a:solidFill>
          <a:ln/>
        </p:spPr>
      </p:sp>
      <p:pic>
        <p:nvPicPr>
          <p:cNvPr id="21" name="Image 5" descr="TbHandClick">    </p:cNvPr>
          <p:cNvPicPr>
            <a:picLocks noChangeAspect="1"/>
          </p:cNvPicPr>
          <p:nvPr/>
        </p:nvPicPr>
        <p:blipFill>
          <a:blip r:embed="rId6"/>
          <a:stretch>
            <a:fillRect/>
          </a:stretch>
        </p:blipFill>
        <p:spPr>
          <a:xfrm>
            <a:off x="777240" y="5358384"/>
            <a:ext cx="438912" cy="438912"/>
          </a:xfrm>
          <a:prstGeom prst="rect">
            <a:avLst/>
          </a:prstGeom>
        </p:spPr>
      </p:pic>
      <p:sp>
        <p:nvSpPr>
          <p:cNvPr id="22" name="Text 13"/>
          <p:cNvSpPr txBox="1"/>
          <p:nvPr/>
        </p:nvSpPr>
        <p:spPr>
          <a:xfrm>
            <a:off x="1371600" y="5257800"/>
            <a:ext cx="10058400" cy="640080"/>
          </a:xfrm>
          <a:prstGeom prst="rect">
            <a:avLst/>
          </a:prstGeom>
          <a:noFill/>
          <a:ln/>
        </p:spPr>
        <p:txBody>
          <a:bodyPr wrap="square" lIns="0" tIns="0" rIns="0" bIns="0" rtlCol="0" anchor="ctr"/>
          <a:lstStyle/>
          <a:p>
            <a:pPr indent="0" marL="0">
              <a:buNone/>
            </a:pPr>
            <a:r>
              <a:rPr lang="ja-JP" altLang="en-US" sz="2200" b="1" dirty="0">
                <a:solidFill>
                  <a:schemeClr val="tx2"/>
                </a:solidFill>
              </a:rPr>
              <a:t>あなたが一番惹かれた入口は、どれ？</a:t>
            </a:r>
            <a:endParaRPr lang="ja-JP" sz="2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05｜金属業界の魅力を発見する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魅力があることと、伝わることは違う</a:t>
            </a:r>
            <a:endParaRPr lang="en-US" sz="3000" dirty="0"/>
          </a:p>
        </p:txBody>
      </p:sp>
      <p:sp>
        <p:nvSpPr>
          <p:cNvPr id="5" name="Text 2"/>
          <p:cNvSpPr txBox="1"/>
          <p:nvPr/>
        </p:nvSpPr>
        <p:spPr>
          <a:xfrm>
            <a:off x="548640" y="1600200"/>
            <a:ext cx="11091672" cy="548640"/>
          </a:xfrm>
          <a:prstGeom prst="rect">
            <a:avLst/>
          </a:prstGeom>
          <a:noFill/>
          <a:ln/>
        </p:spPr>
        <p:txBody>
          <a:bodyPr wrap="square" lIns="0" tIns="0" rIns="0" bIns="0" rtlCol="0" anchor="ctr"/>
          <a:lstStyle/>
          <a:p>
            <a:pPr indent="0" marL="0">
              <a:buNone/>
            </a:pPr>
            <a:r>
              <a:rPr lang="ja-JP" altLang="en-US" sz="2400" b="1" dirty="0">
                <a:solidFill>
                  <a:schemeClr val="tx2"/>
                </a:solidFill>
              </a:rPr>
              <a:t>金属業界を知らない人に、何を見せたら興味が生まれる？</a:t>
            </a:r>
            <a:endParaRPr lang="ja-JP" sz="2400" dirty="0"/>
          </a:p>
        </p:txBody>
      </p:sp>
      <p:sp>
        <p:nvSpPr>
          <p:cNvPr id="6" name="Text 3"/>
          <p:cNvSpPr txBox="1"/>
          <p:nvPr/>
        </p:nvSpPr>
        <p:spPr>
          <a:xfrm>
            <a:off x="548640" y="2286000"/>
            <a:ext cx="2103120" cy="347472"/>
          </a:xfrm>
          <a:prstGeom prst="rect">
            <a:avLst/>
          </a:prstGeom>
          <a:noFill/>
          <a:ln/>
        </p:spPr>
        <p:txBody>
          <a:bodyPr wrap="square" lIns="0" tIns="0" rIns="0" bIns="0" rtlCol="0" anchor="t"/>
          <a:lstStyle/>
          <a:p>
            <a:pPr algn="ctr" indent="0" marL="0">
              <a:buNone/>
            </a:pPr>
            <a:r>
              <a:rPr lang="ja-JP" altLang="en-US" sz="1600" b="1" dirty="0">
                <a:solidFill>
                  <a:schemeClr val="accent1"/>
                </a:solidFill>
              </a:rPr>
              <a:t>知らない</a:t>
            </a:r>
            <a:endParaRPr lang="ja-JP" sz="1600" dirty="0"/>
          </a:p>
        </p:txBody>
      </p:sp>
      <p:sp>
        <p:nvSpPr>
          <p:cNvPr id="7" name="Text 4"/>
          <p:cNvSpPr txBox="1"/>
          <p:nvPr/>
        </p:nvSpPr>
        <p:spPr>
          <a:xfrm>
            <a:off x="3063240" y="2286000"/>
            <a:ext cx="2011680" cy="347472"/>
          </a:xfrm>
          <a:prstGeom prst="rect">
            <a:avLst/>
          </a:prstGeom>
          <a:noFill/>
          <a:ln/>
        </p:spPr>
        <p:txBody>
          <a:bodyPr wrap="square" lIns="0" tIns="0" rIns="0" bIns="0" rtlCol="0" anchor="t"/>
          <a:lstStyle/>
          <a:p>
            <a:pPr algn="ctr" indent="0" marL="0">
              <a:buNone/>
            </a:pPr>
            <a:r>
              <a:rPr lang="ja-JP" altLang="en-US" sz="1600" b="1" dirty="0">
                <a:solidFill>
                  <a:schemeClr val="accent1"/>
                </a:solidFill>
              </a:rPr>
              <a:t>身近な接点</a:t>
            </a:r>
            <a:endParaRPr lang="ja-JP" sz="1600" dirty="0"/>
          </a:p>
        </p:txBody>
      </p:sp>
      <p:sp>
        <p:nvSpPr>
          <p:cNvPr id="8" name="Text 5"/>
          <p:cNvSpPr txBox="1"/>
          <p:nvPr/>
        </p:nvSpPr>
        <p:spPr>
          <a:xfrm>
            <a:off x="5440680" y="2286000"/>
            <a:ext cx="4206240" cy="347472"/>
          </a:xfrm>
          <a:prstGeom prst="rect">
            <a:avLst/>
          </a:prstGeom>
          <a:noFill/>
          <a:ln/>
        </p:spPr>
        <p:txBody>
          <a:bodyPr wrap="square" lIns="0" tIns="0" rIns="0" bIns="0" rtlCol="0" anchor="t"/>
          <a:lstStyle/>
          <a:p>
            <a:pPr algn="ctr" indent="0" marL="0">
              <a:buNone/>
            </a:pPr>
            <a:r>
              <a:rPr lang="ja-JP" altLang="en-US" sz="1600" b="1" dirty="0">
                <a:solidFill>
                  <a:schemeClr val="accent1"/>
                </a:solidFill>
              </a:rPr>
              <a:t>驚く体験</a:t>
            </a:r>
            <a:endParaRPr lang="ja-JP" sz="1600" dirty="0"/>
          </a:p>
        </p:txBody>
      </p:sp>
      <p:sp>
        <p:nvSpPr>
          <p:cNvPr id="9" name="Text 6"/>
          <p:cNvSpPr txBox="1"/>
          <p:nvPr/>
        </p:nvSpPr>
        <p:spPr>
          <a:xfrm>
            <a:off x="9692640" y="2286000"/>
            <a:ext cx="1947672" cy="347472"/>
          </a:xfrm>
          <a:prstGeom prst="rect">
            <a:avLst/>
          </a:prstGeom>
          <a:noFill/>
          <a:ln/>
        </p:spPr>
        <p:txBody>
          <a:bodyPr wrap="square" lIns="0" tIns="0" rIns="0" bIns="0" rtlCol="0" anchor="t"/>
          <a:lstStyle/>
          <a:p>
            <a:pPr algn="ctr" indent="0" marL="0">
              <a:buNone/>
            </a:pPr>
            <a:r>
              <a:rPr lang="ja-JP" altLang="en-US" sz="1600" b="1" dirty="0">
                <a:solidFill>
                  <a:schemeClr val="accent1"/>
                </a:solidFill>
              </a:rPr>
              <a:t>もっと調べたい</a:t>
            </a:r>
            <a:endParaRPr lang="ja-JP" sz="1600" dirty="0"/>
          </a:p>
        </p:txBody>
      </p:sp>
      <p:sp>
        <p:nvSpPr>
          <p:cNvPr id="10" name="Text 7"/>
          <p:cNvSpPr txBox="1"/>
          <p:nvPr/>
        </p:nvSpPr>
        <p:spPr>
          <a:xfrm>
            <a:off x="548640" y="2697480"/>
            <a:ext cx="2103120" cy="777240"/>
          </a:xfrm>
          <a:prstGeom prst="wedgeRoundRectCallout">
            <a:avLst/>
          </a:prstGeom>
          <a:solidFill>
            <a:schemeClr val="bg2"/>
          </a:solidFill>
          <a:ln w="12700">
            <a:solidFill>
              <a:schemeClr val="accent5"/>
            </a:solidFill>
          </a:ln>
        </p:spPr>
        <p:txBody>
          <a:bodyPr wrap="square" lIns="0" tIns="0" rIns="0" bIns="0" rtlCol="0" anchor="ctr"/>
          <a:lstStyle/>
          <a:p>
            <a:pPr algn="ctr" indent="0" marL="0">
              <a:buNone/>
            </a:pPr>
            <a:r>
              <a:rPr lang="ja-JP" altLang="en-US" sz="1600" b="1" dirty="0">
                <a:solidFill>
                  <a:schemeClr val="tx2"/>
                </a:solidFill>
              </a:rPr>
              <a:t>金属って</a:t>
            </a:r>
            <a:endParaRPr lang="ja-JP" sz="1600" dirty="0"/>
          </a:p>
          <a:p>
            <a:pPr algn="ctr" indent="0" marL="0">
              <a:buNone/>
            </a:pPr>
            <a:r>
              <a:rPr lang="ja-JP" altLang="en-US" sz="1600" b="1" dirty="0">
                <a:solidFill>
                  <a:schemeClr val="tx2"/>
                </a:solidFill>
              </a:rPr>
              <a:t>よく分からない</a:t>
            </a:r>
            <a:endParaRPr lang="ja-JP" sz="1600" dirty="0"/>
          </a:p>
        </p:txBody>
      </p:sp>
      <p:sp>
        <p:nvSpPr>
          <p:cNvPr id="11" name="Shape 8"/>
          <p:cNvSpPr/>
          <p:nvPr/>
        </p:nvSpPr>
        <p:spPr>
          <a:xfrm>
            <a:off x="1097280" y="3703320"/>
            <a:ext cx="1005840" cy="1005840"/>
          </a:xfrm>
          <a:prstGeom prst="ellipse">
            <a:avLst/>
          </a:prstGeom>
          <a:solidFill>
            <a:schemeClr val="bg2"/>
          </a:solidFill>
          <a:ln/>
        </p:spPr>
      </p:sp>
      <p:pic>
        <p:nvPicPr>
          <p:cNvPr id="12" name="Image 0" descr="TbUser">    </p:cNvPr>
          <p:cNvPicPr>
            <a:picLocks noChangeAspect="1"/>
          </p:cNvPicPr>
          <p:nvPr/>
        </p:nvPicPr>
        <p:blipFill>
          <a:blip r:embed="rId1"/>
          <a:stretch>
            <a:fillRect/>
          </a:stretch>
        </p:blipFill>
        <p:spPr>
          <a:xfrm>
            <a:off x="1318565" y="3924605"/>
            <a:ext cx="563270" cy="563270"/>
          </a:xfrm>
          <a:prstGeom prst="rect">
            <a:avLst/>
          </a:prstGeom>
        </p:spPr>
      </p:pic>
      <p:pic>
        <p:nvPicPr>
          <p:cNvPr id="13" name="Image 1" descr="イメージ図（一般的なイラスト。実在企業の設備ではありません）">    </p:cNvPr>
          <p:cNvPicPr>
            <a:picLocks noChangeAspect="1"/>
          </p:cNvPicPr>
          <p:nvPr/>
        </p:nvPicPr>
        <p:blipFill>
          <a:blip r:embed="rId2"/>
          <a:stretch>
            <a:fillRect/>
          </a:stretch>
        </p:blipFill>
        <p:spPr>
          <a:xfrm>
            <a:off x="3063240" y="2697480"/>
            <a:ext cx="2011680" cy="1508760"/>
          </a:xfrm>
          <a:prstGeom prst="rect">
            <a:avLst/>
          </a:prstGeom>
        </p:spPr>
      </p:pic>
      <p:sp>
        <p:nvSpPr>
          <p:cNvPr id="14" name="Text 9"/>
          <p:cNvSpPr txBox="1"/>
          <p:nvPr/>
        </p:nvSpPr>
        <p:spPr>
          <a:xfrm>
            <a:off x="3063240" y="4297680"/>
            <a:ext cx="2011680" cy="640080"/>
          </a:xfrm>
          <a:prstGeom prst="rect">
            <a:avLst/>
          </a:prstGeom>
          <a:noFill/>
          <a:ln/>
        </p:spPr>
        <p:txBody>
          <a:bodyPr wrap="square" lIns="0" tIns="0" rIns="0" bIns="0" rtlCol="0" anchor="t"/>
          <a:lstStyle/>
          <a:p>
            <a:pPr algn="ctr" indent="0" marL="0">
              <a:buNone/>
            </a:pPr>
            <a:r>
              <a:rPr lang="ja-JP" altLang="en-US" sz="1600" b="1" dirty="0">
                <a:solidFill>
                  <a:schemeClr val="tx2"/>
                </a:solidFill>
              </a:rPr>
              <a:t>スマホの中の</a:t>
            </a:r>
            <a:endParaRPr lang="ja-JP" sz="1600" dirty="0"/>
          </a:p>
          <a:p>
            <a:pPr algn="ctr" indent="0" marL="0">
              <a:buNone/>
            </a:pPr>
            <a:r>
              <a:rPr lang="ja-JP" altLang="en-US" sz="1600" b="1" dirty="0">
                <a:solidFill>
                  <a:schemeClr val="tx2"/>
                </a:solidFill>
              </a:rPr>
              <a:t>金属を見る</a:t>
            </a:r>
            <a:endParaRPr lang="ja-JP" sz="1600" dirty="0"/>
          </a:p>
        </p:txBody>
      </p:sp>
      <p:pic>
        <p:nvPicPr>
          <p:cNvPr id="15" name="Image 2" descr="イメージ図（一般的なイラスト。実在企業の設備ではありません）">    </p:cNvPr>
          <p:cNvPicPr>
            <a:picLocks noChangeAspect="1"/>
          </p:cNvPicPr>
          <p:nvPr/>
        </p:nvPicPr>
        <p:blipFill>
          <a:blip r:embed="rId3"/>
          <a:stretch>
            <a:fillRect/>
          </a:stretch>
        </p:blipFill>
        <p:spPr>
          <a:xfrm>
            <a:off x="5440680" y="2697480"/>
            <a:ext cx="2011680" cy="1508760"/>
          </a:xfrm>
          <a:prstGeom prst="rect">
            <a:avLst/>
          </a:prstGeom>
        </p:spPr>
      </p:pic>
      <p:sp>
        <p:nvSpPr>
          <p:cNvPr id="16" name="Text 10"/>
          <p:cNvSpPr txBox="1"/>
          <p:nvPr/>
        </p:nvSpPr>
        <p:spPr>
          <a:xfrm>
            <a:off x="5440680" y="4297680"/>
            <a:ext cx="2011680" cy="640080"/>
          </a:xfrm>
          <a:prstGeom prst="rect">
            <a:avLst/>
          </a:prstGeom>
          <a:noFill/>
          <a:ln/>
        </p:spPr>
        <p:txBody>
          <a:bodyPr wrap="square" lIns="0" tIns="0" rIns="0" bIns="0" rtlCol="0" anchor="t"/>
          <a:lstStyle/>
          <a:p>
            <a:pPr algn="ctr" indent="0" marL="0">
              <a:buNone/>
            </a:pPr>
            <a:r>
              <a:rPr lang="ja-JP" altLang="en-US" sz="1600" b="1" dirty="0">
                <a:solidFill>
                  <a:schemeClr val="tx2"/>
                </a:solidFill>
              </a:rPr>
              <a:t>工場で巨大な</a:t>
            </a:r>
            <a:endParaRPr lang="ja-JP" sz="1600" dirty="0"/>
          </a:p>
          <a:p>
            <a:pPr algn="ctr" indent="0" marL="0">
              <a:buNone/>
            </a:pPr>
            <a:r>
              <a:rPr lang="ja-JP" altLang="en-US" sz="1600" b="1" dirty="0">
                <a:solidFill>
                  <a:schemeClr val="tx2"/>
                </a:solidFill>
              </a:rPr>
              <a:t>鋼板ができる</a:t>
            </a:r>
            <a:endParaRPr lang="ja-JP" sz="1600" dirty="0"/>
          </a:p>
        </p:txBody>
      </p:sp>
      <p:sp>
        <p:nvSpPr>
          <p:cNvPr id="17" name="Shape 11"/>
          <p:cNvSpPr/>
          <p:nvPr/>
        </p:nvSpPr>
        <p:spPr>
          <a:xfrm>
            <a:off x="7635240" y="2697480"/>
            <a:ext cx="2011680" cy="1508760"/>
          </a:xfrm>
          <a:prstGeom prst="roundRect">
            <a:avLst>
              <a:gd name="adj" fmla="val 8485"/>
            </a:avLst>
          </a:prstGeom>
          <a:solidFill>
            <a:schemeClr val="tx2"/>
          </a:solidFill>
          <a:ln/>
        </p:spPr>
      </p:sp>
      <p:pic>
        <p:nvPicPr>
          <p:cNvPr id="18" name="Image 3" descr="TbMicroscope">    </p:cNvPr>
          <p:cNvPicPr>
            <a:picLocks noChangeAspect="1"/>
          </p:cNvPicPr>
          <p:nvPr/>
        </p:nvPicPr>
        <p:blipFill>
          <a:blip r:embed="rId4"/>
          <a:stretch>
            <a:fillRect/>
          </a:stretch>
        </p:blipFill>
        <p:spPr>
          <a:xfrm>
            <a:off x="8229600" y="3017520"/>
            <a:ext cx="822960" cy="822960"/>
          </a:xfrm>
          <a:prstGeom prst="rect">
            <a:avLst/>
          </a:prstGeom>
        </p:spPr>
      </p:pic>
      <p:sp>
        <p:nvSpPr>
          <p:cNvPr id="19" name="Text 12"/>
          <p:cNvSpPr txBox="1"/>
          <p:nvPr/>
        </p:nvSpPr>
        <p:spPr>
          <a:xfrm>
            <a:off x="7635240" y="4297680"/>
            <a:ext cx="2011680" cy="640080"/>
          </a:xfrm>
          <a:prstGeom prst="rect">
            <a:avLst/>
          </a:prstGeom>
          <a:noFill/>
          <a:ln/>
        </p:spPr>
        <p:txBody>
          <a:bodyPr wrap="square" lIns="0" tIns="0" rIns="0" bIns="0" rtlCol="0" anchor="t"/>
          <a:lstStyle/>
          <a:p>
            <a:pPr algn="ctr" indent="0" marL="0">
              <a:buNone/>
            </a:pPr>
            <a:r>
              <a:rPr lang="ja-JP" altLang="en-US" sz="1600" b="1" dirty="0">
                <a:solidFill>
                  <a:schemeClr val="tx2"/>
                </a:solidFill>
              </a:rPr>
              <a:t>研究者の開発</a:t>
            </a:r>
            <a:endParaRPr lang="ja-JP" sz="1600" dirty="0"/>
          </a:p>
          <a:p>
            <a:pPr algn="ctr" indent="0" marL="0">
              <a:buNone/>
            </a:pPr>
            <a:r>
              <a:rPr lang="ja-JP" altLang="en-US" sz="1600" b="1" dirty="0">
                <a:solidFill>
                  <a:schemeClr val="tx2"/>
                </a:solidFill>
              </a:rPr>
              <a:t>ストーリーを聞く</a:t>
            </a:r>
            <a:endParaRPr lang="ja-JP" sz="1600" dirty="0"/>
          </a:p>
        </p:txBody>
      </p:sp>
      <p:sp>
        <p:nvSpPr>
          <p:cNvPr id="20" name="Shape 13"/>
          <p:cNvSpPr/>
          <p:nvPr/>
        </p:nvSpPr>
        <p:spPr>
          <a:xfrm>
            <a:off x="2697480" y="3273552"/>
            <a:ext cx="320040" cy="365760"/>
          </a:xfrm>
          <a:prstGeom prst="rightArrow">
            <a:avLst/>
          </a:prstGeom>
          <a:solidFill>
            <a:schemeClr val="accent5"/>
          </a:solidFill>
          <a:ln/>
        </p:spPr>
      </p:sp>
      <p:sp>
        <p:nvSpPr>
          <p:cNvPr id="21" name="Shape 14"/>
          <p:cNvSpPr/>
          <p:nvPr/>
        </p:nvSpPr>
        <p:spPr>
          <a:xfrm>
            <a:off x="5102352" y="3273552"/>
            <a:ext cx="310896" cy="365760"/>
          </a:xfrm>
          <a:prstGeom prst="rightArrow">
            <a:avLst/>
          </a:prstGeom>
          <a:solidFill>
            <a:schemeClr val="accent5"/>
          </a:solidFill>
          <a:ln/>
        </p:spPr>
      </p:sp>
      <p:sp>
        <p:nvSpPr>
          <p:cNvPr id="22" name="Shape 15"/>
          <p:cNvSpPr/>
          <p:nvPr/>
        </p:nvSpPr>
        <p:spPr>
          <a:xfrm>
            <a:off x="9829800" y="2697480"/>
            <a:ext cx="1810512" cy="1508760"/>
          </a:xfrm>
          <a:prstGeom prst="roundRect">
            <a:avLst>
              <a:gd name="adj" fmla="val 8485"/>
            </a:avLst>
          </a:prstGeom>
          <a:solidFill>
            <a:schemeClr val="accent3"/>
          </a:solidFill>
          <a:ln/>
          <a:effectLst>
            <a:outerShdw sx="100000" sy="100000" kx="0" ky="0" algn="bl" rotWithShape="0" blurRad="101600" dist="25400" dir="5400000">
              <a:srgbClr val="12243A">
                <a:alpha val="14000"/>
              </a:srgbClr>
            </a:outerShdw>
          </a:effectLst>
        </p:spPr>
      </p:sp>
      <p:pic>
        <p:nvPicPr>
          <p:cNvPr id="23" name="Image 4" descr="TbSparkles">    </p:cNvPr>
          <p:cNvPicPr>
            <a:picLocks noChangeAspect="1"/>
          </p:cNvPicPr>
          <p:nvPr/>
        </p:nvPicPr>
        <p:blipFill>
          <a:blip r:embed="rId5"/>
          <a:stretch>
            <a:fillRect/>
          </a:stretch>
        </p:blipFill>
        <p:spPr>
          <a:xfrm>
            <a:off x="10460736" y="2852928"/>
            <a:ext cx="548640" cy="548640"/>
          </a:xfrm>
          <a:prstGeom prst="rect">
            <a:avLst/>
          </a:prstGeom>
        </p:spPr>
      </p:pic>
      <p:sp>
        <p:nvSpPr>
          <p:cNvPr id="24" name="Text 16"/>
          <p:cNvSpPr txBox="1"/>
          <p:nvPr/>
        </p:nvSpPr>
        <p:spPr>
          <a:xfrm>
            <a:off x="9829800" y="3429000"/>
            <a:ext cx="1810512" cy="731520"/>
          </a:xfrm>
          <a:prstGeom prst="rect">
            <a:avLst/>
          </a:prstGeom>
          <a:noFill/>
          <a:ln/>
        </p:spPr>
        <p:txBody>
          <a:bodyPr wrap="square" lIns="0" tIns="0" rIns="0" bIns="0" rtlCol="0" anchor="ctr"/>
          <a:lstStyle/>
          <a:p>
            <a:pPr algn="ctr" indent="0" marL="0">
              <a:buNone/>
            </a:pPr>
            <a:r>
              <a:rPr lang="ja-JP" altLang="en-US" sz="2000" b="1" dirty="0">
                <a:solidFill>
                  <a:schemeClr val="tx2"/>
                </a:solidFill>
              </a:rPr>
              <a:t>もっと</a:t>
            </a:r>
            <a:endParaRPr lang="ja-JP" sz="2000" dirty="0"/>
          </a:p>
          <a:p>
            <a:pPr algn="ctr" indent="0" marL="0">
              <a:buNone/>
            </a:pPr>
            <a:r>
              <a:rPr lang="ja-JP" altLang="en-US" sz="2000" b="1" dirty="0">
                <a:solidFill>
                  <a:schemeClr val="tx2"/>
                </a:solidFill>
              </a:rPr>
              <a:t>知りたい！</a:t>
            </a:r>
            <a:endParaRPr lang="ja-JP" sz="2000" dirty="0"/>
          </a:p>
        </p:txBody>
      </p:sp>
      <p:sp>
        <p:nvSpPr>
          <p:cNvPr id="25" name="Shape 17"/>
          <p:cNvSpPr/>
          <p:nvPr/>
        </p:nvSpPr>
        <p:spPr>
          <a:xfrm>
            <a:off x="548640" y="5074920"/>
            <a:ext cx="11091672" cy="777240"/>
          </a:xfrm>
          <a:prstGeom prst="roundRect">
            <a:avLst>
              <a:gd name="adj" fmla="val 16471"/>
            </a:avLst>
          </a:prstGeom>
          <a:solidFill>
            <a:schemeClr val="tx2"/>
          </a:solidFill>
          <a:ln/>
        </p:spPr>
      </p:sp>
      <p:sp>
        <p:nvSpPr>
          <p:cNvPr id="26" name="Text 18"/>
          <p:cNvSpPr txBox="1"/>
          <p:nvPr/>
        </p:nvSpPr>
        <p:spPr>
          <a:xfrm>
            <a:off x="822960" y="5074920"/>
            <a:ext cx="10607040" cy="777240"/>
          </a:xfrm>
          <a:prstGeom prst="rect">
            <a:avLst/>
          </a:prstGeom>
          <a:noFill/>
          <a:ln/>
        </p:spPr>
        <p:txBody>
          <a:bodyPr wrap="square" lIns="0" tIns="0" rIns="0" bIns="0" rtlCol="0" anchor="ctr"/>
          <a:lstStyle/>
          <a:p>
            <a:pPr algn="ctr" indent="0" marL="0">
              <a:buNone/>
            </a:pPr>
            <a:r>
              <a:rPr lang="ja-JP" altLang="en-US" sz="2600" b="1" dirty="0">
                <a:solidFill>
                  <a:schemeClr val="bg1"/>
                </a:solidFill>
              </a:rPr>
              <a:t>大切なのは</a:t>
            </a:r>
            <a:pPr algn="ctr" indent="0" marL="0">
              <a:buNone/>
            </a:pPr>
            <a:r>
              <a:rPr lang="ja-JP" altLang="en-US" sz="2600" b="1" dirty="0">
                <a:solidFill>
                  <a:schemeClr val="accent3"/>
                </a:solidFill>
              </a:rPr>
              <a:t>「誰に」「何を」「どう見せるか」</a:t>
            </a:r>
            <a:pPr algn="ctr" indent="0" marL="0">
              <a:buNone/>
            </a:pPr>
            <a:r>
              <a:rPr lang="ja-JP" altLang="en-US" sz="2600" b="1" dirty="0">
                <a:solidFill>
                  <a:schemeClr val="bg1"/>
                </a:solidFill>
              </a:rPr>
              <a:t>。</a:t>
            </a:r>
            <a:endParaRPr lang="ja-JP" sz="26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669280" cy="292608"/>
          </a:xfrm>
          <a:prstGeom prst="rect">
            <a:avLst/>
          </a:prstGeom>
          <a:noFill/>
          <a:ln/>
        </p:spPr>
        <p:txBody>
          <a:bodyPr wrap="square" lIns="0" tIns="0" rIns="0" bIns="0" rtlCol="0" anchor="ctr"/>
          <a:lstStyle/>
          <a:p>
            <a:pPr indent="0" marL="0">
              <a:buNone/>
            </a:pPr>
            <a:r>
              <a:rPr lang="en-US" sz="1400" b="1" dirty="0">
                <a:solidFill>
                  <a:schemeClr val="accent2"/>
                </a:solidFill>
              </a:rPr>
              <a:t>CHAPTER 06｜メインGD：金属業界の魅力をどう伝える？</a:t>
            </a:r>
            <a:endParaRPr lang="en-US" sz="1400" dirty="0"/>
          </a:p>
        </p:txBody>
      </p:sp>
      <p:sp>
        <p:nvSpPr>
          <p:cNvPr id="3" name="Text 0"/>
          <p:cNvSpPr/>
          <p:nvPr>
            <p:ph idx="101" type="title" hasCustomPrompt="1"/>
          </p:nvPr>
        </p:nvSpPr>
        <p:spPr>
          <a:xfrm>
            <a:off x="548640" y="868680"/>
            <a:ext cx="5577840" cy="1783080"/>
          </a:xfrm>
          <a:prstGeom prst="rect">
            <a:avLst/>
          </a:prstGeom>
          <a:noFill/>
          <a:ln/>
        </p:spPr>
        <p:txBody>
          <a:bodyPr wrap="square" lIns="0" tIns="0" rIns="0" bIns="0" rtlCol="0" anchor="t"/>
          <a:lstStyle/>
          <a:p>
            <a:pPr algn="l" indent="0" marL="0">
              <a:buNone/>
            </a:pPr>
            <a:r>
              <a:rPr lang="en-US" sz="2600" b="1" dirty="0">
                <a:solidFill>
                  <a:schemeClr val="bg1"/>
                </a:solidFill>
              </a:rPr>
              <a:t>メインGD｜金属業界を知らない</a:t>
            </a:r>
            <a:endParaRPr lang="en-US" sz="2600" dirty="0"/>
          </a:p>
          <a:p>
            <a:pPr algn="l" indent="0" marL="0">
              <a:buNone/>
            </a:pPr>
            <a:r>
              <a:rPr lang="en-US" sz="2600" b="1" dirty="0">
                <a:solidFill>
                  <a:schemeClr val="bg1"/>
                </a:solidFill>
              </a:rPr>
              <a:t>大学生に、どうすれば</a:t>
            </a:r>
            <a:endParaRPr lang="en-US" sz="2600" dirty="0"/>
          </a:p>
          <a:p>
            <a:pPr algn="l" indent="0" marL="0">
              <a:buNone/>
            </a:pPr>
            <a:r>
              <a:rPr lang="en-US" sz="2600" b="1" dirty="0">
                <a:solidFill>
                  <a:schemeClr val="bg1"/>
                </a:solidFill>
              </a:rPr>
              <a:t>「もっと知りたい！」と</a:t>
            </a:r>
            <a:endParaRPr lang="en-US" sz="2600" dirty="0"/>
          </a:p>
          <a:p>
            <a:pPr algn="l" indent="0" marL="0">
              <a:buNone/>
            </a:pPr>
            <a:r>
              <a:rPr lang="en-US" sz="2600" b="1" dirty="0">
                <a:solidFill>
                  <a:schemeClr val="bg1"/>
                </a:solidFill>
              </a:rPr>
              <a:t>思ってもらえる？</a:t>
            </a:r>
            <a:endParaRPr lang="en-US" sz="2600" dirty="0"/>
          </a:p>
        </p:txBody>
      </p:sp>
      <p:pic>
        <p:nvPicPr>
          <p:cNvPr id="5" name="Image 0" descr="イメージ図（一般的なイラスト。実在企業の設備ではありません）">    </p:cNvPr>
          <p:cNvPicPr>
            <a:picLocks noChangeAspect="1"/>
          </p:cNvPicPr>
          <p:nvPr/>
        </p:nvPicPr>
        <p:blipFill>
          <a:blip r:embed="rId1"/>
          <a:stretch>
            <a:fillRect/>
          </a:stretch>
        </p:blipFill>
        <p:spPr>
          <a:xfrm>
            <a:off x="6446520" y="0"/>
            <a:ext cx="5742432" cy="6858000"/>
          </a:xfrm>
          <a:prstGeom prst="rect">
            <a:avLst/>
          </a:prstGeom>
        </p:spPr>
      </p:pic>
      <p:sp>
        <p:nvSpPr>
          <p:cNvPr id="6" name="Text 2"/>
          <p:cNvSpPr txBox="1"/>
          <p:nvPr/>
        </p:nvSpPr>
        <p:spPr>
          <a:xfrm>
            <a:off x="548640" y="2880360"/>
            <a:ext cx="1417320" cy="411480"/>
          </a:xfrm>
          <a:prstGeom prst="roundRect">
            <a:avLst>
              <a:gd name="adj" fmla="val 50000"/>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MISSION</a:t>
            </a:r>
            <a:endParaRPr lang="ja-JP" sz="1600" dirty="0"/>
          </a:p>
        </p:txBody>
      </p:sp>
      <p:sp>
        <p:nvSpPr>
          <p:cNvPr id="7" name="Text 3"/>
          <p:cNvSpPr txBox="1"/>
          <p:nvPr/>
        </p:nvSpPr>
        <p:spPr>
          <a:xfrm>
            <a:off x="548640" y="3383280"/>
            <a:ext cx="5623560" cy="777240"/>
          </a:xfrm>
          <a:prstGeom prst="rect">
            <a:avLst/>
          </a:prstGeom>
          <a:noFill/>
          <a:ln/>
        </p:spPr>
        <p:txBody>
          <a:bodyPr wrap="square" lIns="0" tIns="0" rIns="0" bIns="0" rtlCol="0" anchor="t"/>
          <a:lstStyle/>
          <a:p>
            <a:pPr indent="0" marL="0">
              <a:buNone/>
            </a:pPr>
            <a:r>
              <a:rPr lang="ja-JP" altLang="en-US" sz="2100" b="1" dirty="0">
                <a:solidFill>
                  <a:schemeClr val="bg1"/>
                </a:solidFill>
              </a:rPr>
              <a:t>金属業界の面白さを学生に伝える企画をつくる</a:t>
            </a:r>
            <a:endParaRPr lang="ja-JP" sz="2100" dirty="0"/>
          </a:p>
        </p:txBody>
      </p:sp>
      <p:sp>
        <p:nvSpPr>
          <p:cNvPr id="8" name="Text 4"/>
          <p:cNvSpPr txBox="1"/>
          <p:nvPr/>
        </p:nvSpPr>
        <p:spPr>
          <a:xfrm>
            <a:off x="548640" y="4206240"/>
            <a:ext cx="5623560" cy="777240"/>
          </a:xfrm>
          <a:prstGeom prst="rect">
            <a:avLst/>
          </a:prstGeom>
          <a:noFill/>
          <a:ln/>
        </p:spPr>
        <p:txBody>
          <a:bodyPr wrap="square" lIns="0" tIns="0" rIns="0" bIns="0" rtlCol="0" anchor="t"/>
          <a:lstStyle/>
          <a:p>
            <a:pPr indent="0" marL="0">
              <a:buNone/>
            </a:pPr>
            <a:r>
              <a:rPr lang="ja-JP" altLang="en-US" sz="1800" b="1" dirty="0">
                <a:solidFill>
                  <a:schemeClr val="accent3"/>
                </a:solidFill>
              </a:rPr>
              <a:t>ゴール：</a:t>
            </a:r>
            <a:pPr indent="0" marL="0">
              <a:buNone/>
            </a:pPr>
            <a:r>
              <a:rPr lang="ja-JP" altLang="en-US" sz="1800" b="1" dirty="0">
                <a:solidFill>
                  <a:schemeClr val="accent2"/>
                </a:solidFill>
              </a:rPr>
              <a:t>就職させることではなく、「調べてみたい」と思ってもらうこと</a:t>
            </a:r>
            <a:endParaRPr lang="ja-JP" sz="1800" dirty="0"/>
          </a:p>
        </p:txBody>
      </p:sp>
      <p:sp>
        <p:nvSpPr>
          <p:cNvPr id="9" name="Text 5"/>
          <p:cNvSpPr txBox="1"/>
          <p:nvPr/>
        </p:nvSpPr>
        <p:spPr>
          <a:xfrm>
            <a:off x="548640" y="5166360"/>
            <a:ext cx="1783080" cy="777240"/>
          </a:xfrm>
          <a:prstGeom prst="roundRect">
            <a:avLst>
              <a:gd name="adj" fmla="val 16471"/>
            </a:avLst>
          </a:prstGeom>
          <a:solidFill>
            <a:schemeClr val="tx2"/>
          </a:solidFill>
          <a:ln w="19050">
            <a:solidFill>
              <a:schemeClr val="accent2"/>
            </a:solidFill>
          </a:ln>
        </p:spPr>
        <p:txBody>
          <a:bodyPr wrap="square" lIns="0" tIns="0" rIns="0" bIns="0" rtlCol="0" anchor="ctr"/>
          <a:lstStyle/>
          <a:p>
            <a:pPr algn="ctr" indent="0" marL="0">
              <a:buNone/>
            </a:pPr>
            <a:r>
              <a:rPr lang="ja-JP" altLang="en-US" sz="1600" b="1" dirty="0">
                <a:solidFill>
                  <a:schemeClr val="bg1"/>
                </a:solidFill>
              </a:rPr>
              <a:t>誰に伝える？</a:t>
            </a:r>
            <a:endParaRPr lang="ja-JP" sz="1600" dirty="0"/>
          </a:p>
        </p:txBody>
      </p:sp>
      <p:sp>
        <p:nvSpPr>
          <p:cNvPr id="10" name="Text 6"/>
          <p:cNvSpPr txBox="1"/>
          <p:nvPr/>
        </p:nvSpPr>
        <p:spPr>
          <a:xfrm>
            <a:off x="2450592" y="5166360"/>
            <a:ext cx="1783080" cy="777240"/>
          </a:xfrm>
          <a:prstGeom prst="roundRect">
            <a:avLst>
              <a:gd name="adj" fmla="val 16471"/>
            </a:avLst>
          </a:prstGeom>
          <a:solidFill>
            <a:schemeClr val="tx2"/>
          </a:solidFill>
          <a:ln w="19050">
            <a:solidFill>
              <a:schemeClr val="accent2"/>
            </a:solidFill>
          </a:ln>
        </p:spPr>
        <p:txBody>
          <a:bodyPr wrap="square" lIns="0" tIns="0" rIns="0" bIns="0" rtlCol="0" anchor="ctr"/>
          <a:lstStyle/>
          <a:p>
            <a:pPr algn="ctr" indent="0" marL="0">
              <a:buNone/>
            </a:pPr>
            <a:r>
              <a:rPr lang="ja-JP" altLang="en-US" sz="1600" b="1" dirty="0">
                <a:solidFill>
                  <a:schemeClr val="bg1"/>
                </a:solidFill>
              </a:rPr>
              <a:t>どんな魅力？</a:t>
            </a:r>
            <a:endParaRPr lang="ja-JP" sz="1600" dirty="0"/>
          </a:p>
        </p:txBody>
      </p:sp>
      <p:sp>
        <p:nvSpPr>
          <p:cNvPr id="11" name="Text 7"/>
          <p:cNvSpPr txBox="1"/>
          <p:nvPr/>
        </p:nvSpPr>
        <p:spPr>
          <a:xfrm>
            <a:off x="4352544" y="5166360"/>
            <a:ext cx="1783080" cy="777240"/>
          </a:xfrm>
          <a:prstGeom prst="roundRect">
            <a:avLst>
              <a:gd name="adj" fmla="val 16471"/>
            </a:avLst>
          </a:prstGeom>
          <a:solidFill>
            <a:schemeClr val="tx2"/>
          </a:solidFill>
          <a:ln w="19050">
            <a:solidFill>
              <a:schemeClr val="accent2"/>
            </a:solidFill>
          </a:ln>
        </p:spPr>
        <p:txBody>
          <a:bodyPr wrap="square" lIns="0" tIns="0" rIns="0" bIns="0" rtlCol="0" anchor="ctr"/>
          <a:lstStyle/>
          <a:p>
            <a:pPr algn="ctr" indent="0" marL="0">
              <a:buNone/>
            </a:pPr>
            <a:r>
              <a:rPr lang="ja-JP" altLang="en-US" sz="1600" b="1" dirty="0">
                <a:solidFill>
                  <a:schemeClr val="bg1"/>
                </a:solidFill>
              </a:rPr>
              <a:t>何を体験</a:t>
            </a:r>
            <a:endParaRPr lang="ja-JP" sz="1600" dirty="0"/>
          </a:p>
          <a:p>
            <a:pPr algn="ctr" indent="0" marL="0">
              <a:buNone/>
            </a:pPr>
            <a:r>
              <a:rPr lang="ja-JP" altLang="en-US" sz="1600" b="1" dirty="0">
                <a:solidFill>
                  <a:schemeClr val="bg1"/>
                </a:solidFill>
              </a:rPr>
              <a:t>してもらう？</a:t>
            </a:r>
            <a:endParaRPr lang="ja-JP" sz="1600" dirty="0"/>
          </a:p>
        </p:txBody>
      </p:sp>
      <p:sp>
        <p:nvSpPr>
          <p:cNvPr id="25" name="Slide Number Placeholder 0"/>
          <p:cNvSpPr>
            <a:spLocks noGrp="1"/>
          </p:cNvSpPr>
          <p:nvPr>
            <p:ph type="sldNum" sz="quarter" idx="4294967295"/>
          </p:nvPr>
        </p:nvSpPr>
        <p:spPr>
          <a:xfrm>
            <a:off x="5486400"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A9C4CF"/>
                </a:solidFill>
                <a:latin typeface="Noto Sans CJK JP"/>
                <a:ea typeface="Noto Sans CJK JP"/>
                <a:cs typeface="Noto Sans CJK JP"/>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06｜メインGD：金属業界の魅力をどう伝える？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14分で企画をつくる｜GD進行</a:t>
            </a:r>
            <a:endParaRPr lang="en-US" sz="3000" dirty="0"/>
          </a:p>
        </p:txBody>
      </p:sp>
      <p:sp>
        <p:nvSpPr>
          <p:cNvPr id="5" name="Text 2"/>
          <p:cNvSpPr txBox="1"/>
          <p:nvPr/>
        </p:nvSpPr>
        <p:spPr>
          <a:xfrm>
            <a:off x="502920" y="2267712"/>
            <a:ext cx="365760" cy="274320"/>
          </a:xfrm>
          <a:prstGeom prst="rect">
            <a:avLst/>
          </a:prstGeom>
          <a:noFill/>
          <a:ln/>
        </p:spPr>
        <p:txBody>
          <a:bodyPr wrap="square" lIns="0" tIns="0" rIns="0" bIns="0" rtlCol="0" anchor="t"/>
          <a:lstStyle/>
          <a:p>
            <a:pPr indent="0" marL="0">
              <a:buNone/>
            </a:pPr>
            <a:r>
              <a:rPr lang="ja-JP" altLang="en-US" sz="1400" dirty="0">
                <a:solidFill>
                  <a:schemeClr val="accent4"/>
                </a:solidFill>
              </a:rPr>
              <a:t>0</a:t>
            </a:r>
            <a:endParaRPr lang="ja-JP" sz="1400" dirty="0"/>
          </a:p>
        </p:txBody>
      </p:sp>
      <p:sp>
        <p:nvSpPr>
          <p:cNvPr id="6" name="Text 3"/>
          <p:cNvSpPr txBox="1"/>
          <p:nvPr/>
        </p:nvSpPr>
        <p:spPr>
          <a:xfrm>
            <a:off x="548640" y="1737360"/>
            <a:ext cx="2340211" cy="475488"/>
          </a:xfrm>
          <a:prstGeom prst="rect">
            <a:avLst/>
          </a:prstGeom>
          <a:solidFill>
            <a:schemeClr val="tx2"/>
          </a:solidFill>
          <a:ln/>
        </p:spPr>
        <p:txBody>
          <a:bodyPr wrap="square" lIns="0" tIns="0" rIns="0" bIns="0" rtlCol="0" anchor="ctr"/>
          <a:lstStyle/>
          <a:p>
            <a:pPr algn="ctr" indent="0" marL="0">
              <a:buNone/>
            </a:pPr>
            <a:r>
              <a:rPr lang="ja-JP" altLang="en-US" sz="1600" b="1" dirty="0">
                <a:solidFill>
                  <a:schemeClr val="bg1"/>
                </a:solidFill>
              </a:rPr>
              <a:t>3分</a:t>
            </a:r>
            <a:endParaRPr lang="ja-JP" sz="1600" dirty="0"/>
          </a:p>
        </p:txBody>
      </p:sp>
      <p:sp>
        <p:nvSpPr>
          <p:cNvPr id="7" name="Text 4"/>
          <p:cNvSpPr txBox="1"/>
          <p:nvPr/>
        </p:nvSpPr>
        <p:spPr>
          <a:xfrm>
            <a:off x="2285347" y="2267712"/>
            <a:ext cx="640080" cy="274320"/>
          </a:xfrm>
          <a:prstGeom prst="rect">
            <a:avLst/>
          </a:prstGeom>
          <a:noFill/>
          <a:ln/>
        </p:spPr>
        <p:txBody>
          <a:bodyPr wrap="square" lIns="0" tIns="0" rIns="0" bIns="0" rtlCol="0" anchor="t"/>
          <a:lstStyle/>
          <a:p>
            <a:pPr algn="r" indent="0" marL="0">
              <a:buNone/>
            </a:pPr>
            <a:r>
              <a:rPr lang="ja-JP" altLang="en-US" sz="1400" dirty="0">
                <a:solidFill>
                  <a:schemeClr val="accent4"/>
                </a:solidFill>
              </a:rPr>
              <a:t>3</a:t>
            </a:r>
            <a:endParaRPr lang="ja-JP" sz="1400" dirty="0"/>
          </a:p>
        </p:txBody>
      </p:sp>
      <p:sp>
        <p:nvSpPr>
          <p:cNvPr id="8" name="Text 5"/>
          <p:cNvSpPr txBox="1"/>
          <p:nvPr/>
        </p:nvSpPr>
        <p:spPr>
          <a:xfrm>
            <a:off x="2925427" y="1737360"/>
            <a:ext cx="2340211" cy="475488"/>
          </a:xfrm>
          <a:prstGeom prst="rect">
            <a:avLst/>
          </a:prstGeom>
          <a:solidFill>
            <a:schemeClr val="accent1"/>
          </a:solidFill>
          <a:ln/>
        </p:spPr>
        <p:txBody>
          <a:bodyPr wrap="square" lIns="0" tIns="0" rIns="0" bIns="0" rtlCol="0" anchor="ctr"/>
          <a:lstStyle/>
          <a:p>
            <a:pPr algn="ctr" indent="0" marL="0">
              <a:buNone/>
            </a:pPr>
            <a:r>
              <a:rPr lang="ja-JP" altLang="en-US" sz="1600" b="1" dirty="0">
                <a:solidFill>
                  <a:schemeClr val="bg1"/>
                </a:solidFill>
              </a:rPr>
              <a:t>3分</a:t>
            </a:r>
            <a:endParaRPr lang="ja-JP" sz="1600" dirty="0"/>
          </a:p>
        </p:txBody>
      </p:sp>
      <p:sp>
        <p:nvSpPr>
          <p:cNvPr id="9" name="Text 6"/>
          <p:cNvSpPr txBox="1"/>
          <p:nvPr/>
        </p:nvSpPr>
        <p:spPr>
          <a:xfrm>
            <a:off x="4662134" y="2267712"/>
            <a:ext cx="640080" cy="274320"/>
          </a:xfrm>
          <a:prstGeom prst="rect">
            <a:avLst/>
          </a:prstGeom>
          <a:noFill/>
          <a:ln/>
        </p:spPr>
        <p:txBody>
          <a:bodyPr wrap="square" lIns="0" tIns="0" rIns="0" bIns="0" rtlCol="0" anchor="t"/>
          <a:lstStyle/>
          <a:p>
            <a:pPr algn="r" indent="0" marL="0">
              <a:buNone/>
            </a:pPr>
            <a:r>
              <a:rPr lang="ja-JP" altLang="en-US" sz="1400" dirty="0">
                <a:solidFill>
                  <a:schemeClr val="accent4"/>
                </a:solidFill>
              </a:rPr>
              <a:t>6</a:t>
            </a:r>
            <a:endParaRPr lang="ja-JP" sz="1400" dirty="0"/>
          </a:p>
        </p:txBody>
      </p:sp>
      <p:sp>
        <p:nvSpPr>
          <p:cNvPr id="10" name="Text 7"/>
          <p:cNvSpPr txBox="1"/>
          <p:nvPr/>
        </p:nvSpPr>
        <p:spPr>
          <a:xfrm>
            <a:off x="5302214" y="1737360"/>
            <a:ext cx="3132473" cy="475488"/>
          </a:xfrm>
          <a:prstGeom prst="rect">
            <a:avLst/>
          </a:prstGeom>
          <a:solidFill>
            <a:schemeClr val="tx2"/>
          </a:solidFill>
          <a:ln/>
        </p:spPr>
        <p:txBody>
          <a:bodyPr wrap="square" lIns="0" tIns="0" rIns="0" bIns="0" rtlCol="0" anchor="ctr"/>
          <a:lstStyle/>
          <a:p>
            <a:pPr algn="ctr" indent="0" marL="0">
              <a:buNone/>
            </a:pPr>
            <a:r>
              <a:rPr lang="ja-JP" altLang="en-US" sz="1600" b="1" dirty="0">
                <a:solidFill>
                  <a:schemeClr val="bg1"/>
                </a:solidFill>
              </a:rPr>
              <a:t>4分</a:t>
            </a:r>
            <a:endParaRPr lang="ja-JP" sz="1600" dirty="0"/>
          </a:p>
        </p:txBody>
      </p:sp>
      <p:sp>
        <p:nvSpPr>
          <p:cNvPr id="11" name="Text 8"/>
          <p:cNvSpPr txBox="1"/>
          <p:nvPr/>
        </p:nvSpPr>
        <p:spPr>
          <a:xfrm>
            <a:off x="7831183" y="2267712"/>
            <a:ext cx="640080" cy="274320"/>
          </a:xfrm>
          <a:prstGeom prst="rect">
            <a:avLst/>
          </a:prstGeom>
          <a:noFill/>
          <a:ln/>
        </p:spPr>
        <p:txBody>
          <a:bodyPr wrap="square" lIns="0" tIns="0" rIns="0" bIns="0" rtlCol="0" anchor="t"/>
          <a:lstStyle/>
          <a:p>
            <a:pPr algn="r" indent="0" marL="0">
              <a:buNone/>
            </a:pPr>
            <a:r>
              <a:rPr lang="ja-JP" altLang="en-US" sz="1400" dirty="0">
                <a:solidFill>
                  <a:schemeClr val="accent4"/>
                </a:solidFill>
              </a:rPr>
              <a:t>10</a:t>
            </a:r>
            <a:endParaRPr lang="ja-JP" sz="1400" dirty="0"/>
          </a:p>
        </p:txBody>
      </p:sp>
      <p:sp>
        <p:nvSpPr>
          <p:cNvPr id="12" name="Text 9"/>
          <p:cNvSpPr txBox="1"/>
          <p:nvPr/>
        </p:nvSpPr>
        <p:spPr>
          <a:xfrm>
            <a:off x="8471263" y="1737360"/>
            <a:ext cx="2340211" cy="475488"/>
          </a:xfrm>
          <a:prstGeom prst="rect">
            <a:avLst/>
          </a:prstGeom>
          <a:solidFill>
            <a:schemeClr val="accent1"/>
          </a:solidFill>
          <a:ln/>
        </p:spPr>
        <p:txBody>
          <a:bodyPr wrap="square" lIns="0" tIns="0" rIns="0" bIns="0" rtlCol="0" anchor="ctr"/>
          <a:lstStyle/>
          <a:p>
            <a:pPr algn="ctr" indent="0" marL="0">
              <a:buNone/>
            </a:pPr>
            <a:r>
              <a:rPr lang="ja-JP" altLang="en-US" sz="1600" b="1" dirty="0">
                <a:solidFill>
                  <a:schemeClr val="bg1"/>
                </a:solidFill>
              </a:rPr>
              <a:t>3分</a:t>
            </a:r>
            <a:endParaRPr lang="ja-JP" sz="1600" dirty="0"/>
          </a:p>
        </p:txBody>
      </p:sp>
      <p:sp>
        <p:nvSpPr>
          <p:cNvPr id="13" name="Text 10"/>
          <p:cNvSpPr txBox="1"/>
          <p:nvPr/>
        </p:nvSpPr>
        <p:spPr>
          <a:xfrm>
            <a:off x="10207970" y="2267712"/>
            <a:ext cx="640080" cy="274320"/>
          </a:xfrm>
          <a:prstGeom prst="rect">
            <a:avLst/>
          </a:prstGeom>
          <a:noFill/>
          <a:ln/>
        </p:spPr>
        <p:txBody>
          <a:bodyPr wrap="square" lIns="0" tIns="0" rIns="0" bIns="0" rtlCol="0" anchor="t"/>
          <a:lstStyle/>
          <a:p>
            <a:pPr algn="r" indent="0" marL="0">
              <a:buNone/>
            </a:pPr>
            <a:r>
              <a:rPr lang="ja-JP" altLang="en-US" sz="1400" dirty="0">
                <a:solidFill>
                  <a:schemeClr val="accent4"/>
                </a:solidFill>
              </a:rPr>
              <a:t>13</a:t>
            </a:r>
            <a:endParaRPr lang="ja-JP" sz="1400" dirty="0"/>
          </a:p>
        </p:txBody>
      </p:sp>
      <p:sp>
        <p:nvSpPr>
          <p:cNvPr id="14" name="Text 11"/>
          <p:cNvSpPr txBox="1"/>
          <p:nvPr/>
        </p:nvSpPr>
        <p:spPr>
          <a:xfrm>
            <a:off x="10848050" y="1737360"/>
            <a:ext cx="755686" cy="475488"/>
          </a:xfrm>
          <a:prstGeom prst="rect">
            <a:avLst/>
          </a:prstGeom>
          <a:solidFill>
            <a:schemeClr val="accent3"/>
          </a:solidFill>
          <a:ln/>
        </p:spPr>
        <p:txBody>
          <a:bodyPr wrap="square" lIns="0" tIns="0" rIns="0" bIns="0" rtlCol="0" anchor="ctr"/>
          <a:lstStyle/>
          <a:p>
            <a:pPr algn="ctr" indent="0" marL="0">
              <a:buNone/>
            </a:pPr>
            <a:r>
              <a:rPr lang="ja-JP" altLang="en-US" sz="1600" b="1" dirty="0">
                <a:solidFill>
                  <a:schemeClr val="tx2"/>
                </a:solidFill>
              </a:rPr>
              <a:t>1分</a:t>
            </a:r>
            <a:endParaRPr lang="ja-JP" sz="1600" dirty="0"/>
          </a:p>
        </p:txBody>
      </p:sp>
      <p:sp>
        <p:nvSpPr>
          <p:cNvPr id="15" name="Text 12"/>
          <p:cNvSpPr txBox="1"/>
          <p:nvPr/>
        </p:nvSpPr>
        <p:spPr>
          <a:xfrm>
            <a:off x="11000232" y="2267712"/>
            <a:ext cx="640080" cy="274320"/>
          </a:xfrm>
          <a:prstGeom prst="rect">
            <a:avLst/>
          </a:prstGeom>
          <a:noFill/>
          <a:ln/>
        </p:spPr>
        <p:txBody>
          <a:bodyPr wrap="square" lIns="0" tIns="0" rIns="0" bIns="0" rtlCol="0" anchor="t"/>
          <a:lstStyle/>
          <a:p>
            <a:pPr algn="r" indent="0" marL="0">
              <a:buNone/>
            </a:pPr>
            <a:r>
              <a:rPr lang="ja-JP" altLang="en-US" sz="1400" dirty="0">
                <a:solidFill>
                  <a:schemeClr val="accent4"/>
                </a:solidFill>
              </a:rPr>
              <a:t>14分</a:t>
            </a:r>
            <a:endParaRPr lang="ja-JP" sz="1400" dirty="0"/>
          </a:p>
        </p:txBody>
      </p:sp>
      <p:sp>
        <p:nvSpPr>
          <p:cNvPr id="16" name="Shape 13"/>
          <p:cNvSpPr/>
          <p:nvPr/>
        </p:nvSpPr>
        <p:spPr>
          <a:xfrm>
            <a:off x="548640" y="2743200"/>
            <a:ext cx="2075688" cy="2057400"/>
          </a:xfrm>
          <a:prstGeom prst="roundRect">
            <a:avLst>
              <a:gd name="adj" fmla="val 7111"/>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17" name="Text 14"/>
          <p:cNvSpPr txBox="1"/>
          <p:nvPr/>
        </p:nvSpPr>
        <p:spPr>
          <a:xfrm>
            <a:off x="685800" y="2871216"/>
            <a:ext cx="502920" cy="502920"/>
          </a:xfrm>
          <a:prstGeom prst="ellipse">
            <a:avLst/>
          </a:prstGeom>
          <a:solidFill>
            <a:schemeClr val="tx2"/>
          </a:solidFill>
          <a:ln/>
        </p:spPr>
        <p:txBody>
          <a:bodyPr wrap="square" lIns="0" tIns="0" rIns="0" bIns="0" rtlCol="0" anchor="ctr"/>
          <a:lstStyle/>
          <a:p>
            <a:pPr algn="ctr" indent="0" marL="0">
              <a:buNone/>
            </a:pPr>
            <a:r>
              <a:rPr lang="ja-JP" altLang="en-US" sz="1800" b="1" dirty="0">
                <a:solidFill>
                  <a:schemeClr val="bg1"/>
                </a:solidFill>
              </a:rPr>
              <a:t>①</a:t>
            </a:r>
            <a:endParaRPr lang="ja-JP" sz="1800" dirty="0"/>
          </a:p>
        </p:txBody>
      </p:sp>
      <p:sp>
        <p:nvSpPr>
          <p:cNvPr id="18" name="Text 15"/>
          <p:cNvSpPr txBox="1"/>
          <p:nvPr/>
        </p:nvSpPr>
        <p:spPr>
          <a:xfrm>
            <a:off x="1280160" y="2871216"/>
            <a:ext cx="1234440" cy="502920"/>
          </a:xfrm>
          <a:prstGeom prst="rect">
            <a:avLst/>
          </a:prstGeom>
          <a:noFill/>
          <a:ln/>
        </p:spPr>
        <p:txBody>
          <a:bodyPr wrap="square" lIns="0" tIns="0" rIns="0" bIns="0" rtlCol="0" anchor="ctr"/>
          <a:lstStyle/>
          <a:p>
            <a:pPr indent="0" marL="0">
              <a:buNone/>
            </a:pPr>
            <a:r>
              <a:rPr lang="ja-JP" altLang="en-US" sz="1600" b="1" dirty="0">
                <a:solidFill>
                  <a:schemeClr val="accent1"/>
                </a:solidFill>
              </a:rPr>
              <a:t>［3分］</a:t>
            </a:r>
            <a:endParaRPr lang="ja-JP" sz="1600" dirty="0"/>
          </a:p>
        </p:txBody>
      </p:sp>
      <p:sp>
        <p:nvSpPr>
          <p:cNvPr id="19" name="Text 16"/>
          <p:cNvSpPr txBox="1"/>
          <p:nvPr/>
        </p:nvSpPr>
        <p:spPr>
          <a:xfrm>
            <a:off x="685800" y="3474720"/>
            <a:ext cx="1828800" cy="685800"/>
          </a:xfrm>
          <a:prstGeom prst="rect">
            <a:avLst/>
          </a:prstGeom>
          <a:noFill/>
          <a:ln/>
        </p:spPr>
        <p:txBody>
          <a:bodyPr wrap="square" lIns="0" tIns="0" rIns="0" bIns="0" rtlCol="0" anchor="t"/>
          <a:lstStyle/>
          <a:p>
            <a:pPr indent="0" marL="0">
              <a:buNone/>
            </a:pPr>
            <a:r>
              <a:rPr lang="ja-JP" altLang="en-US" sz="1900" b="1" dirty="0">
                <a:solidFill>
                  <a:schemeClr val="tx2"/>
                </a:solidFill>
              </a:rPr>
              <a:t>対象を決める</a:t>
            </a:r>
            <a:endParaRPr lang="ja-JP" sz="1900" dirty="0"/>
          </a:p>
        </p:txBody>
      </p:sp>
      <p:sp>
        <p:nvSpPr>
          <p:cNvPr id="20" name="Shape 17"/>
          <p:cNvSpPr/>
          <p:nvPr/>
        </p:nvSpPr>
        <p:spPr>
          <a:xfrm>
            <a:off x="685800" y="4251960"/>
            <a:ext cx="1801368" cy="411480"/>
          </a:xfrm>
          <a:prstGeom prst="roundRect">
            <a:avLst>
              <a:gd name="adj" fmla="val 48889"/>
            </a:avLst>
          </a:prstGeom>
          <a:solidFill>
            <a:schemeClr val="bg2"/>
          </a:solidFill>
          <a:ln/>
        </p:spPr>
      </p:sp>
      <p:pic>
        <p:nvPicPr>
          <p:cNvPr id="21" name="Image 0" descr="TbTarget">    </p:cNvPr>
          <p:cNvPicPr>
            <a:picLocks noChangeAspect="1"/>
          </p:cNvPicPr>
          <p:nvPr/>
        </p:nvPicPr>
        <p:blipFill>
          <a:blip r:embed="rId1"/>
          <a:stretch>
            <a:fillRect/>
          </a:stretch>
        </p:blipFill>
        <p:spPr>
          <a:xfrm>
            <a:off x="795528" y="4306824"/>
            <a:ext cx="301752" cy="301752"/>
          </a:xfrm>
          <a:prstGeom prst="rect">
            <a:avLst/>
          </a:prstGeom>
        </p:spPr>
      </p:pic>
      <p:sp>
        <p:nvSpPr>
          <p:cNvPr id="22" name="Text 18"/>
          <p:cNvSpPr txBox="1"/>
          <p:nvPr/>
        </p:nvSpPr>
        <p:spPr>
          <a:xfrm>
            <a:off x="1170432" y="4251960"/>
            <a:ext cx="1280160" cy="411480"/>
          </a:xfrm>
          <a:prstGeom prst="rect">
            <a:avLst/>
          </a:prstGeom>
          <a:noFill/>
          <a:ln/>
        </p:spPr>
        <p:txBody>
          <a:bodyPr wrap="square" lIns="0" tIns="0" rIns="0" bIns="0" rtlCol="0" anchor="ctr"/>
          <a:lstStyle/>
          <a:p>
            <a:pPr indent="0" marL="0">
              <a:buNone/>
            </a:pPr>
            <a:r>
              <a:rPr lang="ja-JP" altLang="en-US" sz="1500" b="1" dirty="0">
                <a:solidFill>
                  <a:schemeClr val="tx2"/>
                </a:solidFill>
              </a:rPr>
              <a:t>ターゲット</a:t>
            </a:r>
            <a:endParaRPr lang="ja-JP" sz="1500" dirty="0"/>
          </a:p>
        </p:txBody>
      </p:sp>
      <p:sp>
        <p:nvSpPr>
          <p:cNvPr id="23" name="Shape 19"/>
          <p:cNvSpPr/>
          <p:nvPr/>
        </p:nvSpPr>
        <p:spPr>
          <a:xfrm>
            <a:off x="2802636" y="2743200"/>
            <a:ext cx="2075688" cy="2057400"/>
          </a:xfrm>
          <a:prstGeom prst="roundRect">
            <a:avLst>
              <a:gd name="adj" fmla="val 7111"/>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24" name="Text 20"/>
          <p:cNvSpPr txBox="1"/>
          <p:nvPr/>
        </p:nvSpPr>
        <p:spPr>
          <a:xfrm>
            <a:off x="2939796" y="2871216"/>
            <a:ext cx="502920" cy="502920"/>
          </a:xfrm>
          <a:prstGeom prst="ellipse">
            <a:avLst/>
          </a:prstGeom>
          <a:solidFill>
            <a:schemeClr val="accent1"/>
          </a:solidFill>
          <a:ln/>
        </p:spPr>
        <p:txBody>
          <a:bodyPr wrap="square" lIns="0" tIns="0" rIns="0" bIns="0" rtlCol="0" anchor="ctr"/>
          <a:lstStyle/>
          <a:p>
            <a:pPr algn="ctr" indent="0" marL="0">
              <a:buNone/>
            </a:pPr>
            <a:r>
              <a:rPr lang="ja-JP" altLang="en-US" sz="1800" b="1" dirty="0">
                <a:solidFill>
                  <a:schemeClr val="bg1"/>
                </a:solidFill>
              </a:rPr>
              <a:t>②</a:t>
            </a:r>
            <a:endParaRPr lang="ja-JP" sz="1800" dirty="0"/>
          </a:p>
        </p:txBody>
      </p:sp>
      <p:sp>
        <p:nvSpPr>
          <p:cNvPr id="25" name="Text 21"/>
          <p:cNvSpPr txBox="1"/>
          <p:nvPr/>
        </p:nvSpPr>
        <p:spPr>
          <a:xfrm>
            <a:off x="3534156" y="2871216"/>
            <a:ext cx="1234440" cy="502920"/>
          </a:xfrm>
          <a:prstGeom prst="rect">
            <a:avLst/>
          </a:prstGeom>
          <a:noFill/>
          <a:ln/>
        </p:spPr>
        <p:txBody>
          <a:bodyPr wrap="square" lIns="0" tIns="0" rIns="0" bIns="0" rtlCol="0" anchor="ctr"/>
          <a:lstStyle/>
          <a:p>
            <a:pPr indent="0" marL="0">
              <a:buNone/>
            </a:pPr>
            <a:r>
              <a:rPr lang="ja-JP" altLang="en-US" sz="1600" b="1" dirty="0">
                <a:solidFill>
                  <a:schemeClr val="accent1"/>
                </a:solidFill>
              </a:rPr>
              <a:t>［3分］</a:t>
            </a:r>
            <a:endParaRPr lang="ja-JP" sz="1600" dirty="0"/>
          </a:p>
        </p:txBody>
      </p:sp>
      <p:sp>
        <p:nvSpPr>
          <p:cNvPr id="26" name="Text 22"/>
          <p:cNvSpPr txBox="1"/>
          <p:nvPr/>
        </p:nvSpPr>
        <p:spPr>
          <a:xfrm>
            <a:off x="2939796" y="3474720"/>
            <a:ext cx="1828800" cy="685800"/>
          </a:xfrm>
          <a:prstGeom prst="rect">
            <a:avLst/>
          </a:prstGeom>
          <a:noFill/>
          <a:ln/>
        </p:spPr>
        <p:txBody>
          <a:bodyPr wrap="square" lIns="0" tIns="0" rIns="0" bIns="0" rtlCol="0" anchor="t"/>
          <a:lstStyle/>
          <a:p>
            <a:pPr indent="0" marL="0">
              <a:buNone/>
            </a:pPr>
            <a:r>
              <a:rPr lang="ja-JP" altLang="en-US" sz="1900" b="1" dirty="0">
                <a:solidFill>
                  <a:schemeClr val="tx2"/>
                </a:solidFill>
              </a:rPr>
              <a:t>伝える魅力を</a:t>
            </a:r>
            <a:endParaRPr lang="ja-JP" sz="1900" dirty="0"/>
          </a:p>
          <a:p>
            <a:pPr indent="0" marL="0">
              <a:buNone/>
            </a:pPr>
            <a:r>
              <a:rPr lang="ja-JP" altLang="en-US" sz="1900" b="1" dirty="0">
                <a:solidFill>
                  <a:schemeClr val="tx2"/>
                </a:solidFill>
              </a:rPr>
              <a:t>選ぶ</a:t>
            </a:r>
            <a:endParaRPr lang="ja-JP" sz="1900" dirty="0"/>
          </a:p>
        </p:txBody>
      </p:sp>
      <p:sp>
        <p:nvSpPr>
          <p:cNvPr id="27" name="Shape 23"/>
          <p:cNvSpPr/>
          <p:nvPr/>
        </p:nvSpPr>
        <p:spPr>
          <a:xfrm>
            <a:off x="2939796" y="4251960"/>
            <a:ext cx="1801368" cy="411480"/>
          </a:xfrm>
          <a:prstGeom prst="roundRect">
            <a:avLst>
              <a:gd name="adj" fmla="val 48889"/>
            </a:avLst>
          </a:prstGeom>
          <a:solidFill>
            <a:schemeClr val="bg2"/>
          </a:solidFill>
          <a:ln/>
        </p:spPr>
      </p:sp>
      <p:pic>
        <p:nvPicPr>
          <p:cNvPr id="28" name="Image 1" descr="TbHeart">    </p:cNvPr>
          <p:cNvPicPr>
            <a:picLocks noChangeAspect="1"/>
          </p:cNvPicPr>
          <p:nvPr/>
        </p:nvPicPr>
        <p:blipFill>
          <a:blip r:embed="rId2"/>
          <a:stretch>
            <a:fillRect/>
          </a:stretch>
        </p:blipFill>
        <p:spPr>
          <a:xfrm>
            <a:off x="3049524" y="4306824"/>
            <a:ext cx="301752" cy="301752"/>
          </a:xfrm>
          <a:prstGeom prst="rect">
            <a:avLst/>
          </a:prstGeom>
        </p:spPr>
      </p:pic>
      <p:sp>
        <p:nvSpPr>
          <p:cNvPr id="29" name="Text 24"/>
          <p:cNvSpPr txBox="1"/>
          <p:nvPr/>
        </p:nvSpPr>
        <p:spPr>
          <a:xfrm>
            <a:off x="3424428" y="4251960"/>
            <a:ext cx="1280160" cy="411480"/>
          </a:xfrm>
          <a:prstGeom prst="rect">
            <a:avLst/>
          </a:prstGeom>
          <a:noFill/>
          <a:ln/>
        </p:spPr>
        <p:txBody>
          <a:bodyPr wrap="square" lIns="0" tIns="0" rIns="0" bIns="0" rtlCol="0" anchor="ctr"/>
          <a:lstStyle/>
          <a:p>
            <a:pPr indent="0" marL="0">
              <a:buNone/>
            </a:pPr>
            <a:r>
              <a:rPr lang="ja-JP" altLang="en-US" sz="1500" b="1" dirty="0">
                <a:solidFill>
                  <a:schemeClr val="tx2"/>
                </a:solidFill>
              </a:rPr>
              <a:t>魅力</a:t>
            </a:r>
            <a:endParaRPr lang="ja-JP" sz="1500" dirty="0"/>
          </a:p>
        </p:txBody>
      </p:sp>
      <p:sp>
        <p:nvSpPr>
          <p:cNvPr id="30" name="Shape 25"/>
          <p:cNvSpPr/>
          <p:nvPr/>
        </p:nvSpPr>
        <p:spPr>
          <a:xfrm>
            <a:off x="5056632" y="2743200"/>
            <a:ext cx="2075688" cy="2057400"/>
          </a:xfrm>
          <a:prstGeom prst="roundRect">
            <a:avLst>
              <a:gd name="adj" fmla="val 7111"/>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31" name="Text 26"/>
          <p:cNvSpPr txBox="1"/>
          <p:nvPr/>
        </p:nvSpPr>
        <p:spPr>
          <a:xfrm>
            <a:off x="5193792" y="2871216"/>
            <a:ext cx="502920" cy="502920"/>
          </a:xfrm>
          <a:prstGeom prst="ellipse">
            <a:avLst/>
          </a:prstGeom>
          <a:solidFill>
            <a:schemeClr val="tx2"/>
          </a:solidFill>
          <a:ln/>
        </p:spPr>
        <p:txBody>
          <a:bodyPr wrap="square" lIns="0" tIns="0" rIns="0" bIns="0" rtlCol="0" anchor="ctr"/>
          <a:lstStyle/>
          <a:p>
            <a:pPr algn="ctr" indent="0" marL="0">
              <a:buNone/>
            </a:pPr>
            <a:r>
              <a:rPr lang="ja-JP" altLang="en-US" sz="1800" b="1" dirty="0">
                <a:solidFill>
                  <a:schemeClr val="bg1"/>
                </a:solidFill>
              </a:rPr>
              <a:t>③</a:t>
            </a:r>
            <a:endParaRPr lang="ja-JP" sz="1800" dirty="0"/>
          </a:p>
        </p:txBody>
      </p:sp>
      <p:sp>
        <p:nvSpPr>
          <p:cNvPr id="32" name="Text 27"/>
          <p:cNvSpPr txBox="1"/>
          <p:nvPr/>
        </p:nvSpPr>
        <p:spPr>
          <a:xfrm>
            <a:off x="5788152" y="2871216"/>
            <a:ext cx="1234440" cy="502920"/>
          </a:xfrm>
          <a:prstGeom prst="rect">
            <a:avLst/>
          </a:prstGeom>
          <a:noFill/>
          <a:ln/>
        </p:spPr>
        <p:txBody>
          <a:bodyPr wrap="square" lIns="0" tIns="0" rIns="0" bIns="0" rtlCol="0" anchor="ctr"/>
          <a:lstStyle/>
          <a:p>
            <a:pPr indent="0" marL="0">
              <a:buNone/>
            </a:pPr>
            <a:r>
              <a:rPr lang="ja-JP" altLang="en-US" sz="1600" b="1" dirty="0">
                <a:solidFill>
                  <a:schemeClr val="accent1"/>
                </a:solidFill>
              </a:rPr>
              <a:t>［4分］</a:t>
            </a:r>
            <a:endParaRPr lang="ja-JP" sz="1600" dirty="0"/>
          </a:p>
        </p:txBody>
      </p:sp>
      <p:sp>
        <p:nvSpPr>
          <p:cNvPr id="33" name="Text 28"/>
          <p:cNvSpPr txBox="1"/>
          <p:nvPr/>
        </p:nvSpPr>
        <p:spPr>
          <a:xfrm>
            <a:off x="5193792" y="3474720"/>
            <a:ext cx="1828800" cy="685800"/>
          </a:xfrm>
          <a:prstGeom prst="rect">
            <a:avLst/>
          </a:prstGeom>
          <a:noFill/>
          <a:ln/>
        </p:spPr>
        <p:txBody>
          <a:bodyPr wrap="square" lIns="0" tIns="0" rIns="0" bIns="0" rtlCol="0" anchor="t"/>
          <a:lstStyle/>
          <a:p>
            <a:pPr indent="0" marL="0">
              <a:buNone/>
            </a:pPr>
            <a:r>
              <a:rPr lang="ja-JP" altLang="en-US" sz="1900" b="1" dirty="0">
                <a:solidFill>
                  <a:schemeClr val="tx2"/>
                </a:solidFill>
              </a:rPr>
              <a:t>伝える方法を</a:t>
            </a:r>
            <a:endParaRPr lang="ja-JP" sz="1900" dirty="0"/>
          </a:p>
          <a:p>
            <a:pPr indent="0" marL="0">
              <a:buNone/>
            </a:pPr>
            <a:r>
              <a:rPr lang="ja-JP" altLang="en-US" sz="1900" b="1" dirty="0">
                <a:solidFill>
                  <a:schemeClr val="tx2"/>
                </a:solidFill>
              </a:rPr>
              <a:t>決める</a:t>
            </a:r>
            <a:endParaRPr lang="ja-JP" sz="1900" dirty="0"/>
          </a:p>
        </p:txBody>
      </p:sp>
      <p:sp>
        <p:nvSpPr>
          <p:cNvPr id="34" name="Shape 29"/>
          <p:cNvSpPr/>
          <p:nvPr/>
        </p:nvSpPr>
        <p:spPr>
          <a:xfrm>
            <a:off x="5193792" y="4251960"/>
            <a:ext cx="1801368" cy="411480"/>
          </a:xfrm>
          <a:prstGeom prst="roundRect">
            <a:avLst>
              <a:gd name="adj" fmla="val 48889"/>
            </a:avLst>
          </a:prstGeom>
          <a:solidFill>
            <a:schemeClr val="bg2"/>
          </a:solidFill>
          <a:ln/>
        </p:spPr>
      </p:sp>
      <p:pic>
        <p:nvPicPr>
          <p:cNvPr id="35" name="Image 2" descr="TbSpeakerphone">    </p:cNvPr>
          <p:cNvPicPr>
            <a:picLocks noChangeAspect="1"/>
          </p:cNvPicPr>
          <p:nvPr/>
        </p:nvPicPr>
        <p:blipFill>
          <a:blip r:embed="rId3"/>
          <a:stretch>
            <a:fillRect/>
          </a:stretch>
        </p:blipFill>
        <p:spPr>
          <a:xfrm>
            <a:off x="5303520" y="4306824"/>
            <a:ext cx="301752" cy="301752"/>
          </a:xfrm>
          <a:prstGeom prst="rect">
            <a:avLst/>
          </a:prstGeom>
        </p:spPr>
      </p:pic>
      <p:sp>
        <p:nvSpPr>
          <p:cNvPr id="36" name="Text 30"/>
          <p:cNvSpPr txBox="1"/>
          <p:nvPr/>
        </p:nvSpPr>
        <p:spPr>
          <a:xfrm>
            <a:off x="5678424" y="4251960"/>
            <a:ext cx="1280160" cy="411480"/>
          </a:xfrm>
          <a:prstGeom prst="rect">
            <a:avLst/>
          </a:prstGeom>
          <a:noFill/>
          <a:ln/>
        </p:spPr>
        <p:txBody>
          <a:bodyPr wrap="square" lIns="0" tIns="0" rIns="0" bIns="0" rtlCol="0" anchor="ctr"/>
          <a:lstStyle/>
          <a:p>
            <a:pPr indent="0" marL="0">
              <a:buNone/>
            </a:pPr>
            <a:r>
              <a:rPr lang="ja-JP" altLang="en-US" sz="1500" b="1" dirty="0">
                <a:solidFill>
                  <a:schemeClr val="tx2"/>
                </a:solidFill>
              </a:rPr>
              <a:t>媒体</a:t>
            </a:r>
            <a:endParaRPr lang="ja-JP" sz="1500" dirty="0"/>
          </a:p>
        </p:txBody>
      </p:sp>
      <p:sp>
        <p:nvSpPr>
          <p:cNvPr id="37" name="Shape 31"/>
          <p:cNvSpPr/>
          <p:nvPr/>
        </p:nvSpPr>
        <p:spPr>
          <a:xfrm>
            <a:off x="7310628" y="2743200"/>
            <a:ext cx="2075688" cy="2057400"/>
          </a:xfrm>
          <a:prstGeom prst="roundRect">
            <a:avLst>
              <a:gd name="adj" fmla="val 7111"/>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38" name="Text 32"/>
          <p:cNvSpPr txBox="1"/>
          <p:nvPr/>
        </p:nvSpPr>
        <p:spPr>
          <a:xfrm>
            <a:off x="7447788" y="2871216"/>
            <a:ext cx="502920" cy="502920"/>
          </a:xfrm>
          <a:prstGeom prst="ellipse">
            <a:avLst/>
          </a:prstGeom>
          <a:solidFill>
            <a:schemeClr val="accent1"/>
          </a:solidFill>
          <a:ln/>
        </p:spPr>
        <p:txBody>
          <a:bodyPr wrap="square" lIns="0" tIns="0" rIns="0" bIns="0" rtlCol="0" anchor="ctr"/>
          <a:lstStyle/>
          <a:p>
            <a:pPr algn="ctr" indent="0" marL="0">
              <a:buNone/>
            </a:pPr>
            <a:r>
              <a:rPr lang="ja-JP" altLang="en-US" sz="1800" b="1" dirty="0">
                <a:solidFill>
                  <a:schemeClr val="bg1"/>
                </a:solidFill>
              </a:rPr>
              <a:t>④</a:t>
            </a:r>
            <a:endParaRPr lang="ja-JP" sz="1800" dirty="0"/>
          </a:p>
        </p:txBody>
      </p:sp>
      <p:sp>
        <p:nvSpPr>
          <p:cNvPr id="39" name="Text 33"/>
          <p:cNvSpPr txBox="1"/>
          <p:nvPr/>
        </p:nvSpPr>
        <p:spPr>
          <a:xfrm>
            <a:off x="8042148" y="2871216"/>
            <a:ext cx="1234440" cy="502920"/>
          </a:xfrm>
          <a:prstGeom prst="rect">
            <a:avLst/>
          </a:prstGeom>
          <a:noFill/>
          <a:ln/>
        </p:spPr>
        <p:txBody>
          <a:bodyPr wrap="square" lIns="0" tIns="0" rIns="0" bIns="0" rtlCol="0" anchor="ctr"/>
          <a:lstStyle/>
          <a:p>
            <a:pPr indent="0" marL="0">
              <a:buNone/>
            </a:pPr>
            <a:r>
              <a:rPr lang="ja-JP" altLang="en-US" sz="1600" b="1" dirty="0">
                <a:solidFill>
                  <a:schemeClr val="accent1"/>
                </a:solidFill>
              </a:rPr>
              <a:t>［3分］</a:t>
            </a:r>
            <a:endParaRPr lang="ja-JP" sz="1600" dirty="0"/>
          </a:p>
        </p:txBody>
      </p:sp>
      <p:sp>
        <p:nvSpPr>
          <p:cNvPr id="40" name="Text 34"/>
          <p:cNvSpPr txBox="1"/>
          <p:nvPr/>
        </p:nvSpPr>
        <p:spPr>
          <a:xfrm>
            <a:off x="7447788" y="3474720"/>
            <a:ext cx="1828800" cy="685800"/>
          </a:xfrm>
          <a:prstGeom prst="rect">
            <a:avLst/>
          </a:prstGeom>
          <a:noFill/>
          <a:ln/>
        </p:spPr>
        <p:txBody>
          <a:bodyPr wrap="square" lIns="0" tIns="0" rIns="0" bIns="0" rtlCol="0" anchor="t"/>
          <a:lstStyle/>
          <a:p>
            <a:pPr indent="0" marL="0">
              <a:buNone/>
            </a:pPr>
            <a:r>
              <a:rPr lang="ja-JP" altLang="en-US" sz="1900" b="1" dirty="0">
                <a:solidFill>
                  <a:schemeClr val="tx2"/>
                </a:solidFill>
              </a:rPr>
              <a:t>具体的な体験を</a:t>
            </a:r>
            <a:endParaRPr lang="ja-JP" sz="1900" dirty="0"/>
          </a:p>
          <a:p>
            <a:pPr indent="0" marL="0">
              <a:buNone/>
            </a:pPr>
            <a:r>
              <a:rPr lang="ja-JP" altLang="en-US" sz="1900" b="1" dirty="0">
                <a:solidFill>
                  <a:schemeClr val="tx2"/>
                </a:solidFill>
              </a:rPr>
              <a:t>設計</a:t>
            </a:r>
            <a:endParaRPr lang="ja-JP" sz="1900" dirty="0"/>
          </a:p>
        </p:txBody>
      </p:sp>
      <p:sp>
        <p:nvSpPr>
          <p:cNvPr id="41" name="Shape 35"/>
          <p:cNvSpPr/>
          <p:nvPr/>
        </p:nvSpPr>
        <p:spPr>
          <a:xfrm>
            <a:off x="7447788" y="4251960"/>
            <a:ext cx="1801368" cy="411480"/>
          </a:xfrm>
          <a:prstGeom prst="roundRect">
            <a:avLst>
              <a:gd name="adj" fmla="val 48889"/>
            </a:avLst>
          </a:prstGeom>
          <a:solidFill>
            <a:schemeClr val="bg2"/>
          </a:solidFill>
          <a:ln/>
        </p:spPr>
      </p:sp>
      <p:pic>
        <p:nvPicPr>
          <p:cNvPr id="42" name="Image 3" descr="TbHandClick">    </p:cNvPr>
          <p:cNvPicPr>
            <a:picLocks noChangeAspect="1"/>
          </p:cNvPicPr>
          <p:nvPr/>
        </p:nvPicPr>
        <p:blipFill>
          <a:blip r:embed="rId4"/>
          <a:stretch>
            <a:fillRect/>
          </a:stretch>
        </p:blipFill>
        <p:spPr>
          <a:xfrm>
            <a:off x="7557516" y="4306824"/>
            <a:ext cx="301752" cy="301752"/>
          </a:xfrm>
          <a:prstGeom prst="rect">
            <a:avLst/>
          </a:prstGeom>
        </p:spPr>
      </p:pic>
      <p:sp>
        <p:nvSpPr>
          <p:cNvPr id="43" name="Text 36"/>
          <p:cNvSpPr txBox="1"/>
          <p:nvPr/>
        </p:nvSpPr>
        <p:spPr>
          <a:xfrm>
            <a:off x="7932420" y="4251960"/>
            <a:ext cx="1280160" cy="411480"/>
          </a:xfrm>
          <a:prstGeom prst="rect">
            <a:avLst/>
          </a:prstGeom>
          <a:noFill/>
          <a:ln/>
        </p:spPr>
        <p:txBody>
          <a:bodyPr wrap="square" lIns="0" tIns="0" rIns="0" bIns="0" rtlCol="0" anchor="ctr"/>
          <a:lstStyle/>
          <a:p>
            <a:pPr indent="0" marL="0">
              <a:buNone/>
            </a:pPr>
            <a:r>
              <a:rPr lang="ja-JP" altLang="en-US" sz="1500" b="1" dirty="0">
                <a:solidFill>
                  <a:schemeClr val="tx2"/>
                </a:solidFill>
              </a:rPr>
              <a:t>体験</a:t>
            </a:r>
            <a:endParaRPr lang="ja-JP" sz="1500" dirty="0"/>
          </a:p>
        </p:txBody>
      </p:sp>
      <p:sp>
        <p:nvSpPr>
          <p:cNvPr id="44" name="Shape 37"/>
          <p:cNvSpPr/>
          <p:nvPr/>
        </p:nvSpPr>
        <p:spPr>
          <a:xfrm>
            <a:off x="9564624" y="2743200"/>
            <a:ext cx="2075688" cy="2057400"/>
          </a:xfrm>
          <a:prstGeom prst="roundRect">
            <a:avLst>
              <a:gd name="adj" fmla="val 7111"/>
            </a:avLst>
          </a:prstGeom>
          <a:solidFill>
            <a:schemeClr val="bg1"/>
          </a:solidFill>
          <a:ln w="15875">
            <a:solidFill>
              <a:schemeClr val="accent5"/>
            </a:solidFill>
            <a:prstDash val="solid"/>
          </a:ln>
          <a:effectLst>
            <a:outerShdw sx="100000" sy="100000" kx="0" ky="0" algn="bl" rotWithShape="0" blurRad="101600" dist="25400" dir="5400000">
              <a:srgbClr val="12243A">
                <a:alpha val="14000"/>
              </a:srgbClr>
            </a:outerShdw>
          </a:effectLst>
        </p:spPr>
      </p:sp>
      <p:sp>
        <p:nvSpPr>
          <p:cNvPr id="45" name="Text 38"/>
          <p:cNvSpPr txBox="1"/>
          <p:nvPr/>
        </p:nvSpPr>
        <p:spPr>
          <a:xfrm>
            <a:off x="9701784" y="2871216"/>
            <a:ext cx="502920" cy="502920"/>
          </a:xfrm>
          <a:prstGeom prst="ellipse">
            <a:avLst/>
          </a:prstGeom>
          <a:solidFill>
            <a:schemeClr val="accent3"/>
          </a:solidFill>
          <a:ln/>
        </p:spPr>
        <p:txBody>
          <a:bodyPr wrap="square" lIns="0" tIns="0" rIns="0" bIns="0" rtlCol="0" anchor="ctr"/>
          <a:lstStyle/>
          <a:p>
            <a:pPr algn="ctr" indent="0" marL="0">
              <a:buNone/>
            </a:pPr>
            <a:r>
              <a:rPr lang="ja-JP" altLang="en-US" sz="1800" b="1" dirty="0">
                <a:solidFill>
                  <a:schemeClr val="tx2"/>
                </a:solidFill>
              </a:rPr>
              <a:t>⑤</a:t>
            </a:r>
            <a:endParaRPr lang="ja-JP" sz="1800" dirty="0"/>
          </a:p>
        </p:txBody>
      </p:sp>
      <p:sp>
        <p:nvSpPr>
          <p:cNvPr id="46" name="Text 39"/>
          <p:cNvSpPr txBox="1"/>
          <p:nvPr/>
        </p:nvSpPr>
        <p:spPr>
          <a:xfrm>
            <a:off x="10296144" y="2871216"/>
            <a:ext cx="1234440" cy="502920"/>
          </a:xfrm>
          <a:prstGeom prst="rect">
            <a:avLst/>
          </a:prstGeom>
          <a:noFill/>
          <a:ln/>
        </p:spPr>
        <p:txBody>
          <a:bodyPr wrap="square" lIns="0" tIns="0" rIns="0" bIns="0" rtlCol="0" anchor="ctr"/>
          <a:lstStyle/>
          <a:p>
            <a:pPr indent="0" marL="0">
              <a:buNone/>
            </a:pPr>
            <a:r>
              <a:rPr lang="ja-JP" altLang="en-US" sz="1600" b="1" dirty="0">
                <a:solidFill>
                  <a:schemeClr val="accent1"/>
                </a:solidFill>
              </a:rPr>
              <a:t>［1分］</a:t>
            </a:r>
            <a:endParaRPr lang="ja-JP" sz="1600" dirty="0"/>
          </a:p>
        </p:txBody>
      </p:sp>
      <p:sp>
        <p:nvSpPr>
          <p:cNvPr id="47" name="Text 40"/>
          <p:cNvSpPr txBox="1"/>
          <p:nvPr/>
        </p:nvSpPr>
        <p:spPr>
          <a:xfrm>
            <a:off x="9701784" y="3474720"/>
            <a:ext cx="1828800" cy="685800"/>
          </a:xfrm>
          <a:prstGeom prst="rect">
            <a:avLst/>
          </a:prstGeom>
          <a:noFill/>
          <a:ln/>
        </p:spPr>
        <p:txBody>
          <a:bodyPr wrap="square" lIns="0" tIns="0" rIns="0" bIns="0" rtlCol="0" anchor="t"/>
          <a:lstStyle/>
          <a:p>
            <a:pPr indent="0" marL="0">
              <a:buNone/>
            </a:pPr>
            <a:r>
              <a:rPr lang="ja-JP" altLang="en-US" sz="1900" b="1" dirty="0">
                <a:solidFill>
                  <a:schemeClr val="tx2"/>
                </a:solidFill>
              </a:rPr>
              <a:t>発表の準備</a:t>
            </a:r>
            <a:endParaRPr lang="ja-JP" sz="1900" dirty="0"/>
          </a:p>
        </p:txBody>
      </p:sp>
      <p:sp>
        <p:nvSpPr>
          <p:cNvPr id="48" name="Shape 41"/>
          <p:cNvSpPr/>
          <p:nvPr/>
        </p:nvSpPr>
        <p:spPr>
          <a:xfrm>
            <a:off x="9701784" y="4251960"/>
            <a:ext cx="1801368" cy="411480"/>
          </a:xfrm>
          <a:prstGeom prst="roundRect">
            <a:avLst>
              <a:gd name="adj" fmla="val 48889"/>
            </a:avLst>
          </a:prstGeom>
          <a:solidFill>
            <a:schemeClr val="bg2"/>
          </a:solidFill>
          <a:ln/>
        </p:spPr>
      </p:sp>
      <p:pic>
        <p:nvPicPr>
          <p:cNvPr id="49" name="Image 4" descr="TbMessages">    </p:cNvPr>
          <p:cNvPicPr>
            <a:picLocks noChangeAspect="1"/>
          </p:cNvPicPr>
          <p:nvPr/>
        </p:nvPicPr>
        <p:blipFill>
          <a:blip r:embed="rId5"/>
          <a:stretch>
            <a:fillRect/>
          </a:stretch>
        </p:blipFill>
        <p:spPr>
          <a:xfrm>
            <a:off x="9811512" y="4306824"/>
            <a:ext cx="301752" cy="301752"/>
          </a:xfrm>
          <a:prstGeom prst="rect">
            <a:avLst/>
          </a:prstGeom>
        </p:spPr>
      </p:pic>
      <p:sp>
        <p:nvSpPr>
          <p:cNvPr id="50" name="Text 42"/>
          <p:cNvSpPr txBox="1"/>
          <p:nvPr/>
        </p:nvSpPr>
        <p:spPr>
          <a:xfrm>
            <a:off x="10186416" y="4251960"/>
            <a:ext cx="1280160" cy="411480"/>
          </a:xfrm>
          <a:prstGeom prst="rect">
            <a:avLst/>
          </a:prstGeom>
          <a:noFill/>
          <a:ln/>
        </p:spPr>
        <p:txBody>
          <a:bodyPr wrap="square" lIns="0" tIns="0" rIns="0" bIns="0" rtlCol="0" anchor="ctr"/>
          <a:lstStyle/>
          <a:p>
            <a:pPr indent="0" marL="0">
              <a:buNone/>
            </a:pPr>
            <a:r>
              <a:rPr lang="ja-JP" altLang="en-US" sz="1500" b="1" dirty="0">
                <a:solidFill>
                  <a:schemeClr val="tx2"/>
                </a:solidFill>
              </a:rPr>
              <a:t>ひとこと</a:t>
            </a:r>
            <a:endParaRPr lang="ja-JP" sz="1500" dirty="0"/>
          </a:p>
        </p:txBody>
      </p:sp>
      <p:sp>
        <p:nvSpPr>
          <p:cNvPr id="51" name="Shape 43"/>
          <p:cNvSpPr/>
          <p:nvPr/>
        </p:nvSpPr>
        <p:spPr>
          <a:xfrm>
            <a:off x="548640" y="5074920"/>
            <a:ext cx="8595360" cy="731520"/>
          </a:xfrm>
          <a:prstGeom prst="roundRect">
            <a:avLst>
              <a:gd name="adj" fmla="val 15000"/>
            </a:avLst>
          </a:prstGeom>
          <a:solidFill>
            <a:schemeClr val="bg2"/>
          </a:solidFill>
          <a:ln/>
        </p:spPr>
      </p:sp>
      <p:sp>
        <p:nvSpPr>
          <p:cNvPr id="52" name="Text 44"/>
          <p:cNvSpPr txBox="1"/>
          <p:nvPr/>
        </p:nvSpPr>
        <p:spPr>
          <a:xfrm>
            <a:off x="822960" y="5074920"/>
            <a:ext cx="8229600" cy="731520"/>
          </a:xfrm>
          <a:prstGeom prst="rect">
            <a:avLst/>
          </a:prstGeom>
          <a:noFill/>
          <a:ln/>
        </p:spPr>
        <p:txBody>
          <a:bodyPr wrap="square" lIns="0" tIns="0" rIns="0" bIns="0" rtlCol="0" anchor="ctr"/>
          <a:lstStyle/>
          <a:p>
            <a:pPr indent="0" marL="0">
              <a:buNone/>
            </a:pPr>
            <a:r>
              <a:rPr lang="ja-JP" altLang="en-US" sz="2200" b="1" dirty="0">
                <a:solidFill>
                  <a:schemeClr val="tx2"/>
                </a:solidFill>
              </a:rPr>
              <a:t>全員がひとことは発言し、仮決定しながら進もう。</a:t>
            </a:r>
            <a:endParaRPr lang="ja-JP" sz="2200" dirty="0"/>
          </a:p>
        </p:txBody>
      </p:sp>
      <p:sp>
        <p:nvSpPr>
          <p:cNvPr id="53" name="Text 45"/>
          <p:cNvSpPr txBox="1"/>
          <p:nvPr/>
        </p:nvSpPr>
        <p:spPr>
          <a:xfrm>
            <a:off x="9372600" y="4983480"/>
            <a:ext cx="2267712" cy="914400"/>
          </a:xfrm>
          <a:prstGeom prst="roundRect">
            <a:avLst>
              <a:gd name="adj" fmla="val 14000"/>
            </a:avLst>
          </a:prstGeom>
          <a:solidFill>
            <a:schemeClr val="tx2"/>
          </a:solidFill>
          <a:ln/>
        </p:spPr>
        <p:txBody>
          <a:bodyPr wrap="square" lIns="0" tIns="0" rIns="0" bIns="0" rtlCol="0" anchor="ctr"/>
          <a:lstStyle/>
          <a:p>
            <a:pPr algn="ctr" indent="0" marL="0">
              <a:buNone/>
            </a:pPr>
            <a:r>
              <a:rPr lang="ja-JP" altLang="en-US" sz="3400" b="1" dirty="0">
                <a:solidFill>
                  <a:schemeClr val="bg1"/>
                </a:solidFill>
              </a:rPr>
              <a:t>14:00</a:t>
            </a:r>
            <a:endParaRPr lang="ja-JP" sz="3400" dirty="0"/>
          </a:p>
          <a:p>
            <a:pPr algn="ctr" indent="0" marL="0">
              <a:buNone/>
            </a:pPr>
            <a:r>
              <a:rPr lang="ja-JP" altLang="en-US" sz="1200" b="1" dirty="0">
                <a:solidFill>
                  <a:schemeClr val="accent2"/>
                </a:solidFill>
              </a:rPr>
              <a:t>TIMER</a:t>
            </a:r>
            <a:endParaRPr lang="ja-JP" sz="34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06｜メインGD：金属業界の魅力をどう伝える？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企画発表｜伝えるのは5つだけ</a:t>
            </a:r>
            <a:endParaRPr lang="en-US" sz="3000" dirty="0"/>
          </a:p>
        </p:txBody>
      </p:sp>
      <p:sp>
        <p:nvSpPr>
          <p:cNvPr id="5" name="Shape 2"/>
          <p:cNvSpPr/>
          <p:nvPr/>
        </p:nvSpPr>
        <p:spPr>
          <a:xfrm>
            <a:off x="548640" y="1691640"/>
            <a:ext cx="2834640" cy="4114800"/>
          </a:xfrm>
          <a:prstGeom prst="roundRect">
            <a:avLst>
              <a:gd name="adj" fmla="val 6452"/>
            </a:avLst>
          </a:prstGeom>
          <a:solidFill>
            <a:schemeClr val="bg2"/>
          </a:solidFill>
          <a:ln/>
        </p:spPr>
      </p:sp>
      <p:pic>
        <p:nvPicPr>
          <p:cNvPr id="6" name="Image 0" descr="TbPresentation">    </p:cNvPr>
          <p:cNvPicPr>
            <a:picLocks noChangeAspect="1"/>
          </p:cNvPicPr>
          <p:nvPr/>
        </p:nvPicPr>
        <p:blipFill>
          <a:blip r:embed="rId1"/>
          <a:stretch>
            <a:fillRect/>
          </a:stretch>
        </p:blipFill>
        <p:spPr>
          <a:xfrm>
            <a:off x="960120" y="2331720"/>
            <a:ext cx="2011680" cy="2011680"/>
          </a:xfrm>
          <a:prstGeom prst="rect">
            <a:avLst/>
          </a:prstGeom>
        </p:spPr>
      </p:pic>
      <p:sp>
        <p:nvSpPr>
          <p:cNvPr id="7" name="Text 3"/>
          <p:cNvSpPr txBox="1"/>
          <p:nvPr/>
        </p:nvSpPr>
        <p:spPr>
          <a:xfrm>
            <a:off x="548640" y="4617720"/>
            <a:ext cx="2834640" cy="457200"/>
          </a:xfrm>
          <a:prstGeom prst="rect">
            <a:avLst/>
          </a:prstGeom>
          <a:noFill/>
          <a:ln/>
        </p:spPr>
        <p:txBody>
          <a:bodyPr wrap="square" lIns="0" tIns="0" rIns="0" bIns="0" rtlCol="0" anchor="t"/>
          <a:lstStyle/>
          <a:p>
            <a:pPr algn="ctr" indent="0" marL="0">
              <a:buNone/>
            </a:pPr>
            <a:r>
              <a:rPr lang="ja-JP" altLang="en-US" sz="1800" b="1" dirty="0">
                <a:solidFill>
                  <a:schemeClr val="tx2"/>
                </a:solidFill>
              </a:rPr>
              <a:t>1班ずつ発表</a:t>
            </a:r>
            <a:endParaRPr lang="ja-JP" sz="1800" dirty="0"/>
          </a:p>
        </p:txBody>
      </p:sp>
      <p:sp>
        <p:nvSpPr>
          <p:cNvPr id="8" name="Text 4"/>
          <p:cNvSpPr txBox="1"/>
          <p:nvPr/>
        </p:nvSpPr>
        <p:spPr>
          <a:xfrm>
            <a:off x="3703320" y="1691640"/>
            <a:ext cx="713232" cy="713232"/>
          </a:xfrm>
          <a:prstGeom prst="ellipse">
            <a:avLst/>
          </a:prstGeom>
          <a:solidFill>
            <a:schemeClr val="accent1"/>
          </a:solidFill>
          <a:ln/>
        </p:spPr>
        <p:txBody>
          <a:bodyPr wrap="square" lIns="0" tIns="0" rIns="0" bIns="0" rtlCol="0" anchor="ctr"/>
          <a:lstStyle/>
          <a:p>
            <a:pPr algn="ctr" indent="0" marL="0">
              <a:buNone/>
            </a:pPr>
            <a:r>
              <a:rPr lang="ja-JP" altLang="en-US" sz="2600" b="1" dirty="0">
                <a:solidFill>
                  <a:schemeClr val="bg1"/>
                </a:solidFill>
              </a:rPr>
              <a:t>1</a:t>
            </a:r>
            <a:endParaRPr lang="ja-JP" sz="2600" dirty="0"/>
          </a:p>
        </p:txBody>
      </p:sp>
      <p:sp>
        <p:nvSpPr>
          <p:cNvPr id="9" name="Shape 5"/>
          <p:cNvSpPr/>
          <p:nvPr/>
        </p:nvSpPr>
        <p:spPr>
          <a:xfrm>
            <a:off x="4553712" y="1691640"/>
            <a:ext cx="4434840" cy="713232"/>
          </a:xfrm>
          <a:prstGeom prst="roundRect">
            <a:avLst>
              <a:gd name="adj" fmla="val 15385"/>
            </a:avLst>
          </a:prstGeom>
          <a:solidFill>
            <a:schemeClr val="bg1"/>
          </a:solidFill>
          <a:ln w="15875">
            <a:solidFill>
              <a:schemeClr val="accent5"/>
            </a:solidFill>
            <a:prstDash val="solid"/>
          </a:ln>
        </p:spPr>
      </p:sp>
      <p:sp>
        <p:nvSpPr>
          <p:cNvPr id="10" name="Text 6"/>
          <p:cNvSpPr txBox="1"/>
          <p:nvPr/>
        </p:nvSpPr>
        <p:spPr>
          <a:xfrm>
            <a:off x="4754880" y="1691640"/>
            <a:ext cx="4160520" cy="713232"/>
          </a:xfrm>
          <a:prstGeom prst="rect">
            <a:avLst/>
          </a:prstGeom>
          <a:noFill/>
          <a:ln/>
        </p:spPr>
        <p:txBody>
          <a:bodyPr wrap="square" lIns="0" tIns="0" rIns="0" bIns="0" rtlCol="0" anchor="ctr"/>
          <a:lstStyle/>
          <a:p>
            <a:pPr indent="0" marL="0">
              <a:buNone/>
            </a:pPr>
            <a:r>
              <a:rPr lang="ja-JP" altLang="en-US" sz="2200" b="1" dirty="0">
                <a:solidFill>
                  <a:schemeClr val="tx2"/>
                </a:solidFill>
              </a:rPr>
              <a:t>企画名</a:t>
            </a:r>
            <a:pPr indent="0" marL="0">
              <a:buNone/>
            </a:pPr>
            <a:endParaRPr lang="ja-JP" sz="2000" dirty="0"/>
          </a:p>
        </p:txBody>
      </p:sp>
      <p:sp>
        <p:nvSpPr>
          <p:cNvPr id="11" name="Text 7"/>
          <p:cNvSpPr txBox="1"/>
          <p:nvPr/>
        </p:nvSpPr>
        <p:spPr>
          <a:xfrm>
            <a:off x="3703320" y="2532888"/>
            <a:ext cx="713232" cy="713232"/>
          </a:xfrm>
          <a:prstGeom prst="ellipse">
            <a:avLst/>
          </a:prstGeom>
          <a:solidFill>
            <a:schemeClr val="accent1"/>
          </a:solidFill>
          <a:ln/>
        </p:spPr>
        <p:txBody>
          <a:bodyPr wrap="square" lIns="0" tIns="0" rIns="0" bIns="0" rtlCol="0" anchor="ctr"/>
          <a:lstStyle/>
          <a:p>
            <a:pPr algn="ctr" indent="0" marL="0">
              <a:buNone/>
            </a:pPr>
            <a:r>
              <a:rPr lang="ja-JP" altLang="en-US" sz="2600" b="1" dirty="0">
                <a:solidFill>
                  <a:schemeClr val="bg1"/>
                </a:solidFill>
              </a:rPr>
              <a:t>2</a:t>
            </a:r>
            <a:endParaRPr lang="ja-JP" sz="2600" dirty="0"/>
          </a:p>
        </p:txBody>
      </p:sp>
      <p:sp>
        <p:nvSpPr>
          <p:cNvPr id="12" name="Shape 8"/>
          <p:cNvSpPr/>
          <p:nvPr/>
        </p:nvSpPr>
        <p:spPr>
          <a:xfrm>
            <a:off x="4553712" y="2532888"/>
            <a:ext cx="4434840" cy="713232"/>
          </a:xfrm>
          <a:prstGeom prst="roundRect">
            <a:avLst>
              <a:gd name="adj" fmla="val 15385"/>
            </a:avLst>
          </a:prstGeom>
          <a:solidFill>
            <a:schemeClr val="bg1"/>
          </a:solidFill>
          <a:ln w="15875">
            <a:solidFill>
              <a:schemeClr val="accent5"/>
            </a:solidFill>
            <a:prstDash val="solid"/>
          </a:ln>
        </p:spPr>
      </p:sp>
      <p:sp>
        <p:nvSpPr>
          <p:cNvPr id="13" name="Text 9"/>
          <p:cNvSpPr txBox="1"/>
          <p:nvPr/>
        </p:nvSpPr>
        <p:spPr>
          <a:xfrm>
            <a:off x="4754880" y="2532888"/>
            <a:ext cx="4160520" cy="713232"/>
          </a:xfrm>
          <a:prstGeom prst="rect">
            <a:avLst/>
          </a:prstGeom>
          <a:noFill/>
          <a:ln/>
        </p:spPr>
        <p:txBody>
          <a:bodyPr wrap="square" lIns="0" tIns="0" rIns="0" bIns="0" rtlCol="0" anchor="ctr"/>
          <a:lstStyle/>
          <a:p>
            <a:pPr indent="0" marL="0">
              <a:buNone/>
            </a:pPr>
            <a:r>
              <a:rPr lang="ja-JP" altLang="en-US" sz="2200" b="1" dirty="0">
                <a:solidFill>
                  <a:schemeClr val="tx2"/>
                </a:solidFill>
              </a:rPr>
              <a:t>対象</a:t>
            </a:r>
            <a:pPr indent="0" marL="0">
              <a:buNone/>
            </a:pPr>
            <a:r>
              <a:rPr lang="ja-JP" altLang="en-US" sz="1600" dirty="0">
                <a:solidFill>
                  <a:schemeClr val="accent4"/>
                </a:solidFill>
              </a:rPr>
              <a:t>（誰に）</a:t>
            </a:r>
            <a:endParaRPr lang="ja-JP" sz="2000" dirty="0"/>
          </a:p>
        </p:txBody>
      </p:sp>
      <p:sp>
        <p:nvSpPr>
          <p:cNvPr id="14" name="Text 10"/>
          <p:cNvSpPr txBox="1"/>
          <p:nvPr/>
        </p:nvSpPr>
        <p:spPr>
          <a:xfrm>
            <a:off x="3703320" y="3374136"/>
            <a:ext cx="713232" cy="713232"/>
          </a:xfrm>
          <a:prstGeom prst="ellipse">
            <a:avLst/>
          </a:prstGeom>
          <a:solidFill>
            <a:schemeClr val="accent1"/>
          </a:solidFill>
          <a:ln/>
        </p:spPr>
        <p:txBody>
          <a:bodyPr wrap="square" lIns="0" tIns="0" rIns="0" bIns="0" rtlCol="0" anchor="ctr"/>
          <a:lstStyle/>
          <a:p>
            <a:pPr algn="ctr" indent="0" marL="0">
              <a:buNone/>
            </a:pPr>
            <a:r>
              <a:rPr lang="ja-JP" altLang="en-US" sz="2600" b="1" dirty="0">
                <a:solidFill>
                  <a:schemeClr val="bg1"/>
                </a:solidFill>
              </a:rPr>
              <a:t>3</a:t>
            </a:r>
            <a:endParaRPr lang="ja-JP" sz="2600" dirty="0"/>
          </a:p>
        </p:txBody>
      </p:sp>
      <p:sp>
        <p:nvSpPr>
          <p:cNvPr id="15" name="Shape 11"/>
          <p:cNvSpPr/>
          <p:nvPr/>
        </p:nvSpPr>
        <p:spPr>
          <a:xfrm>
            <a:off x="4553712" y="3374136"/>
            <a:ext cx="4434840" cy="713232"/>
          </a:xfrm>
          <a:prstGeom prst="roundRect">
            <a:avLst>
              <a:gd name="adj" fmla="val 15385"/>
            </a:avLst>
          </a:prstGeom>
          <a:solidFill>
            <a:schemeClr val="bg1"/>
          </a:solidFill>
          <a:ln w="15875">
            <a:solidFill>
              <a:schemeClr val="accent5"/>
            </a:solidFill>
            <a:prstDash val="solid"/>
          </a:ln>
        </p:spPr>
      </p:sp>
      <p:sp>
        <p:nvSpPr>
          <p:cNvPr id="16" name="Text 12"/>
          <p:cNvSpPr txBox="1"/>
          <p:nvPr/>
        </p:nvSpPr>
        <p:spPr>
          <a:xfrm>
            <a:off x="4754880" y="3374136"/>
            <a:ext cx="4160520" cy="713232"/>
          </a:xfrm>
          <a:prstGeom prst="rect">
            <a:avLst/>
          </a:prstGeom>
          <a:noFill/>
          <a:ln/>
        </p:spPr>
        <p:txBody>
          <a:bodyPr wrap="square" lIns="0" tIns="0" rIns="0" bIns="0" rtlCol="0" anchor="ctr"/>
          <a:lstStyle/>
          <a:p>
            <a:pPr indent="0" marL="0">
              <a:buNone/>
            </a:pPr>
            <a:r>
              <a:rPr lang="ja-JP" altLang="en-US" sz="2200" b="1" dirty="0">
                <a:solidFill>
                  <a:schemeClr val="tx2"/>
                </a:solidFill>
              </a:rPr>
              <a:t>金属業界の魅力</a:t>
            </a:r>
            <a:pPr indent="0" marL="0">
              <a:buNone/>
            </a:pPr>
            <a:r>
              <a:rPr lang="ja-JP" altLang="en-US" sz="1600" dirty="0">
                <a:solidFill>
                  <a:schemeClr val="accent4"/>
                </a:solidFill>
              </a:rPr>
              <a:t>（何を）</a:t>
            </a:r>
            <a:endParaRPr lang="ja-JP" sz="2000" dirty="0"/>
          </a:p>
        </p:txBody>
      </p:sp>
      <p:sp>
        <p:nvSpPr>
          <p:cNvPr id="17" name="Text 13"/>
          <p:cNvSpPr txBox="1"/>
          <p:nvPr/>
        </p:nvSpPr>
        <p:spPr>
          <a:xfrm>
            <a:off x="3703320" y="4215384"/>
            <a:ext cx="713232" cy="713232"/>
          </a:xfrm>
          <a:prstGeom prst="ellipse">
            <a:avLst/>
          </a:prstGeom>
          <a:solidFill>
            <a:schemeClr val="accent1"/>
          </a:solidFill>
          <a:ln/>
        </p:spPr>
        <p:txBody>
          <a:bodyPr wrap="square" lIns="0" tIns="0" rIns="0" bIns="0" rtlCol="0" anchor="ctr"/>
          <a:lstStyle/>
          <a:p>
            <a:pPr algn="ctr" indent="0" marL="0">
              <a:buNone/>
            </a:pPr>
            <a:r>
              <a:rPr lang="ja-JP" altLang="en-US" sz="2600" b="1" dirty="0">
                <a:solidFill>
                  <a:schemeClr val="bg1"/>
                </a:solidFill>
              </a:rPr>
              <a:t>4</a:t>
            </a:r>
            <a:endParaRPr lang="ja-JP" sz="2600" dirty="0"/>
          </a:p>
        </p:txBody>
      </p:sp>
      <p:sp>
        <p:nvSpPr>
          <p:cNvPr id="18" name="Shape 14"/>
          <p:cNvSpPr/>
          <p:nvPr/>
        </p:nvSpPr>
        <p:spPr>
          <a:xfrm>
            <a:off x="4553712" y="4215384"/>
            <a:ext cx="4434840" cy="713232"/>
          </a:xfrm>
          <a:prstGeom prst="roundRect">
            <a:avLst>
              <a:gd name="adj" fmla="val 15385"/>
            </a:avLst>
          </a:prstGeom>
          <a:solidFill>
            <a:schemeClr val="bg1"/>
          </a:solidFill>
          <a:ln w="15875">
            <a:solidFill>
              <a:schemeClr val="accent5"/>
            </a:solidFill>
            <a:prstDash val="solid"/>
          </a:ln>
        </p:spPr>
      </p:sp>
      <p:sp>
        <p:nvSpPr>
          <p:cNvPr id="19" name="Text 15"/>
          <p:cNvSpPr txBox="1"/>
          <p:nvPr/>
        </p:nvSpPr>
        <p:spPr>
          <a:xfrm>
            <a:off x="4754880" y="4215384"/>
            <a:ext cx="4160520" cy="713232"/>
          </a:xfrm>
          <a:prstGeom prst="rect">
            <a:avLst/>
          </a:prstGeom>
          <a:noFill/>
          <a:ln/>
        </p:spPr>
        <p:txBody>
          <a:bodyPr wrap="square" lIns="0" tIns="0" rIns="0" bIns="0" rtlCol="0" anchor="ctr"/>
          <a:lstStyle/>
          <a:p>
            <a:pPr indent="0" marL="0">
              <a:buNone/>
            </a:pPr>
            <a:r>
              <a:rPr lang="ja-JP" altLang="en-US" sz="2200" b="1" dirty="0">
                <a:solidFill>
                  <a:schemeClr val="tx2"/>
                </a:solidFill>
              </a:rPr>
              <a:t>具体的な体験</a:t>
            </a:r>
            <a:pPr indent="0" marL="0">
              <a:buNone/>
            </a:pPr>
            <a:r>
              <a:rPr lang="ja-JP" altLang="en-US" sz="1600" dirty="0">
                <a:solidFill>
                  <a:schemeClr val="accent4"/>
                </a:solidFill>
              </a:rPr>
              <a:t>（どう）</a:t>
            </a:r>
            <a:endParaRPr lang="ja-JP" sz="2000" dirty="0"/>
          </a:p>
        </p:txBody>
      </p:sp>
      <p:sp>
        <p:nvSpPr>
          <p:cNvPr id="20" name="Text 16"/>
          <p:cNvSpPr txBox="1"/>
          <p:nvPr/>
        </p:nvSpPr>
        <p:spPr>
          <a:xfrm>
            <a:off x="3703320" y="5056632"/>
            <a:ext cx="713232" cy="713232"/>
          </a:xfrm>
          <a:prstGeom prst="ellipse">
            <a:avLst/>
          </a:prstGeom>
          <a:solidFill>
            <a:schemeClr val="accent1"/>
          </a:solidFill>
          <a:ln/>
        </p:spPr>
        <p:txBody>
          <a:bodyPr wrap="square" lIns="0" tIns="0" rIns="0" bIns="0" rtlCol="0" anchor="ctr"/>
          <a:lstStyle/>
          <a:p>
            <a:pPr algn="ctr" indent="0" marL="0">
              <a:buNone/>
            </a:pPr>
            <a:r>
              <a:rPr lang="ja-JP" altLang="en-US" sz="2600" b="1" dirty="0">
                <a:solidFill>
                  <a:schemeClr val="bg1"/>
                </a:solidFill>
              </a:rPr>
              <a:t>5</a:t>
            </a:r>
            <a:endParaRPr lang="ja-JP" sz="2600" dirty="0"/>
          </a:p>
        </p:txBody>
      </p:sp>
      <p:sp>
        <p:nvSpPr>
          <p:cNvPr id="21" name="Shape 17"/>
          <p:cNvSpPr/>
          <p:nvPr/>
        </p:nvSpPr>
        <p:spPr>
          <a:xfrm>
            <a:off x="4553712" y="5056632"/>
            <a:ext cx="4434840" cy="713232"/>
          </a:xfrm>
          <a:prstGeom prst="roundRect">
            <a:avLst>
              <a:gd name="adj" fmla="val 15385"/>
            </a:avLst>
          </a:prstGeom>
          <a:solidFill>
            <a:schemeClr val="bg1"/>
          </a:solidFill>
          <a:ln w="15875">
            <a:solidFill>
              <a:schemeClr val="accent5"/>
            </a:solidFill>
            <a:prstDash val="solid"/>
          </a:ln>
        </p:spPr>
      </p:sp>
      <p:sp>
        <p:nvSpPr>
          <p:cNvPr id="22" name="Text 18"/>
          <p:cNvSpPr txBox="1"/>
          <p:nvPr/>
        </p:nvSpPr>
        <p:spPr>
          <a:xfrm>
            <a:off x="4754880" y="5056632"/>
            <a:ext cx="4160520" cy="713232"/>
          </a:xfrm>
          <a:prstGeom prst="rect">
            <a:avLst/>
          </a:prstGeom>
          <a:noFill/>
          <a:ln/>
        </p:spPr>
        <p:txBody>
          <a:bodyPr wrap="square" lIns="0" tIns="0" rIns="0" bIns="0" rtlCol="0" anchor="ctr"/>
          <a:lstStyle/>
          <a:p>
            <a:pPr indent="0" marL="0">
              <a:buNone/>
            </a:pPr>
            <a:r>
              <a:rPr lang="ja-JP" altLang="en-US" sz="2200" b="1" dirty="0">
                <a:solidFill>
                  <a:schemeClr val="tx2"/>
                </a:solidFill>
              </a:rPr>
              <a:t>参加後の変化</a:t>
            </a:r>
            <a:endParaRPr lang="ja-JP" sz="2000" dirty="0"/>
          </a:p>
          <a:p>
            <a:pPr indent="0" marL="0">
              <a:buNone/>
            </a:pPr>
            <a:r>
              <a:rPr lang="ja-JP" altLang="en-US" sz="1400" dirty="0">
                <a:solidFill>
                  <a:schemeClr val="accent4"/>
                </a:solidFill>
              </a:rPr>
              <a:t>（どんな興味が生まれるか）</a:t>
            </a:r>
            <a:endParaRPr lang="ja-JP" sz="2000" dirty="0"/>
          </a:p>
        </p:txBody>
      </p:sp>
      <p:sp>
        <p:nvSpPr>
          <p:cNvPr id="23" name="Shape 19"/>
          <p:cNvSpPr/>
          <p:nvPr/>
        </p:nvSpPr>
        <p:spPr>
          <a:xfrm>
            <a:off x="9281160" y="1691640"/>
            <a:ext cx="2359152" cy="4114800"/>
          </a:xfrm>
          <a:prstGeom prst="roundRect">
            <a:avLst>
              <a:gd name="adj" fmla="val 7752"/>
            </a:avLst>
          </a:prstGeom>
          <a:solidFill>
            <a:schemeClr val="tx2"/>
          </a:solidFill>
          <a:ln/>
          <a:effectLst>
            <a:outerShdw sx="100000" sy="100000" kx="0" ky="0" algn="bl" rotWithShape="0" blurRad="101600" dist="25400" dir="5400000">
              <a:srgbClr val="12243A">
                <a:alpha val="14000"/>
              </a:srgbClr>
            </a:outerShdw>
          </a:effectLst>
        </p:spPr>
      </p:sp>
      <p:pic>
        <p:nvPicPr>
          <p:cNvPr id="24" name="Image 1" descr="TbClock">    </p:cNvPr>
          <p:cNvPicPr>
            <a:picLocks noChangeAspect="1"/>
          </p:cNvPicPr>
          <p:nvPr/>
        </p:nvPicPr>
        <p:blipFill>
          <a:blip r:embed="rId2"/>
          <a:stretch>
            <a:fillRect/>
          </a:stretch>
        </p:blipFill>
        <p:spPr>
          <a:xfrm>
            <a:off x="10049256" y="2057400"/>
            <a:ext cx="822960" cy="822960"/>
          </a:xfrm>
          <a:prstGeom prst="rect">
            <a:avLst/>
          </a:prstGeom>
        </p:spPr>
      </p:pic>
      <p:sp>
        <p:nvSpPr>
          <p:cNvPr id="25" name="Text 20"/>
          <p:cNvSpPr txBox="1"/>
          <p:nvPr/>
        </p:nvSpPr>
        <p:spPr>
          <a:xfrm>
            <a:off x="9281160" y="3017520"/>
            <a:ext cx="2359152" cy="1005840"/>
          </a:xfrm>
          <a:prstGeom prst="rect">
            <a:avLst/>
          </a:prstGeom>
          <a:noFill/>
          <a:ln/>
        </p:spPr>
        <p:txBody>
          <a:bodyPr wrap="square" lIns="0" tIns="0" rIns="0" bIns="0" rtlCol="0" anchor="ctr"/>
          <a:lstStyle/>
          <a:p>
            <a:pPr algn="ctr" indent="0" marL="0">
              <a:buNone/>
            </a:pPr>
            <a:r>
              <a:rPr lang="ja-JP" altLang="en-US" sz="5400" b="1" dirty="0">
                <a:solidFill>
                  <a:schemeClr val="bg1"/>
                </a:solidFill>
              </a:rPr>
              <a:t>1:00</a:t>
            </a:r>
            <a:endParaRPr lang="ja-JP" sz="5400" dirty="0"/>
          </a:p>
        </p:txBody>
      </p:sp>
      <p:sp>
        <p:nvSpPr>
          <p:cNvPr id="26" name="Text 21"/>
          <p:cNvSpPr txBox="1"/>
          <p:nvPr/>
        </p:nvSpPr>
        <p:spPr>
          <a:xfrm>
            <a:off x="9418320" y="4206240"/>
            <a:ext cx="2084832" cy="914400"/>
          </a:xfrm>
          <a:prstGeom prst="rect">
            <a:avLst/>
          </a:prstGeom>
          <a:noFill/>
          <a:ln/>
        </p:spPr>
        <p:txBody>
          <a:bodyPr wrap="square" lIns="0" tIns="0" rIns="0" bIns="0" rtlCol="0" anchor="t"/>
          <a:lstStyle/>
          <a:p>
            <a:pPr algn="ctr" indent="0" marL="0">
              <a:buNone/>
            </a:pPr>
            <a:r>
              <a:rPr lang="ja-JP" altLang="en-US" sz="1800" b="1" dirty="0">
                <a:solidFill>
                  <a:schemeClr val="accent2"/>
                </a:solidFill>
              </a:rPr>
              <a:t>1班</a:t>
            </a:r>
            <a:endParaRPr lang="ja-JP" sz="1800" dirty="0"/>
          </a:p>
          <a:p>
            <a:pPr algn="ctr" indent="0" marL="0">
              <a:buNone/>
            </a:pPr>
            <a:r>
              <a:rPr lang="ja-JP" altLang="en-US" sz="1800" b="1" dirty="0">
                <a:solidFill>
                  <a:schemeClr val="accent2"/>
                </a:solidFill>
              </a:rPr>
              <a:t>およそ1分で発表</a:t>
            </a:r>
            <a:endParaRPr lang="ja-JP" sz="18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06｜メインGD：金属業界の魅力をどう伝える？</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発表と全体共有｜どの企画に興味を持った？</a:t>
            </a:r>
            <a:endParaRPr lang="en-US" sz="3000" dirty="0"/>
          </a:p>
        </p:txBody>
      </p:sp>
      <p:sp>
        <p:nvSpPr>
          <p:cNvPr id="5" name="Text 2"/>
          <p:cNvSpPr txBox="1"/>
          <p:nvPr/>
        </p:nvSpPr>
        <p:spPr>
          <a:xfrm>
            <a:off x="548640" y="1645920"/>
            <a:ext cx="4754880" cy="457200"/>
          </a:xfrm>
          <a:prstGeom prst="rect">
            <a:avLst/>
          </a:prstGeom>
          <a:noFill/>
          <a:ln/>
        </p:spPr>
        <p:txBody>
          <a:bodyPr wrap="square" lIns="0" tIns="0" rIns="0" bIns="0" rtlCol="0" anchor="ctr"/>
          <a:lstStyle/>
          <a:p>
            <a:pPr indent="0" marL="0">
              <a:buNone/>
            </a:pPr>
            <a:r>
              <a:rPr lang="ja-JP" altLang="en-US" sz="2200" b="1" dirty="0">
                <a:solidFill>
                  <a:schemeClr val="tx2"/>
                </a:solidFill>
              </a:rPr>
              <a:t>各班の企画を比べてみよう。</a:t>
            </a:r>
            <a:endParaRPr lang="ja-JP" sz="2200" dirty="0"/>
          </a:p>
        </p:txBody>
      </p:sp>
      <p:sp>
        <p:nvSpPr>
          <p:cNvPr id="6" name="Text 3"/>
          <p:cNvSpPr txBox="1"/>
          <p:nvPr/>
        </p:nvSpPr>
        <p:spPr>
          <a:xfrm>
            <a:off x="5394960" y="1645920"/>
            <a:ext cx="6245352" cy="457200"/>
          </a:xfrm>
          <a:prstGeom prst="rect">
            <a:avLst/>
          </a:prstGeom>
          <a:noFill/>
          <a:ln/>
        </p:spPr>
        <p:txBody>
          <a:bodyPr wrap="square" lIns="0" tIns="0" rIns="0" bIns="0" rtlCol="0" anchor="ctr"/>
          <a:lstStyle/>
          <a:p>
            <a:pPr algn="r" indent="0" marL="0">
              <a:buNone/>
            </a:pPr>
            <a:r>
              <a:rPr lang="ja-JP" altLang="en-US" sz="1800" dirty="0">
                <a:solidFill>
                  <a:schemeClr val="accent4"/>
                </a:solidFill>
              </a:rPr>
              <a:t>見るポイント：</a:t>
            </a:r>
            <a:pPr algn="r" indent="0" marL="0">
              <a:buNone/>
            </a:pPr>
            <a:r>
              <a:rPr lang="ja-JP" altLang="en-US" sz="1800" b="1" dirty="0">
                <a:solidFill>
                  <a:schemeClr val="accent1"/>
                </a:solidFill>
              </a:rPr>
              <a:t>対象／魅力／体験／参加後の変化</a:t>
            </a:r>
            <a:endParaRPr lang="ja-JP" sz="1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914400"/>
                <a:gridCol w="2377440"/>
                <a:gridCol w="2514600"/>
                <a:gridCol w="2880360"/>
                <a:gridCol w="2404872"/>
              </a:tblGrid>
              <a:tr h="411480">
                <a:tc>
                  <a:txBody>
                    <a:bodyP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班</a:t>
                      </a: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12243A"/>
                    </a:solidFill>
                  </a:tcPr>
                </a:tc>
                <a:tc>
                  <a:txBody>
                    <a:bodyP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対象</a:t>
                      </a: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12243A"/>
                    </a:solidFill>
                  </a:tcPr>
                </a:tc>
                <a:tc>
                  <a:txBody>
                    <a:bodyP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魅力</a:t>
                      </a: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12243A"/>
                    </a:solidFill>
                  </a:tcPr>
                </a:tc>
                <a:tc>
                  <a:txBody>
                    <a:bodyP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体験</a:t>
                      </a: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12243A"/>
                    </a:solidFill>
                  </a:tcPr>
                </a:tc>
                <a:tc>
                  <a:txBody>
                    <a:bodyP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参加後の変化</a:t>
                      </a: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12243A"/>
                    </a:solidFill>
                  </a:tcPr>
                </a:tc>
              </a:tr>
              <a:tr h="502920">
                <a:tc>
                  <a:txBody>
                    <a:bodyPr/>
                    <a:lstStyle/>
                    <a:p>
                      <a:pPr algn="ctr" indent="0" marL="0">
                        <a:buNone/>
                      </a:pPr>
                      <a:r>
                        <a:rPr lang="en-US" sz="1800" b="1" dirty="0">
                          <a:solidFill>
                            <a:srgbClr val="12243A"/>
                          </a:solidFill>
                          <a:latin typeface="Noto Sans CJK JP" pitchFamily="34" charset="0"/>
                          <a:ea typeface="Noto Sans CJK JP" pitchFamily="34" charset="-122"/>
                          <a:cs typeface="Noto Sans CJK JP" pitchFamily="34" charset="-120"/>
                        </a:rPr>
                        <a:t>A班</a:t>
                      </a: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EDF5F7"/>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r>
              <a:tr h="502920">
                <a:tc>
                  <a:txBody>
                    <a:bodyPr/>
                    <a:lstStyle/>
                    <a:p>
                      <a:pPr algn="ctr" indent="0" marL="0">
                        <a:buNone/>
                      </a:pPr>
                      <a:r>
                        <a:rPr lang="en-US" sz="1800" b="1" dirty="0">
                          <a:solidFill>
                            <a:srgbClr val="12243A"/>
                          </a:solidFill>
                          <a:latin typeface="Noto Sans CJK JP" pitchFamily="34" charset="0"/>
                          <a:ea typeface="Noto Sans CJK JP" pitchFamily="34" charset="-122"/>
                          <a:cs typeface="Noto Sans CJK JP" pitchFamily="34" charset="-120"/>
                        </a:rPr>
                        <a:t>B班</a:t>
                      </a: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EDF5F7"/>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r>
              <a:tr h="502920">
                <a:tc>
                  <a:txBody>
                    <a:bodyPr/>
                    <a:lstStyle/>
                    <a:p>
                      <a:pPr algn="ctr" indent="0" marL="0">
                        <a:buNone/>
                      </a:pPr>
                      <a:r>
                        <a:rPr lang="en-US" sz="1800" b="1" dirty="0">
                          <a:solidFill>
                            <a:srgbClr val="12243A"/>
                          </a:solidFill>
                          <a:latin typeface="Noto Sans CJK JP" pitchFamily="34" charset="0"/>
                          <a:ea typeface="Noto Sans CJK JP" pitchFamily="34" charset="-122"/>
                          <a:cs typeface="Noto Sans CJK JP" pitchFamily="34" charset="-120"/>
                        </a:rPr>
                        <a:t>C班</a:t>
                      </a: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EDF5F7"/>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r>
              <a:tr h="502920">
                <a:tc>
                  <a:txBody>
                    <a:bodyPr/>
                    <a:lstStyle/>
                    <a:p>
                      <a:pPr algn="ctr" indent="0" marL="0">
                        <a:buNone/>
                      </a:pPr>
                      <a:r>
                        <a:rPr lang="en-US" sz="1800" b="1" dirty="0">
                          <a:solidFill>
                            <a:srgbClr val="12243A"/>
                          </a:solidFill>
                          <a:latin typeface="Noto Sans CJK JP" pitchFamily="34" charset="0"/>
                          <a:ea typeface="Noto Sans CJK JP" pitchFamily="34" charset="-122"/>
                          <a:cs typeface="Noto Sans CJK JP" pitchFamily="34" charset="-120"/>
                        </a:rPr>
                        <a:t>D班</a:t>
                      </a: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EDF5F7"/>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r>
              <a:tr h="502920">
                <a:tc>
                  <a:txBody>
                    <a:bodyPr/>
                    <a:lstStyle/>
                    <a:p>
                      <a:pPr algn="ctr" indent="0" marL="0">
                        <a:buNone/>
                      </a:pPr>
                      <a:r>
                        <a:rPr lang="en-US" sz="1800" b="1" dirty="0">
                          <a:solidFill>
                            <a:srgbClr val="12243A"/>
                          </a:solidFill>
                          <a:latin typeface="Noto Sans CJK JP" pitchFamily="34" charset="0"/>
                          <a:ea typeface="Noto Sans CJK JP" pitchFamily="34" charset="-122"/>
                          <a:cs typeface="Noto Sans CJK JP" pitchFamily="34" charset="-120"/>
                        </a:rPr>
                        <a:t>E班</a:t>
                      </a: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EDF5F7"/>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c>
                  <a:txBody>
                    <a:bodyPr/>
                    <a:lstStyle/>
                    <a:p>
                      <a:pPr indent="0" marL="0">
                        <a:buNone/>
                      </a:pPr>
                      <a:endParaRPr lang="en-US" sz="1800" dirty="0">
                        <a:latin typeface="Noto Sans CJK JP" charset="0"/>
                        <a:ea typeface="Noto Sans CJK JP" charset="0"/>
                        <a:cs typeface="Noto Sans CJK JP" charset="0"/>
                      </a:endParaRPr>
                    </a:p>
                  </a:txBody>
                  <a:tcPr marL="109728" marR="109728" marT="36576" marB="36576" anchor="ctr">
                    <a:lnL w="12700" cap="flat" cmpd="sng" algn="ctr">
                      <a:solidFill>
                        <a:srgbClr val="C9DDE2"/>
                      </a:solidFill>
                      <a:prstDash val="solid"/>
                      <a:round/>
                      <a:headEnd type="none" w="med" len="med"/>
                      <a:tailEnd type="none" w="med" len="med"/>
                    </a:lnL>
                    <a:lnR w="12700" cap="flat" cmpd="sng" algn="ctr">
                      <a:solidFill>
                        <a:srgbClr val="C9DDE2"/>
                      </a:solidFill>
                      <a:prstDash val="solid"/>
                      <a:round/>
                      <a:headEnd type="none" w="med" len="med"/>
                      <a:tailEnd type="none" w="med" len="med"/>
                    </a:lnR>
                    <a:lnT w="12700" cap="flat" cmpd="sng" algn="ctr">
                      <a:solidFill>
                        <a:srgbClr val="C9DDE2"/>
                      </a:solidFill>
                      <a:prstDash val="solid"/>
                      <a:round/>
                      <a:headEnd type="none" w="med" len="med"/>
                      <a:tailEnd type="none" w="med" len="med"/>
                    </a:lnT>
                    <a:lnB w="12700" cap="flat" cmpd="sng" algn="ctr">
                      <a:solidFill>
                        <a:srgbClr val="C9DDE2"/>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285232"/>
            <a:ext cx="11091672" cy="566928"/>
          </a:xfrm>
          <a:prstGeom prst="roundRect">
            <a:avLst>
              <a:gd name="adj" fmla="val 19355"/>
            </a:avLst>
          </a:prstGeom>
          <a:solidFill>
            <a:schemeClr val="accent3"/>
          </a:solidFill>
          <a:ln/>
        </p:spPr>
      </p:sp>
      <p:pic>
        <p:nvPicPr>
          <p:cNvPr id="9" name="Image 0" descr="TbHandClick">    </p:cNvPr>
          <p:cNvPicPr>
            <a:picLocks noChangeAspect="1"/>
          </p:cNvPicPr>
          <p:nvPr/>
        </p:nvPicPr>
        <p:blipFill>
          <a:blip r:embed="rId1"/>
          <a:stretch>
            <a:fillRect/>
          </a:stretch>
        </p:blipFill>
        <p:spPr>
          <a:xfrm>
            <a:off x="777240" y="5349240"/>
            <a:ext cx="438912" cy="438912"/>
          </a:xfrm>
          <a:prstGeom prst="rect">
            <a:avLst/>
          </a:prstGeom>
        </p:spPr>
      </p:pic>
      <p:sp>
        <p:nvSpPr>
          <p:cNvPr id="10" name="Text 5"/>
          <p:cNvSpPr txBox="1"/>
          <p:nvPr/>
        </p:nvSpPr>
        <p:spPr>
          <a:xfrm>
            <a:off x="1371600" y="5285232"/>
            <a:ext cx="10058400" cy="566928"/>
          </a:xfrm>
          <a:prstGeom prst="rect">
            <a:avLst/>
          </a:prstGeom>
          <a:noFill/>
          <a:ln/>
        </p:spPr>
        <p:txBody>
          <a:bodyPr wrap="square" lIns="0" tIns="0" rIns="0" bIns="0" rtlCol="0" anchor="ctr"/>
          <a:lstStyle/>
          <a:p>
            <a:pPr indent="0" marL="0">
              <a:buNone/>
            </a:pPr>
            <a:r>
              <a:rPr lang="ja-JP" altLang="en-US" sz="2200" b="1" dirty="0">
                <a:solidFill>
                  <a:schemeClr val="tx2"/>
                </a:solidFill>
              </a:rPr>
              <a:t>「自分だったら参加したい？」と「なぜ？」を大事にする。</a:t>
            </a:r>
            <a:endParaRPr lang="ja-JP" sz="2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07｜業界研究の活かし方・まとめ</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業界研究の7つの問いに戻ってみよう</a:t>
            </a:r>
            <a:endParaRPr lang="en-US" sz="3000" dirty="0"/>
          </a:p>
        </p:txBody>
      </p:sp>
      <p:sp>
        <p:nvSpPr>
          <p:cNvPr id="5" name="Shape 2"/>
          <p:cNvSpPr/>
          <p:nvPr/>
        </p:nvSpPr>
        <p:spPr>
          <a:xfrm>
            <a:off x="548640" y="1691640"/>
            <a:ext cx="2624328" cy="1783080"/>
          </a:xfrm>
          <a:prstGeom prst="roundRect">
            <a:avLst>
              <a:gd name="adj" fmla="val 8205"/>
            </a:avLst>
          </a:prstGeom>
          <a:solidFill>
            <a:schemeClr val="bg2"/>
          </a:solidFill>
          <a:ln/>
        </p:spPr>
      </p:sp>
      <p:sp>
        <p:nvSpPr>
          <p:cNvPr id="6" name="Text 3"/>
          <p:cNvSpPr txBox="1"/>
          <p:nvPr/>
        </p:nvSpPr>
        <p:spPr>
          <a:xfrm>
            <a:off x="713232" y="1856232"/>
            <a:ext cx="502920" cy="50292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1</a:t>
            </a:r>
            <a:endParaRPr lang="ja-JP" sz="2000" dirty="0"/>
          </a:p>
        </p:txBody>
      </p:sp>
      <p:sp>
        <p:nvSpPr>
          <p:cNvPr id="7" name="Text 4"/>
          <p:cNvSpPr txBox="1"/>
          <p:nvPr/>
        </p:nvSpPr>
        <p:spPr>
          <a:xfrm>
            <a:off x="713232" y="2423160"/>
            <a:ext cx="2377440" cy="621792"/>
          </a:xfrm>
          <a:prstGeom prst="rect">
            <a:avLst/>
          </a:prstGeom>
          <a:noFill/>
          <a:ln/>
        </p:spPr>
        <p:txBody>
          <a:bodyPr wrap="square" lIns="0" tIns="0" rIns="0" bIns="0" rtlCol="0" anchor="ctr"/>
          <a:lstStyle/>
          <a:p>
            <a:pPr indent="0" marL="0">
              <a:buNone/>
            </a:pPr>
            <a:r>
              <a:rPr lang="ja-JP" altLang="en-US" sz="1900" b="1" dirty="0">
                <a:solidFill>
                  <a:schemeClr val="tx2"/>
                </a:solidFill>
              </a:rPr>
              <a:t>社会に何を</a:t>
            </a:r>
            <a:endParaRPr lang="ja-JP" sz="1900" dirty="0"/>
          </a:p>
          <a:p>
            <a:pPr indent="0" marL="0">
              <a:buNone/>
            </a:pPr>
            <a:r>
              <a:rPr lang="ja-JP" altLang="en-US" sz="1900" b="1" dirty="0">
                <a:solidFill>
                  <a:schemeClr val="tx2"/>
                </a:solidFill>
              </a:rPr>
              <a:t>提供する？</a:t>
            </a:r>
            <a:endParaRPr lang="ja-JP" sz="1900" dirty="0"/>
          </a:p>
        </p:txBody>
      </p:sp>
      <p:sp>
        <p:nvSpPr>
          <p:cNvPr id="8" name="Text 5"/>
          <p:cNvSpPr txBox="1"/>
          <p:nvPr/>
        </p:nvSpPr>
        <p:spPr>
          <a:xfrm>
            <a:off x="713232" y="3063240"/>
            <a:ext cx="2377440" cy="320040"/>
          </a:xfrm>
          <a:prstGeom prst="rect">
            <a:avLst/>
          </a:prstGeom>
          <a:noFill/>
          <a:ln/>
        </p:spPr>
        <p:txBody>
          <a:bodyPr wrap="square" lIns="0" tIns="0" rIns="0" bIns="0" rtlCol="0" anchor="ctr"/>
          <a:lstStyle/>
          <a:p>
            <a:pPr indent="0" marL="0">
              <a:buNone/>
            </a:pPr>
            <a:r>
              <a:rPr lang="ja-JP" altLang="en-US" sz="1500" b="1" dirty="0">
                <a:solidFill>
                  <a:schemeClr val="accent1"/>
                </a:solidFill>
              </a:rPr>
              <a:t>橋・車・電力の素材</a:t>
            </a:r>
            <a:endParaRPr lang="ja-JP" sz="1500" dirty="0"/>
          </a:p>
        </p:txBody>
      </p:sp>
      <p:sp>
        <p:nvSpPr>
          <p:cNvPr id="9" name="Shape 6"/>
          <p:cNvSpPr/>
          <p:nvPr/>
        </p:nvSpPr>
        <p:spPr>
          <a:xfrm>
            <a:off x="3355848" y="1691640"/>
            <a:ext cx="2624328" cy="1783080"/>
          </a:xfrm>
          <a:prstGeom prst="roundRect">
            <a:avLst>
              <a:gd name="adj" fmla="val 8205"/>
            </a:avLst>
          </a:prstGeom>
          <a:solidFill>
            <a:schemeClr val="bg2"/>
          </a:solidFill>
          <a:ln/>
        </p:spPr>
      </p:sp>
      <p:sp>
        <p:nvSpPr>
          <p:cNvPr id="10" name="Text 7"/>
          <p:cNvSpPr txBox="1"/>
          <p:nvPr/>
        </p:nvSpPr>
        <p:spPr>
          <a:xfrm>
            <a:off x="3520440" y="1856232"/>
            <a:ext cx="502920" cy="50292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2</a:t>
            </a:r>
            <a:endParaRPr lang="ja-JP" sz="2000" dirty="0"/>
          </a:p>
        </p:txBody>
      </p:sp>
      <p:sp>
        <p:nvSpPr>
          <p:cNvPr id="11" name="Text 8"/>
          <p:cNvSpPr txBox="1"/>
          <p:nvPr/>
        </p:nvSpPr>
        <p:spPr>
          <a:xfrm>
            <a:off x="3520440" y="2423160"/>
            <a:ext cx="2377440" cy="621792"/>
          </a:xfrm>
          <a:prstGeom prst="rect">
            <a:avLst/>
          </a:prstGeom>
          <a:noFill/>
          <a:ln/>
        </p:spPr>
        <p:txBody>
          <a:bodyPr wrap="square" lIns="0" tIns="0" rIns="0" bIns="0" rtlCol="0" anchor="ctr"/>
          <a:lstStyle/>
          <a:p>
            <a:pPr indent="0" marL="0">
              <a:buNone/>
            </a:pPr>
            <a:r>
              <a:rPr lang="ja-JP" altLang="en-US" sz="1900" b="1" dirty="0">
                <a:solidFill>
                  <a:schemeClr val="tx2"/>
                </a:solidFill>
              </a:rPr>
              <a:t>どんな企業が</a:t>
            </a:r>
            <a:endParaRPr lang="ja-JP" sz="1900" dirty="0"/>
          </a:p>
          <a:p>
            <a:pPr indent="0" marL="0">
              <a:buNone/>
            </a:pPr>
            <a:r>
              <a:rPr lang="ja-JP" altLang="en-US" sz="1900" b="1" dirty="0">
                <a:solidFill>
                  <a:schemeClr val="tx2"/>
                </a:solidFill>
              </a:rPr>
              <a:t>いる？</a:t>
            </a:r>
            <a:endParaRPr lang="ja-JP" sz="1900" dirty="0"/>
          </a:p>
        </p:txBody>
      </p:sp>
      <p:sp>
        <p:nvSpPr>
          <p:cNvPr id="12" name="Text 9"/>
          <p:cNvSpPr txBox="1"/>
          <p:nvPr/>
        </p:nvSpPr>
        <p:spPr>
          <a:xfrm>
            <a:off x="3520440" y="3063240"/>
            <a:ext cx="2377440" cy="320040"/>
          </a:xfrm>
          <a:prstGeom prst="rect">
            <a:avLst/>
          </a:prstGeom>
          <a:noFill/>
          <a:ln/>
        </p:spPr>
        <p:txBody>
          <a:bodyPr wrap="square" lIns="0" tIns="0" rIns="0" bIns="0" rtlCol="0" anchor="ctr"/>
          <a:lstStyle/>
          <a:p>
            <a:pPr indent="0" marL="0">
              <a:buNone/>
            </a:pPr>
            <a:r>
              <a:rPr lang="ja-JP" altLang="en-US" sz="1500" b="1" dirty="0">
                <a:solidFill>
                  <a:schemeClr val="accent1"/>
                </a:solidFill>
              </a:rPr>
              <a:t>製鉄・製錬・加工・商社</a:t>
            </a:r>
            <a:endParaRPr lang="ja-JP" sz="1500" dirty="0"/>
          </a:p>
        </p:txBody>
      </p:sp>
      <p:sp>
        <p:nvSpPr>
          <p:cNvPr id="13" name="Shape 10"/>
          <p:cNvSpPr/>
          <p:nvPr/>
        </p:nvSpPr>
        <p:spPr>
          <a:xfrm>
            <a:off x="6163056" y="1691640"/>
            <a:ext cx="2624328" cy="1783080"/>
          </a:xfrm>
          <a:prstGeom prst="roundRect">
            <a:avLst>
              <a:gd name="adj" fmla="val 8205"/>
            </a:avLst>
          </a:prstGeom>
          <a:solidFill>
            <a:schemeClr val="bg2"/>
          </a:solidFill>
          <a:ln/>
        </p:spPr>
      </p:sp>
      <p:sp>
        <p:nvSpPr>
          <p:cNvPr id="14" name="Text 11"/>
          <p:cNvSpPr txBox="1"/>
          <p:nvPr/>
        </p:nvSpPr>
        <p:spPr>
          <a:xfrm>
            <a:off x="6327648" y="1856232"/>
            <a:ext cx="502920" cy="50292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3</a:t>
            </a:r>
            <a:endParaRPr lang="ja-JP" sz="2000" dirty="0"/>
          </a:p>
        </p:txBody>
      </p:sp>
      <p:sp>
        <p:nvSpPr>
          <p:cNvPr id="15" name="Text 12"/>
          <p:cNvSpPr txBox="1"/>
          <p:nvPr/>
        </p:nvSpPr>
        <p:spPr>
          <a:xfrm>
            <a:off x="6327648" y="2423160"/>
            <a:ext cx="2377440" cy="621792"/>
          </a:xfrm>
          <a:prstGeom prst="rect">
            <a:avLst/>
          </a:prstGeom>
          <a:noFill/>
          <a:ln/>
        </p:spPr>
        <p:txBody>
          <a:bodyPr wrap="square" lIns="0" tIns="0" rIns="0" bIns="0" rtlCol="0" anchor="ctr"/>
          <a:lstStyle/>
          <a:p>
            <a:pPr indent="0" marL="0">
              <a:buNone/>
            </a:pPr>
            <a:r>
              <a:rPr lang="ja-JP" altLang="en-US" sz="1900" b="1" dirty="0">
                <a:solidFill>
                  <a:schemeClr val="tx2"/>
                </a:solidFill>
              </a:rPr>
              <a:t>誰が顧客？</a:t>
            </a:r>
            <a:endParaRPr lang="ja-JP" sz="1900" dirty="0"/>
          </a:p>
        </p:txBody>
      </p:sp>
      <p:sp>
        <p:nvSpPr>
          <p:cNvPr id="16" name="Text 13"/>
          <p:cNvSpPr txBox="1"/>
          <p:nvPr/>
        </p:nvSpPr>
        <p:spPr>
          <a:xfrm>
            <a:off x="6327648" y="3063240"/>
            <a:ext cx="2377440" cy="320040"/>
          </a:xfrm>
          <a:prstGeom prst="rect">
            <a:avLst/>
          </a:prstGeom>
          <a:noFill/>
          <a:ln/>
        </p:spPr>
        <p:txBody>
          <a:bodyPr wrap="square" lIns="0" tIns="0" rIns="0" bIns="0" rtlCol="0" anchor="ctr"/>
          <a:lstStyle/>
          <a:p>
            <a:pPr indent="0" marL="0">
              <a:buNone/>
            </a:pPr>
            <a:r>
              <a:rPr lang="ja-JP" altLang="en-US" sz="1500" b="1" dirty="0">
                <a:solidFill>
                  <a:schemeClr val="accent1"/>
                </a:solidFill>
              </a:rPr>
              <a:t>自動車・建設・電機</a:t>
            </a:r>
            <a:endParaRPr lang="ja-JP" sz="1500" dirty="0"/>
          </a:p>
        </p:txBody>
      </p:sp>
      <p:sp>
        <p:nvSpPr>
          <p:cNvPr id="17" name="Shape 14"/>
          <p:cNvSpPr/>
          <p:nvPr/>
        </p:nvSpPr>
        <p:spPr>
          <a:xfrm>
            <a:off x="8970264" y="1691640"/>
            <a:ext cx="2624328" cy="1783080"/>
          </a:xfrm>
          <a:prstGeom prst="roundRect">
            <a:avLst>
              <a:gd name="adj" fmla="val 8205"/>
            </a:avLst>
          </a:prstGeom>
          <a:solidFill>
            <a:schemeClr val="bg2"/>
          </a:solidFill>
          <a:ln/>
        </p:spPr>
      </p:sp>
      <p:sp>
        <p:nvSpPr>
          <p:cNvPr id="18" name="Text 15"/>
          <p:cNvSpPr txBox="1"/>
          <p:nvPr/>
        </p:nvSpPr>
        <p:spPr>
          <a:xfrm>
            <a:off x="9134856" y="1856232"/>
            <a:ext cx="502920" cy="50292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4</a:t>
            </a:r>
            <a:endParaRPr lang="ja-JP" sz="2000" dirty="0"/>
          </a:p>
        </p:txBody>
      </p:sp>
      <p:sp>
        <p:nvSpPr>
          <p:cNvPr id="19" name="Text 16"/>
          <p:cNvSpPr txBox="1"/>
          <p:nvPr/>
        </p:nvSpPr>
        <p:spPr>
          <a:xfrm>
            <a:off x="9134856" y="2423160"/>
            <a:ext cx="2377440" cy="621792"/>
          </a:xfrm>
          <a:prstGeom prst="rect">
            <a:avLst/>
          </a:prstGeom>
          <a:noFill/>
          <a:ln/>
        </p:spPr>
        <p:txBody>
          <a:bodyPr wrap="square" lIns="0" tIns="0" rIns="0" bIns="0" rtlCol="0" anchor="ctr"/>
          <a:lstStyle/>
          <a:p>
            <a:pPr indent="0" marL="0">
              <a:buNone/>
            </a:pPr>
            <a:r>
              <a:rPr lang="ja-JP" altLang="en-US" sz="1900" b="1" dirty="0">
                <a:solidFill>
                  <a:schemeClr val="tx2"/>
                </a:solidFill>
              </a:rPr>
              <a:t>どう儲ける？</a:t>
            </a:r>
            <a:endParaRPr lang="ja-JP" sz="1900" dirty="0"/>
          </a:p>
        </p:txBody>
      </p:sp>
      <p:sp>
        <p:nvSpPr>
          <p:cNvPr id="20" name="Text 17"/>
          <p:cNvSpPr txBox="1"/>
          <p:nvPr/>
        </p:nvSpPr>
        <p:spPr>
          <a:xfrm>
            <a:off x="9134856" y="3063240"/>
            <a:ext cx="2377440" cy="320040"/>
          </a:xfrm>
          <a:prstGeom prst="rect">
            <a:avLst/>
          </a:prstGeom>
          <a:noFill/>
          <a:ln/>
        </p:spPr>
        <p:txBody>
          <a:bodyPr wrap="square" lIns="0" tIns="0" rIns="0" bIns="0" rtlCol="0" anchor="ctr"/>
          <a:lstStyle/>
          <a:p>
            <a:pPr indent="0" marL="0">
              <a:buNone/>
            </a:pPr>
            <a:r>
              <a:rPr lang="ja-JP" altLang="en-US" sz="1500" b="1" dirty="0">
                <a:solidFill>
                  <a:schemeClr val="accent1"/>
                </a:solidFill>
              </a:rPr>
              <a:t>価格×数量−原料費</a:t>
            </a:r>
            <a:endParaRPr lang="ja-JP" sz="1500" dirty="0"/>
          </a:p>
        </p:txBody>
      </p:sp>
      <p:sp>
        <p:nvSpPr>
          <p:cNvPr id="21" name="Shape 18"/>
          <p:cNvSpPr/>
          <p:nvPr/>
        </p:nvSpPr>
        <p:spPr>
          <a:xfrm>
            <a:off x="548640" y="3639312"/>
            <a:ext cx="2624328" cy="1783080"/>
          </a:xfrm>
          <a:prstGeom prst="roundRect">
            <a:avLst>
              <a:gd name="adj" fmla="val 8205"/>
            </a:avLst>
          </a:prstGeom>
          <a:solidFill>
            <a:schemeClr val="bg2"/>
          </a:solidFill>
          <a:ln/>
        </p:spPr>
      </p:sp>
      <p:sp>
        <p:nvSpPr>
          <p:cNvPr id="22" name="Text 19"/>
          <p:cNvSpPr txBox="1"/>
          <p:nvPr/>
        </p:nvSpPr>
        <p:spPr>
          <a:xfrm>
            <a:off x="713232" y="3803904"/>
            <a:ext cx="502920" cy="50292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5</a:t>
            </a:r>
            <a:endParaRPr lang="ja-JP" sz="2000" dirty="0"/>
          </a:p>
        </p:txBody>
      </p:sp>
      <p:sp>
        <p:nvSpPr>
          <p:cNvPr id="23" name="Text 20"/>
          <p:cNvSpPr txBox="1"/>
          <p:nvPr/>
        </p:nvSpPr>
        <p:spPr>
          <a:xfrm>
            <a:off x="713232" y="4370832"/>
            <a:ext cx="2377440" cy="621792"/>
          </a:xfrm>
          <a:prstGeom prst="rect">
            <a:avLst/>
          </a:prstGeom>
          <a:noFill/>
          <a:ln/>
        </p:spPr>
        <p:txBody>
          <a:bodyPr wrap="square" lIns="0" tIns="0" rIns="0" bIns="0" rtlCol="0" anchor="ctr"/>
          <a:lstStyle/>
          <a:p>
            <a:pPr indent="0" marL="0">
              <a:buNone/>
            </a:pPr>
            <a:r>
              <a:rPr lang="ja-JP" altLang="en-US" sz="1900" b="1" dirty="0">
                <a:solidFill>
                  <a:schemeClr val="tx2"/>
                </a:solidFill>
              </a:rPr>
              <a:t>強みは？</a:t>
            </a:r>
            <a:endParaRPr lang="ja-JP" sz="1900" dirty="0"/>
          </a:p>
        </p:txBody>
      </p:sp>
      <p:sp>
        <p:nvSpPr>
          <p:cNvPr id="24" name="Text 21"/>
          <p:cNvSpPr txBox="1"/>
          <p:nvPr/>
        </p:nvSpPr>
        <p:spPr>
          <a:xfrm>
            <a:off x="713232" y="5010912"/>
            <a:ext cx="2377440" cy="320040"/>
          </a:xfrm>
          <a:prstGeom prst="rect">
            <a:avLst/>
          </a:prstGeom>
          <a:noFill/>
          <a:ln/>
        </p:spPr>
        <p:txBody>
          <a:bodyPr wrap="square" lIns="0" tIns="0" rIns="0" bIns="0" rtlCol="0" anchor="ctr"/>
          <a:lstStyle/>
          <a:p>
            <a:pPr indent="0" marL="0">
              <a:buNone/>
            </a:pPr>
            <a:r>
              <a:rPr lang="ja-JP" altLang="en-US" sz="1500" b="1" dirty="0">
                <a:solidFill>
                  <a:schemeClr val="accent1"/>
                </a:solidFill>
              </a:rPr>
              <a:t>品質・技術・供給力</a:t>
            </a:r>
            <a:endParaRPr lang="ja-JP" sz="1500" dirty="0"/>
          </a:p>
        </p:txBody>
      </p:sp>
      <p:sp>
        <p:nvSpPr>
          <p:cNvPr id="25" name="Shape 22"/>
          <p:cNvSpPr/>
          <p:nvPr/>
        </p:nvSpPr>
        <p:spPr>
          <a:xfrm>
            <a:off x="3355848" y="3639312"/>
            <a:ext cx="2624328" cy="1783080"/>
          </a:xfrm>
          <a:prstGeom prst="roundRect">
            <a:avLst>
              <a:gd name="adj" fmla="val 8205"/>
            </a:avLst>
          </a:prstGeom>
          <a:solidFill>
            <a:schemeClr val="bg2"/>
          </a:solidFill>
          <a:ln/>
        </p:spPr>
      </p:sp>
      <p:sp>
        <p:nvSpPr>
          <p:cNvPr id="26" name="Text 23"/>
          <p:cNvSpPr txBox="1"/>
          <p:nvPr/>
        </p:nvSpPr>
        <p:spPr>
          <a:xfrm>
            <a:off x="3520440" y="3803904"/>
            <a:ext cx="502920" cy="50292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6</a:t>
            </a:r>
            <a:endParaRPr lang="ja-JP" sz="2000" dirty="0"/>
          </a:p>
        </p:txBody>
      </p:sp>
      <p:sp>
        <p:nvSpPr>
          <p:cNvPr id="27" name="Text 24"/>
          <p:cNvSpPr txBox="1"/>
          <p:nvPr/>
        </p:nvSpPr>
        <p:spPr>
          <a:xfrm>
            <a:off x="3520440" y="4370832"/>
            <a:ext cx="2377440" cy="621792"/>
          </a:xfrm>
          <a:prstGeom prst="rect">
            <a:avLst/>
          </a:prstGeom>
          <a:noFill/>
          <a:ln/>
        </p:spPr>
        <p:txBody>
          <a:bodyPr wrap="square" lIns="0" tIns="0" rIns="0" bIns="0" rtlCol="0" anchor="ctr"/>
          <a:lstStyle/>
          <a:p>
            <a:pPr indent="0" marL="0">
              <a:buNone/>
            </a:pPr>
            <a:r>
              <a:rPr lang="ja-JP" altLang="en-US" sz="1900" b="1" dirty="0">
                <a:solidFill>
                  <a:schemeClr val="tx2"/>
                </a:solidFill>
              </a:rPr>
              <a:t>どんなニュースが</a:t>
            </a:r>
            <a:endParaRPr lang="ja-JP" sz="1900" dirty="0"/>
          </a:p>
          <a:p>
            <a:pPr indent="0" marL="0">
              <a:buNone/>
            </a:pPr>
            <a:r>
              <a:rPr lang="ja-JP" altLang="en-US" sz="1900" b="1" dirty="0">
                <a:solidFill>
                  <a:schemeClr val="tx2"/>
                </a:solidFill>
              </a:rPr>
              <a:t>影響？</a:t>
            </a:r>
            <a:endParaRPr lang="ja-JP" sz="1900" dirty="0"/>
          </a:p>
        </p:txBody>
      </p:sp>
      <p:sp>
        <p:nvSpPr>
          <p:cNvPr id="28" name="Text 25"/>
          <p:cNvSpPr txBox="1"/>
          <p:nvPr/>
        </p:nvSpPr>
        <p:spPr>
          <a:xfrm>
            <a:off x="3520440" y="5010912"/>
            <a:ext cx="2377440" cy="320040"/>
          </a:xfrm>
          <a:prstGeom prst="rect">
            <a:avLst/>
          </a:prstGeom>
          <a:noFill/>
          <a:ln/>
        </p:spPr>
        <p:txBody>
          <a:bodyPr wrap="square" lIns="0" tIns="0" rIns="0" bIns="0" rtlCol="0" anchor="ctr"/>
          <a:lstStyle/>
          <a:p>
            <a:pPr indent="0" marL="0">
              <a:buNone/>
            </a:pPr>
            <a:r>
              <a:rPr lang="ja-JP" altLang="en-US" sz="1500" b="1" dirty="0">
                <a:solidFill>
                  <a:schemeClr val="accent1"/>
                </a:solidFill>
              </a:rPr>
              <a:t>価格・脱炭素・海外需要</a:t>
            </a:r>
            <a:endParaRPr lang="ja-JP" sz="1500" dirty="0"/>
          </a:p>
        </p:txBody>
      </p:sp>
      <p:sp>
        <p:nvSpPr>
          <p:cNvPr id="29" name="Shape 26"/>
          <p:cNvSpPr/>
          <p:nvPr/>
        </p:nvSpPr>
        <p:spPr>
          <a:xfrm>
            <a:off x="6163056" y="3639312"/>
            <a:ext cx="5477256" cy="1783080"/>
          </a:xfrm>
          <a:prstGeom prst="roundRect">
            <a:avLst>
              <a:gd name="adj" fmla="val 9231"/>
            </a:avLst>
          </a:prstGeom>
          <a:solidFill>
            <a:schemeClr val="accent3"/>
          </a:solidFill>
          <a:ln/>
          <a:effectLst>
            <a:outerShdw sx="100000" sy="100000" kx="0" ky="0" algn="bl" rotWithShape="0" blurRad="101600" dist="25400" dir="5400000">
              <a:srgbClr val="12243A">
                <a:alpha val="14000"/>
              </a:srgbClr>
            </a:outerShdw>
          </a:effectLst>
        </p:spPr>
      </p:sp>
      <p:sp>
        <p:nvSpPr>
          <p:cNvPr id="30" name="Text 27"/>
          <p:cNvSpPr txBox="1"/>
          <p:nvPr/>
        </p:nvSpPr>
        <p:spPr>
          <a:xfrm>
            <a:off x="6355080" y="3813048"/>
            <a:ext cx="566928" cy="566928"/>
          </a:xfrm>
          <a:prstGeom prst="ellipse">
            <a:avLst/>
          </a:prstGeom>
          <a:solidFill>
            <a:schemeClr val="tx2"/>
          </a:solidFill>
          <a:ln/>
        </p:spPr>
        <p:txBody>
          <a:bodyPr wrap="square" lIns="0" tIns="0" rIns="0" bIns="0" rtlCol="0" anchor="ctr"/>
          <a:lstStyle/>
          <a:p>
            <a:pPr algn="ctr" indent="0" marL="0">
              <a:buNone/>
            </a:pPr>
            <a:r>
              <a:rPr lang="ja-JP" altLang="en-US" sz="2200" b="1" dirty="0">
                <a:solidFill>
                  <a:schemeClr val="bg1"/>
                </a:solidFill>
              </a:rPr>
              <a:t>7</a:t>
            </a:r>
            <a:endParaRPr lang="ja-JP" sz="2200" dirty="0"/>
          </a:p>
        </p:txBody>
      </p:sp>
      <p:sp>
        <p:nvSpPr>
          <p:cNvPr id="31" name="Text 28"/>
          <p:cNvSpPr txBox="1"/>
          <p:nvPr/>
        </p:nvSpPr>
        <p:spPr>
          <a:xfrm>
            <a:off x="7040880" y="3767328"/>
            <a:ext cx="4526280" cy="685800"/>
          </a:xfrm>
          <a:prstGeom prst="rect">
            <a:avLst/>
          </a:prstGeom>
          <a:noFill/>
          <a:ln/>
        </p:spPr>
        <p:txBody>
          <a:bodyPr wrap="square" lIns="0" tIns="0" rIns="0" bIns="0" rtlCol="0" anchor="ctr"/>
          <a:lstStyle/>
          <a:p>
            <a:pPr indent="0" marL="0">
              <a:buNone/>
            </a:pPr>
            <a:r>
              <a:rPr lang="ja-JP" altLang="en-US" sz="2000" b="1" dirty="0">
                <a:solidFill>
                  <a:schemeClr val="tx2"/>
                </a:solidFill>
              </a:rPr>
              <a:t>最後に：自分はどこに興味を持った？</a:t>
            </a:r>
            <a:endParaRPr lang="ja-JP" sz="2000" dirty="0"/>
          </a:p>
        </p:txBody>
      </p:sp>
      <p:sp>
        <p:nvSpPr>
          <p:cNvPr id="32" name="Text 29"/>
          <p:cNvSpPr txBox="1"/>
          <p:nvPr/>
        </p:nvSpPr>
        <p:spPr>
          <a:xfrm>
            <a:off x="6355080" y="4526280"/>
            <a:ext cx="5120640" cy="777240"/>
          </a:xfrm>
          <a:prstGeom prst="rect">
            <a:avLst/>
          </a:prstGeom>
          <a:noFill/>
          <a:ln/>
        </p:spPr>
        <p:txBody>
          <a:bodyPr wrap="square" lIns="0" tIns="0" rIns="0" bIns="0" rtlCol="0" anchor="t"/>
          <a:lstStyle/>
          <a:p>
            <a:pPr indent="0" marL="0">
              <a:buNone/>
            </a:pPr>
            <a:r>
              <a:rPr lang="ja-JP" altLang="en-US" sz="1600" dirty="0">
                <a:solidFill>
                  <a:schemeClr val="tx2"/>
                </a:solidFill>
              </a:rPr>
              <a:t>社会基盤？ 技術？ 世界？ 未来の課題？ ― あなたの答えが、次の業界研究の出発点。</a:t>
            </a:r>
            <a:endParaRPr lang="ja-JP" sz="1600" dirty="0"/>
          </a:p>
        </p:txBody>
      </p:sp>
      <p:sp>
        <p:nvSpPr>
          <p:cNvPr id="33" name="Text 30"/>
          <p:cNvSpPr txBox="1"/>
          <p:nvPr/>
        </p:nvSpPr>
        <p:spPr>
          <a:xfrm>
            <a:off x="548640" y="5577840"/>
            <a:ext cx="11091672" cy="411480"/>
          </a:xfrm>
          <a:prstGeom prst="rect">
            <a:avLst/>
          </a:prstGeom>
          <a:noFill/>
          <a:ln/>
        </p:spPr>
        <p:txBody>
          <a:bodyPr wrap="square" lIns="0" tIns="0" rIns="0" bIns="0" rtlCol="0" anchor="ctr"/>
          <a:lstStyle/>
          <a:p>
            <a:pPr indent="0" marL="0">
              <a:buNone/>
            </a:pPr>
            <a:r>
              <a:rPr lang="ja-JP" altLang="en-US" sz="2200" b="1" dirty="0">
                <a:solidFill>
                  <a:schemeClr val="accent1"/>
                </a:solidFill>
              </a:rPr>
              <a:t>今日と同じ方法で、別の業界も調べられる。</a:t>
            </a:r>
            <a:pPr indent="0" marL="0">
              <a:buNone/>
            </a:pPr>
            <a:r>
              <a:rPr lang="ja-JP" altLang="en-US" sz="1400" b="1" dirty="0">
                <a:solidFill>
                  <a:schemeClr val="accent4"/>
                </a:solidFill>
              </a:rPr>
              <a:t>　（青字は金属業界での例）</a:t>
            </a:r>
            <a:endParaRPr lang="ja-JP" sz="22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92608"/>
          </a:xfrm>
          <a:prstGeom prst="rect">
            <a:avLst/>
          </a:prstGeom>
          <a:noFill/>
          <a:ln/>
        </p:spPr>
        <p:txBody>
          <a:bodyPr wrap="square" lIns="0" tIns="0" rIns="0" bIns="0" rtlCol="0" anchor="ctr"/>
          <a:lstStyle/>
          <a:p>
            <a:pPr indent="0" marL="0">
              <a:buNone/>
            </a:pPr>
            <a:r>
              <a:rPr lang="en-US" sz="1400" b="1" dirty="0">
                <a:solidFill>
                  <a:schemeClr val="accent1"/>
                </a:solidFill>
              </a:rPr>
              <a:t>CHAPTER 07｜業界研究の活かし方・まとめ</a:t>
            </a:r>
            <a:endParaRPr lang="en-US" sz="1400" dirty="0"/>
          </a:p>
        </p:txBody>
      </p:sp>
      <p:sp>
        <p:nvSpPr>
          <p:cNvPr id="3" name="Text 0"/>
          <p:cNvSpPr/>
          <p:nvPr>
            <p:ph idx="101" type="title" hasCustomPrompt="1"/>
          </p:nvPr>
        </p:nvSpPr>
        <p:spPr>
          <a:xfrm>
            <a:off x="548640" y="640080"/>
            <a:ext cx="11091672" cy="749808"/>
          </a:xfrm>
          <a:prstGeom prst="rect">
            <a:avLst/>
          </a:prstGeom>
          <a:noFill/>
          <a:ln/>
        </p:spPr>
        <p:txBody>
          <a:bodyPr wrap="square" lIns="0" tIns="0" rIns="0" bIns="0" rtlCol="0" anchor="ctr"/>
          <a:lstStyle/>
          <a:p>
            <a:pPr algn="l" indent="0" marL="0">
              <a:buNone/>
            </a:pPr>
            <a:r>
              <a:rPr lang="en-US" sz="3000" b="1" dirty="0">
                <a:solidFill>
                  <a:schemeClr val="tx2"/>
                </a:solidFill>
              </a:rPr>
              <a:t>気になる企業から「興味の軸」を探そう</a:t>
            </a:r>
            <a:endParaRPr lang="en-US" sz="3000" dirty="0"/>
          </a:p>
        </p:txBody>
      </p:sp>
      <p:sp>
        <p:nvSpPr>
          <p:cNvPr id="5" name="Text 2"/>
          <p:cNvSpPr txBox="1"/>
          <p:nvPr/>
        </p:nvSpPr>
        <p:spPr>
          <a:xfrm>
            <a:off x="548640" y="1691640"/>
            <a:ext cx="548640" cy="54864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1</a:t>
            </a:r>
            <a:endParaRPr lang="ja-JP" sz="2000" dirty="0"/>
          </a:p>
        </p:txBody>
      </p:sp>
      <p:sp>
        <p:nvSpPr>
          <p:cNvPr id="6" name="Text 3"/>
          <p:cNvSpPr txBox="1"/>
          <p:nvPr/>
        </p:nvSpPr>
        <p:spPr>
          <a:xfrm>
            <a:off x="1152144" y="1645920"/>
            <a:ext cx="1828800" cy="685800"/>
          </a:xfrm>
          <a:prstGeom prst="rect">
            <a:avLst/>
          </a:prstGeom>
          <a:noFill/>
          <a:ln/>
        </p:spPr>
        <p:txBody>
          <a:bodyPr wrap="square" lIns="0" tIns="0" rIns="0" bIns="0" rtlCol="0" anchor="ctr"/>
          <a:lstStyle/>
          <a:p>
            <a:pPr indent="0" marL="0">
              <a:buNone/>
            </a:pPr>
            <a:r>
              <a:rPr lang="ja-JP" altLang="en-US" sz="1600" b="1" dirty="0">
                <a:solidFill>
                  <a:schemeClr val="tx2"/>
                </a:solidFill>
              </a:rPr>
              <a:t>気になる企業を</a:t>
            </a:r>
            <a:endParaRPr lang="ja-JP" sz="1600" dirty="0"/>
          </a:p>
          <a:p>
            <a:pPr indent="0" marL="0">
              <a:buNone/>
            </a:pPr>
            <a:r>
              <a:rPr lang="ja-JP" altLang="en-US" sz="1600" b="1" dirty="0">
                <a:solidFill>
                  <a:schemeClr val="tx2"/>
                </a:solidFill>
              </a:rPr>
              <a:t>5社挙げる</a:t>
            </a:r>
            <a:endParaRPr lang="ja-JP" sz="1600" dirty="0"/>
          </a:p>
        </p:txBody>
      </p:sp>
      <p:sp>
        <p:nvSpPr>
          <p:cNvPr id="7" name="Shape 4"/>
          <p:cNvSpPr/>
          <p:nvPr/>
        </p:nvSpPr>
        <p:spPr>
          <a:xfrm>
            <a:off x="548640" y="2468880"/>
            <a:ext cx="2395728" cy="2971800"/>
          </a:xfrm>
          <a:prstGeom prst="roundRect">
            <a:avLst>
              <a:gd name="adj" fmla="val 6107"/>
            </a:avLst>
          </a:prstGeom>
          <a:solidFill>
            <a:schemeClr val="bg2"/>
          </a:solidFill>
          <a:ln/>
        </p:spPr>
      </p:sp>
      <p:sp>
        <p:nvSpPr>
          <p:cNvPr id="8" name="Shape 5"/>
          <p:cNvSpPr/>
          <p:nvPr/>
        </p:nvSpPr>
        <p:spPr>
          <a:xfrm>
            <a:off x="2990088" y="3749040"/>
            <a:ext cx="411480" cy="411480"/>
          </a:xfrm>
          <a:prstGeom prst="rightArrow">
            <a:avLst/>
          </a:prstGeom>
          <a:solidFill>
            <a:schemeClr val="accent2"/>
          </a:solidFill>
          <a:ln/>
        </p:spPr>
      </p:sp>
      <p:sp>
        <p:nvSpPr>
          <p:cNvPr id="9" name="Text 6"/>
          <p:cNvSpPr txBox="1"/>
          <p:nvPr/>
        </p:nvSpPr>
        <p:spPr>
          <a:xfrm>
            <a:off x="3447288" y="1691640"/>
            <a:ext cx="548640" cy="54864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2</a:t>
            </a:r>
            <a:endParaRPr lang="ja-JP" sz="2000" dirty="0"/>
          </a:p>
        </p:txBody>
      </p:sp>
      <p:sp>
        <p:nvSpPr>
          <p:cNvPr id="10" name="Text 7"/>
          <p:cNvSpPr txBox="1"/>
          <p:nvPr/>
        </p:nvSpPr>
        <p:spPr>
          <a:xfrm>
            <a:off x="4050792" y="1645920"/>
            <a:ext cx="1828800" cy="685800"/>
          </a:xfrm>
          <a:prstGeom prst="rect">
            <a:avLst/>
          </a:prstGeom>
          <a:noFill/>
          <a:ln/>
        </p:spPr>
        <p:txBody>
          <a:bodyPr wrap="square" lIns="0" tIns="0" rIns="0" bIns="0" rtlCol="0" anchor="ctr"/>
          <a:lstStyle/>
          <a:p>
            <a:pPr indent="0" marL="0">
              <a:buNone/>
            </a:pPr>
            <a:r>
              <a:rPr lang="ja-JP" altLang="en-US" sz="1600" b="1" dirty="0">
                <a:solidFill>
                  <a:schemeClr val="tx2"/>
                </a:solidFill>
              </a:rPr>
              <a:t>各社の何に</a:t>
            </a:r>
            <a:endParaRPr lang="ja-JP" sz="1600" dirty="0"/>
          </a:p>
          <a:p>
            <a:pPr indent="0" marL="0">
              <a:buNone/>
            </a:pPr>
            <a:r>
              <a:rPr lang="ja-JP" altLang="en-US" sz="1600" b="1" dirty="0">
                <a:solidFill>
                  <a:schemeClr val="tx2"/>
                </a:solidFill>
              </a:rPr>
              <a:t>惹かれるかを書く</a:t>
            </a:r>
            <a:endParaRPr lang="ja-JP" sz="1600" dirty="0"/>
          </a:p>
        </p:txBody>
      </p:sp>
      <p:sp>
        <p:nvSpPr>
          <p:cNvPr id="11" name="Shape 8"/>
          <p:cNvSpPr/>
          <p:nvPr/>
        </p:nvSpPr>
        <p:spPr>
          <a:xfrm>
            <a:off x="3447288" y="2468880"/>
            <a:ext cx="2395728" cy="2971800"/>
          </a:xfrm>
          <a:prstGeom prst="roundRect">
            <a:avLst>
              <a:gd name="adj" fmla="val 6107"/>
            </a:avLst>
          </a:prstGeom>
          <a:solidFill>
            <a:schemeClr val="bg2"/>
          </a:solidFill>
          <a:ln/>
        </p:spPr>
      </p:sp>
      <p:sp>
        <p:nvSpPr>
          <p:cNvPr id="12" name="Shape 9"/>
          <p:cNvSpPr/>
          <p:nvPr/>
        </p:nvSpPr>
        <p:spPr>
          <a:xfrm>
            <a:off x="5888736" y="3749040"/>
            <a:ext cx="411480" cy="411480"/>
          </a:xfrm>
          <a:prstGeom prst="rightArrow">
            <a:avLst/>
          </a:prstGeom>
          <a:solidFill>
            <a:schemeClr val="accent2"/>
          </a:solidFill>
          <a:ln/>
        </p:spPr>
      </p:sp>
      <p:sp>
        <p:nvSpPr>
          <p:cNvPr id="13" name="Text 10"/>
          <p:cNvSpPr txBox="1"/>
          <p:nvPr/>
        </p:nvSpPr>
        <p:spPr>
          <a:xfrm>
            <a:off x="6345936" y="1691640"/>
            <a:ext cx="548640" cy="548640"/>
          </a:xfrm>
          <a:prstGeom prst="ellipse">
            <a:avLst/>
          </a:prstGeom>
          <a:solidFill>
            <a:schemeClr val="accent1"/>
          </a:solidFill>
          <a:ln/>
        </p:spPr>
        <p:txBody>
          <a:bodyPr wrap="square" lIns="0" tIns="0" rIns="0" bIns="0" rtlCol="0" anchor="ctr"/>
          <a:lstStyle/>
          <a:p>
            <a:pPr algn="ctr" indent="0" marL="0">
              <a:buNone/>
            </a:pPr>
            <a:r>
              <a:rPr lang="ja-JP" altLang="en-US" sz="2000" b="1" dirty="0">
                <a:solidFill>
                  <a:schemeClr val="bg1"/>
                </a:solidFill>
              </a:rPr>
              <a:t>3</a:t>
            </a:r>
            <a:endParaRPr lang="ja-JP" sz="2000" dirty="0"/>
          </a:p>
        </p:txBody>
      </p:sp>
      <p:sp>
        <p:nvSpPr>
          <p:cNvPr id="14" name="Text 11"/>
          <p:cNvSpPr txBox="1"/>
          <p:nvPr/>
        </p:nvSpPr>
        <p:spPr>
          <a:xfrm>
            <a:off x="6949440" y="1645920"/>
            <a:ext cx="1828800" cy="685800"/>
          </a:xfrm>
          <a:prstGeom prst="rect">
            <a:avLst/>
          </a:prstGeom>
          <a:noFill/>
          <a:ln/>
        </p:spPr>
        <p:txBody>
          <a:bodyPr wrap="square" lIns="0" tIns="0" rIns="0" bIns="0" rtlCol="0" anchor="ctr"/>
          <a:lstStyle/>
          <a:p>
            <a:pPr indent="0" marL="0">
              <a:buNone/>
            </a:pPr>
            <a:r>
              <a:rPr lang="ja-JP" altLang="en-US" sz="1600" b="1" dirty="0">
                <a:solidFill>
                  <a:schemeClr val="tx2"/>
                </a:solidFill>
              </a:rPr>
              <a:t>共通点を探す</a:t>
            </a:r>
            <a:endParaRPr lang="ja-JP" sz="1600" dirty="0"/>
          </a:p>
        </p:txBody>
      </p:sp>
      <p:sp>
        <p:nvSpPr>
          <p:cNvPr id="15" name="Shape 12"/>
          <p:cNvSpPr/>
          <p:nvPr/>
        </p:nvSpPr>
        <p:spPr>
          <a:xfrm>
            <a:off x="6345936" y="2468880"/>
            <a:ext cx="2395728" cy="2971800"/>
          </a:xfrm>
          <a:prstGeom prst="roundRect">
            <a:avLst>
              <a:gd name="adj" fmla="val 6107"/>
            </a:avLst>
          </a:prstGeom>
          <a:solidFill>
            <a:schemeClr val="bg2"/>
          </a:solidFill>
          <a:ln/>
        </p:spPr>
      </p:sp>
      <p:sp>
        <p:nvSpPr>
          <p:cNvPr id="16" name="Shape 13"/>
          <p:cNvSpPr/>
          <p:nvPr/>
        </p:nvSpPr>
        <p:spPr>
          <a:xfrm>
            <a:off x="8787384" y="3749040"/>
            <a:ext cx="411480" cy="411480"/>
          </a:xfrm>
          <a:prstGeom prst="rightArrow">
            <a:avLst/>
          </a:prstGeom>
          <a:solidFill>
            <a:schemeClr val="accent2"/>
          </a:solidFill>
          <a:ln/>
        </p:spPr>
      </p:sp>
      <p:sp>
        <p:nvSpPr>
          <p:cNvPr id="17" name="Text 14"/>
          <p:cNvSpPr txBox="1"/>
          <p:nvPr/>
        </p:nvSpPr>
        <p:spPr>
          <a:xfrm>
            <a:off x="9244584" y="1691640"/>
            <a:ext cx="548640" cy="548640"/>
          </a:xfrm>
          <a:prstGeom prst="ellipse">
            <a:avLst/>
          </a:prstGeom>
          <a:solidFill>
            <a:schemeClr val="accent3"/>
          </a:solidFill>
          <a:ln/>
        </p:spPr>
        <p:txBody>
          <a:bodyPr wrap="square" lIns="0" tIns="0" rIns="0" bIns="0" rtlCol="0" anchor="ctr"/>
          <a:lstStyle/>
          <a:p>
            <a:pPr algn="ctr" indent="0" marL="0">
              <a:buNone/>
            </a:pPr>
            <a:r>
              <a:rPr lang="ja-JP" altLang="en-US" sz="2000" b="1" dirty="0">
                <a:solidFill>
                  <a:schemeClr val="tx2"/>
                </a:solidFill>
              </a:rPr>
              <a:t>4</a:t>
            </a:r>
            <a:endParaRPr lang="ja-JP" sz="2000" dirty="0"/>
          </a:p>
        </p:txBody>
      </p:sp>
      <p:sp>
        <p:nvSpPr>
          <p:cNvPr id="18" name="Text 15"/>
          <p:cNvSpPr txBox="1"/>
          <p:nvPr/>
        </p:nvSpPr>
        <p:spPr>
          <a:xfrm>
            <a:off x="9848088" y="1645920"/>
            <a:ext cx="1828800" cy="685800"/>
          </a:xfrm>
          <a:prstGeom prst="rect">
            <a:avLst/>
          </a:prstGeom>
          <a:noFill/>
          <a:ln/>
        </p:spPr>
        <p:txBody>
          <a:bodyPr wrap="square" lIns="0" tIns="0" rIns="0" bIns="0" rtlCol="0" anchor="ctr"/>
          <a:lstStyle/>
          <a:p>
            <a:pPr indent="0" marL="0">
              <a:buNone/>
            </a:pPr>
            <a:r>
              <a:rPr lang="ja-JP" altLang="en-US" sz="1600" b="1" dirty="0">
                <a:solidFill>
                  <a:schemeClr val="tx2"/>
                </a:solidFill>
              </a:rPr>
              <a:t>その軸で、知らない</a:t>
            </a:r>
            <a:endParaRPr lang="ja-JP" sz="1600" dirty="0"/>
          </a:p>
          <a:p>
            <a:pPr indent="0" marL="0">
              <a:buNone/>
            </a:pPr>
            <a:r>
              <a:rPr lang="ja-JP" altLang="en-US" sz="1600" b="1" dirty="0">
                <a:solidFill>
                  <a:schemeClr val="tx2"/>
                </a:solidFill>
              </a:rPr>
              <a:t>業界の企業も探す</a:t>
            </a:r>
            <a:endParaRPr lang="ja-JP" sz="1600" dirty="0"/>
          </a:p>
        </p:txBody>
      </p:sp>
      <p:sp>
        <p:nvSpPr>
          <p:cNvPr id="19" name="Shape 16"/>
          <p:cNvSpPr/>
          <p:nvPr/>
        </p:nvSpPr>
        <p:spPr>
          <a:xfrm>
            <a:off x="9244584" y="2468880"/>
            <a:ext cx="2395728" cy="2971800"/>
          </a:xfrm>
          <a:prstGeom prst="roundRect">
            <a:avLst>
              <a:gd name="adj" fmla="val 6107"/>
            </a:avLst>
          </a:prstGeom>
          <a:solidFill>
            <a:srgbClr val="FCEBD3"/>
          </a:solidFill>
          <a:ln/>
        </p:spPr>
      </p:sp>
      <p:sp>
        <p:nvSpPr>
          <p:cNvPr id="20" name="Text 17"/>
          <p:cNvSpPr txBox="1"/>
          <p:nvPr/>
        </p:nvSpPr>
        <p:spPr>
          <a:xfrm>
            <a:off x="731520" y="2560320"/>
            <a:ext cx="914400" cy="274320"/>
          </a:xfrm>
          <a:prstGeom prst="rect">
            <a:avLst/>
          </a:prstGeom>
          <a:noFill/>
          <a:ln/>
        </p:spPr>
        <p:txBody>
          <a:bodyPr wrap="square" lIns="0" tIns="0" rIns="0" bIns="0" rtlCol="0" anchor="t"/>
          <a:lstStyle/>
          <a:p>
            <a:pPr indent="0" marL="0">
              <a:buNone/>
            </a:pPr>
            <a:r>
              <a:rPr lang="ja-JP" altLang="en-US" sz="1300" b="1" dirty="0">
                <a:solidFill>
                  <a:schemeClr val="accent4"/>
                </a:solidFill>
              </a:rPr>
              <a:t>例</a:t>
            </a:r>
            <a:endParaRPr lang="ja-JP" sz="1300" dirty="0"/>
          </a:p>
        </p:txBody>
      </p:sp>
      <p:sp>
        <p:nvSpPr>
          <p:cNvPr id="21" name="Text 18"/>
          <p:cNvSpPr txBox="1"/>
          <p:nvPr/>
        </p:nvSpPr>
        <p:spPr>
          <a:xfrm>
            <a:off x="749808" y="2852928"/>
            <a:ext cx="1993392" cy="411480"/>
          </a:xfrm>
          <a:prstGeom prst="roundRect">
            <a:avLst>
              <a:gd name="adj" fmla="val 22222"/>
            </a:avLst>
          </a:prstGeom>
          <a:solidFill>
            <a:schemeClr val="bg1"/>
          </a:solidFill>
          <a:ln w="19050">
            <a:solidFill>
              <a:schemeClr val="accent5"/>
            </a:solidFill>
          </a:ln>
        </p:spPr>
        <p:txBody>
          <a:bodyPr wrap="square" lIns="0" tIns="0" rIns="0" bIns="0" rtlCol="0" anchor="ctr"/>
          <a:lstStyle/>
          <a:p>
            <a:pPr algn="ctr" indent="0" marL="0">
              <a:buNone/>
            </a:pPr>
            <a:r>
              <a:rPr lang="ja-JP" altLang="en-US" sz="1600" b="1" dirty="0">
                <a:solidFill>
                  <a:schemeClr val="tx2"/>
                </a:solidFill>
              </a:rPr>
              <a:t>トヨタ</a:t>
            </a:r>
            <a:endParaRPr lang="ja-JP" sz="1600" dirty="0"/>
          </a:p>
        </p:txBody>
      </p:sp>
      <p:sp>
        <p:nvSpPr>
          <p:cNvPr id="22" name="Text 19"/>
          <p:cNvSpPr txBox="1"/>
          <p:nvPr/>
        </p:nvSpPr>
        <p:spPr>
          <a:xfrm>
            <a:off x="749808" y="3355848"/>
            <a:ext cx="1993392" cy="411480"/>
          </a:xfrm>
          <a:prstGeom prst="roundRect">
            <a:avLst>
              <a:gd name="adj" fmla="val 22222"/>
            </a:avLst>
          </a:prstGeom>
          <a:solidFill>
            <a:schemeClr val="bg1"/>
          </a:solidFill>
          <a:ln w="19050">
            <a:solidFill>
              <a:schemeClr val="accent5"/>
            </a:solidFill>
          </a:ln>
        </p:spPr>
        <p:txBody>
          <a:bodyPr wrap="square" lIns="0" tIns="0" rIns="0" bIns="0" rtlCol="0" anchor="ctr"/>
          <a:lstStyle/>
          <a:p>
            <a:pPr algn="ctr" indent="0" marL="0">
              <a:buNone/>
            </a:pPr>
            <a:r>
              <a:rPr lang="ja-JP" altLang="en-US" sz="1600" b="1" dirty="0">
                <a:solidFill>
                  <a:schemeClr val="tx2"/>
                </a:solidFill>
              </a:rPr>
              <a:t>ソニー</a:t>
            </a:r>
            <a:endParaRPr lang="ja-JP" sz="1600" dirty="0"/>
          </a:p>
        </p:txBody>
      </p:sp>
      <p:sp>
        <p:nvSpPr>
          <p:cNvPr id="23" name="Text 20"/>
          <p:cNvSpPr txBox="1"/>
          <p:nvPr/>
        </p:nvSpPr>
        <p:spPr>
          <a:xfrm>
            <a:off x="749808" y="3858768"/>
            <a:ext cx="1993392" cy="411480"/>
          </a:xfrm>
          <a:prstGeom prst="roundRect">
            <a:avLst>
              <a:gd name="adj" fmla="val 22222"/>
            </a:avLst>
          </a:prstGeom>
          <a:solidFill>
            <a:schemeClr val="bg1"/>
          </a:solidFill>
          <a:ln w="19050">
            <a:solidFill>
              <a:schemeClr val="accent5"/>
            </a:solidFill>
          </a:ln>
        </p:spPr>
        <p:txBody>
          <a:bodyPr wrap="square" lIns="0" tIns="0" rIns="0" bIns="0" rtlCol="0" anchor="ctr"/>
          <a:lstStyle/>
          <a:p>
            <a:pPr algn="ctr" indent="0" marL="0">
              <a:buNone/>
            </a:pPr>
            <a:r>
              <a:rPr lang="ja-JP" altLang="en-US" sz="1600" b="1" dirty="0">
                <a:solidFill>
                  <a:schemeClr val="tx2"/>
                </a:solidFill>
              </a:rPr>
              <a:t>三菱商事</a:t>
            </a:r>
            <a:endParaRPr lang="ja-JP" sz="1600" dirty="0"/>
          </a:p>
        </p:txBody>
      </p:sp>
      <p:sp>
        <p:nvSpPr>
          <p:cNvPr id="24" name="Text 21"/>
          <p:cNvSpPr txBox="1"/>
          <p:nvPr/>
        </p:nvSpPr>
        <p:spPr>
          <a:xfrm>
            <a:off x="749808" y="4361688"/>
            <a:ext cx="1993392" cy="411480"/>
          </a:xfrm>
          <a:prstGeom prst="roundRect">
            <a:avLst>
              <a:gd name="adj" fmla="val 22222"/>
            </a:avLst>
          </a:prstGeom>
          <a:solidFill>
            <a:schemeClr val="bg1"/>
          </a:solidFill>
          <a:ln w="19050">
            <a:solidFill>
              <a:schemeClr val="accent5"/>
            </a:solidFill>
          </a:ln>
        </p:spPr>
        <p:txBody>
          <a:bodyPr wrap="square" lIns="0" tIns="0" rIns="0" bIns="0" rtlCol="0" anchor="ctr"/>
          <a:lstStyle/>
          <a:p>
            <a:pPr algn="ctr" indent="0" marL="0">
              <a:buNone/>
            </a:pPr>
            <a:r>
              <a:rPr lang="ja-JP" altLang="en-US" sz="1600" b="1" dirty="0">
                <a:solidFill>
                  <a:schemeClr val="tx2"/>
                </a:solidFill>
              </a:rPr>
              <a:t>日本製鉄</a:t>
            </a:r>
            <a:endParaRPr lang="ja-JP" sz="1600" dirty="0"/>
          </a:p>
        </p:txBody>
      </p:sp>
      <p:sp>
        <p:nvSpPr>
          <p:cNvPr id="25" name="Text 22"/>
          <p:cNvSpPr txBox="1"/>
          <p:nvPr/>
        </p:nvSpPr>
        <p:spPr>
          <a:xfrm>
            <a:off x="749808" y="4864608"/>
            <a:ext cx="1993392" cy="411480"/>
          </a:xfrm>
          <a:prstGeom prst="roundRect">
            <a:avLst>
              <a:gd name="adj" fmla="val 22222"/>
            </a:avLst>
          </a:prstGeom>
          <a:solidFill>
            <a:schemeClr val="bg1"/>
          </a:solidFill>
          <a:ln w="19050">
            <a:solidFill>
              <a:schemeClr val="accent5"/>
            </a:solidFill>
          </a:ln>
        </p:spPr>
        <p:txBody>
          <a:bodyPr wrap="square" lIns="0" tIns="0" rIns="0" bIns="0" rtlCol="0" anchor="ctr"/>
          <a:lstStyle/>
          <a:p>
            <a:pPr algn="ctr" indent="0" marL="0">
              <a:buNone/>
            </a:pPr>
            <a:r>
              <a:rPr lang="ja-JP" altLang="en-US" sz="1600" b="1" dirty="0">
                <a:solidFill>
                  <a:schemeClr val="tx2"/>
                </a:solidFill>
              </a:rPr>
              <a:t>任天堂</a:t>
            </a:r>
            <a:endParaRPr lang="ja-JP" sz="1600" dirty="0"/>
          </a:p>
        </p:txBody>
      </p:sp>
      <p:sp>
        <p:nvSpPr>
          <p:cNvPr id="26" name="Text 23"/>
          <p:cNvSpPr txBox="1"/>
          <p:nvPr/>
        </p:nvSpPr>
        <p:spPr>
          <a:xfrm>
            <a:off x="3630168" y="2606040"/>
            <a:ext cx="2103120" cy="365760"/>
          </a:xfrm>
          <a:prstGeom prst="rect">
            <a:avLst/>
          </a:prstGeom>
          <a:noFill/>
          <a:ln/>
        </p:spPr>
        <p:txBody>
          <a:bodyPr wrap="square" lIns="0" tIns="0" rIns="0" bIns="0" rtlCol="0" anchor="t"/>
          <a:lstStyle/>
          <a:p>
            <a:pPr indent="0" marL="0">
              <a:buNone/>
            </a:pPr>
            <a:r>
              <a:rPr lang="ja-JP" altLang="en-US" sz="1600" b="1" dirty="0">
                <a:solidFill>
                  <a:schemeClr val="accent1"/>
                </a:solidFill>
              </a:rPr>
              <a:t>なぜ惹かれる？</a:t>
            </a:r>
            <a:endParaRPr lang="ja-JP" sz="1600" dirty="0"/>
          </a:p>
        </p:txBody>
      </p:sp>
      <p:pic>
        <p:nvPicPr>
          <p:cNvPr id="27" name="Image 0" descr="TbPencil">    </p:cNvPr>
          <p:cNvPicPr>
            <a:picLocks noChangeAspect="1"/>
          </p:cNvPicPr>
          <p:nvPr/>
        </p:nvPicPr>
        <p:blipFill>
          <a:blip r:embed="rId1"/>
          <a:stretch>
            <a:fillRect/>
          </a:stretch>
        </p:blipFill>
        <p:spPr>
          <a:xfrm>
            <a:off x="3630168" y="3063240"/>
            <a:ext cx="274320" cy="274320"/>
          </a:xfrm>
          <a:prstGeom prst="rect">
            <a:avLst/>
          </a:prstGeom>
        </p:spPr>
      </p:pic>
      <p:sp>
        <p:nvSpPr>
          <p:cNvPr id="28" name="Shape 24"/>
          <p:cNvSpPr/>
          <p:nvPr/>
        </p:nvSpPr>
        <p:spPr>
          <a:xfrm>
            <a:off x="3977640" y="3310128"/>
            <a:ext cx="1645920" cy="914"/>
          </a:xfrm>
          <a:prstGeom prst="line">
            <a:avLst/>
          </a:prstGeom>
          <a:noFill/>
          <a:ln w="12700">
            <a:solidFill>
              <a:schemeClr val="accent4"/>
            </a:solidFill>
            <a:prstDash val="dash"/>
          </a:ln>
        </p:spPr>
      </p:sp>
      <p:pic>
        <p:nvPicPr>
          <p:cNvPr id="29" name="Image 1" descr="TbPencil">    </p:cNvPr>
          <p:cNvPicPr>
            <a:picLocks noChangeAspect="1"/>
          </p:cNvPicPr>
          <p:nvPr/>
        </p:nvPicPr>
        <p:blipFill>
          <a:blip r:embed="rId2"/>
          <a:stretch>
            <a:fillRect/>
          </a:stretch>
        </p:blipFill>
        <p:spPr>
          <a:xfrm>
            <a:off x="3630168" y="3520440"/>
            <a:ext cx="274320" cy="274320"/>
          </a:xfrm>
          <a:prstGeom prst="rect">
            <a:avLst/>
          </a:prstGeom>
        </p:spPr>
      </p:pic>
      <p:sp>
        <p:nvSpPr>
          <p:cNvPr id="30" name="Shape 25"/>
          <p:cNvSpPr/>
          <p:nvPr/>
        </p:nvSpPr>
        <p:spPr>
          <a:xfrm>
            <a:off x="3977640" y="3767328"/>
            <a:ext cx="1645920" cy="914"/>
          </a:xfrm>
          <a:prstGeom prst="line">
            <a:avLst/>
          </a:prstGeom>
          <a:noFill/>
          <a:ln w="12700">
            <a:solidFill>
              <a:schemeClr val="accent4"/>
            </a:solidFill>
            <a:prstDash val="dash"/>
          </a:ln>
        </p:spPr>
      </p:sp>
      <p:pic>
        <p:nvPicPr>
          <p:cNvPr id="31" name="Image 2" descr="TbPencil">    </p:cNvPr>
          <p:cNvPicPr>
            <a:picLocks noChangeAspect="1"/>
          </p:cNvPicPr>
          <p:nvPr/>
        </p:nvPicPr>
        <p:blipFill>
          <a:blip r:embed="rId3"/>
          <a:stretch>
            <a:fillRect/>
          </a:stretch>
        </p:blipFill>
        <p:spPr>
          <a:xfrm>
            <a:off x="3630168" y="3977640"/>
            <a:ext cx="274320" cy="274320"/>
          </a:xfrm>
          <a:prstGeom prst="rect">
            <a:avLst/>
          </a:prstGeom>
        </p:spPr>
      </p:pic>
      <p:sp>
        <p:nvSpPr>
          <p:cNvPr id="32" name="Shape 26"/>
          <p:cNvSpPr/>
          <p:nvPr/>
        </p:nvSpPr>
        <p:spPr>
          <a:xfrm>
            <a:off x="3977640" y="4224528"/>
            <a:ext cx="1645920" cy="914"/>
          </a:xfrm>
          <a:prstGeom prst="line">
            <a:avLst/>
          </a:prstGeom>
          <a:noFill/>
          <a:ln w="12700">
            <a:solidFill>
              <a:schemeClr val="accent4"/>
            </a:solidFill>
            <a:prstDash val="dash"/>
          </a:ln>
        </p:spPr>
      </p:sp>
      <p:pic>
        <p:nvPicPr>
          <p:cNvPr id="33" name="Image 3" descr="TbPencil">    </p:cNvPr>
          <p:cNvPicPr>
            <a:picLocks noChangeAspect="1"/>
          </p:cNvPicPr>
          <p:nvPr/>
        </p:nvPicPr>
        <p:blipFill>
          <a:blip r:embed="rId4"/>
          <a:stretch>
            <a:fillRect/>
          </a:stretch>
        </p:blipFill>
        <p:spPr>
          <a:xfrm>
            <a:off x="3630168" y="4434840"/>
            <a:ext cx="274320" cy="274320"/>
          </a:xfrm>
          <a:prstGeom prst="rect">
            <a:avLst/>
          </a:prstGeom>
        </p:spPr>
      </p:pic>
      <p:sp>
        <p:nvSpPr>
          <p:cNvPr id="34" name="Shape 27"/>
          <p:cNvSpPr/>
          <p:nvPr/>
        </p:nvSpPr>
        <p:spPr>
          <a:xfrm>
            <a:off x="3977640" y="4681728"/>
            <a:ext cx="1645920" cy="914"/>
          </a:xfrm>
          <a:prstGeom prst="line">
            <a:avLst/>
          </a:prstGeom>
          <a:noFill/>
          <a:ln w="12700">
            <a:solidFill>
              <a:schemeClr val="accent4"/>
            </a:solidFill>
            <a:prstDash val="dash"/>
          </a:ln>
        </p:spPr>
      </p:sp>
      <p:pic>
        <p:nvPicPr>
          <p:cNvPr id="35" name="Image 4" descr="TbPencil">    </p:cNvPr>
          <p:cNvPicPr>
            <a:picLocks noChangeAspect="1"/>
          </p:cNvPicPr>
          <p:nvPr/>
        </p:nvPicPr>
        <p:blipFill>
          <a:blip r:embed="rId5"/>
          <a:stretch>
            <a:fillRect/>
          </a:stretch>
        </p:blipFill>
        <p:spPr>
          <a:xfrm>
            <a:off x="3630168" y="4892040"/>
            <a:ext cx="274320" cy="274320"/>
          </a:xfrm>
          <a:prstGeom prst="rect">
            <a:avLst/>
          </a:prstGeom>
        </p:spPr>
      </p:pic>
      <p:sp>
        <p:nvSpPr>
          <p:cNvPr id="36" name="Shape 28"/>
          <p:cNvSpPr/>
          <p:nvPr/>
        </p:nvSpPr>
        <p:spPr>
          <a:xfrm>
            <a:off x="3977640" y="5138928"/>
            <a:ext cx="1645920" cy="914"/>
          </a:xfrm>
          <a:prstGeom prst="line">
            <a:avLst/>
          </a:prstGeom>
          <a:noFill/>
          <a:ln w="12700">
            <a:solidFill>
              <a:schemeClr val="accent4"/>
            </a:solidFill>
            <a:prstDash val="dash"/>
          </a:ln>
        </p:spPr>
      </p:sp>
      <p:sp>
        <p:nvSpPr>
          <p:cNvPr id="37" name="Text 29"/>
          <p:cNvSpPr txBox="1"/>
          <p:nvPr/>
        </p:nvSpPr>
        <p:spPr>
          <a:xfrm>
            <a:off x="6528816" y="2606040"/>
            <a:ext cx="2103120" cy="365760"/>
          </a:xfrm>
          <a:prstGeom prst="rect">
            <a:avLst/>
          </a:prstGeom>
          <a:noFill/>
          <a:ln/>
        </p:spPr>
        <p:txBody>
          <a:bodyPr wrap="square" lIns="0" tIns="0" rIns="0" bIns="0" rtlCol="0" anchor="t"/>
          <a:lstStyle/>
          <a:p>
            <a:pPr indent="0" marL="0">
              <a:buNone/>
            </a:pPr>
            <a:r>
              <a:rPr lang="ja-JP" altLang="en-US" sz="1600" b="1" dirty="0">
                <a:solidFill>
                  <a:schemeClr val="accent1"/>
                </a:solidFill>
              </a:rPr>
              <a:t>興味の軸</a:t>
            </a:r>
            <a:endParaRPr lang="ja-JP" sz="1600" dirty="0"/>
          </a:p>
        </p:txBody>
      </p:sp>
      <p:sp>
        <p:nvSpPr>
          <p:cNvPr id="38" name="Text 30"/>
          <p:cNvSpPr txBox="1"/>
          <p:nvPr/>
        </p:nvSpPr>
        <p:spPr>
          <a:xfrm>
            <a:off x="6547104" y="3063240"/>
            <a:ext cx="1993392" cy="438912"/>
          </a:xfrm>
          <a:prstGeom prst="roundRect">
            <a:avLst>
              <a:gd name="adj" fmla="val 50000"/>
            </a:avLst>
          </a:prstGeom>
          <a:solidFill>
            <a:schemeClr val="accent1"/>
          </a:solidFill>
          <a:ln/>
        </p:spPr>
        <p:txBody>
          <a:bodyPr wrap="square" lIns="0" tIns="0" rIns="0" bIns="0" rtlCol="0" anchor="ctr"/>
          <a:lstStyle/>
          <a:p>
            <a:pPr algn="ctr" indent="0" marL="0">
              <a:buNone/>
            </a:pPr>
            <a:r>
              <a:rPr lang="ja-JP" altLang="en-US" sz="1600" b="1" dirty="0">
                <a:solidFill>
                  <a:schemeClr val="bg1"/>
                </a:solidFill>
              </a:rPr>
              <a:t>世界規模</a:t>
            </a:r>
            <a:endParaRPr lang="ja-JP" sz="1600" dirty="0"/>
          </a:p>
        </p:txBody>
      </p:sp>
      <p:sp>
        <p:nvSpPr>
          <p:cNvPr id="39" name="Text 31"/>
          <p:cNvSpPr txBox="1"/>
          <p:nvPr/>
        </p:nvSpPr>
        <p:spPr>
          <a:xfrm>
            <a:off x="6547104" y="3611880"/>
            <a:ext cx="1993392" cy="438912"/>
          </a:xfrm>
          <a:prstGeom prst="roundRect">
            <a:avLst>
              <a:gd name="adj" fmla="val 50000"/>
            </a:avLst>
          </a:prstGeom>
          <a:solidFill>
            <a:schemeClr val="accent1"/>
          </a:solidFill>
          <a:ln/>
        </p:spPr>
        <p:txBody>
          <a:bodyPr wrap="square" lIns="0" tIns="0" rIns="0" bIns="0" rtlCol="0" anchor="ctr"/>
          <a:lstStyle/>
          <a:p>
            <a:pPr algn="ctr" indent="0" marL="0">
              <a:buNone/>
            </a:pPr>
            <a:r>
              <a:rPr lang="ja-JP" altLang="en-US" sz="1600" b="1" dirty="0">
                <a:solidFill>
                  <a:schemeClr val="bg1"/>
                </a:solidFill>
              </a:rPr>
              <a:t>技術</a:t>
            </a:r>
            <a:endParaRPr lang="ja-JP" sz="1600" dirty="0"/>
          </a:p>
        </p:txBody>
      </p:sp>
      <p:sp>
        <p:nvSpPr>
          <p:cNvPr id="40" name="Text 32"/>
          <p:cNvSpPr txBox="1"/>
          <p:nvPr/>
        </p:nvSpPr>
        <p:spPr>
          <a:xfrm>
            <a:off x="6547104" y="4160520"/>
            <a:ext cx="1993392" cy="438912"/>
          </a:xfrm>
          <a:prstGeom prst="roundRect">
            <a:avLst>
              <a:gd name="adj" fmla="val 50000"/>
            </a:avLst>
          </a:prstGeom>
          <a:solidFill>
            <a:schemeClr val="accent1"/>
          </a:solidFill>
          <a:ln/>
        </p:spPr>
        <p:txBody>
          <a:bodyPr wrap="square" lIns="0" tIns="0" rIns="0" bIns="0" rtlCol="0" anchor="ctr"/>
          <a:lstStyle/>
          <a:p>
            <a:pPr algn="ctr" indent="0" marL="0">
              <a:buNone/>
            </a:pPr>
            <a:r>
              <a:rPr lang="ja-JP" altLang="en-US" sz="1600" b="1" dirty="0">
                <a:solidFill>
                  <a:schemeClr val="bg1"/>
                </a:solidFill>
              </a:rPr>
              <a:t>社会への影響</a:t>
            </a:r>
            <a:endParaRPr lang="ja-JP" sz="1600" dirty="0"/>
          </a:p>
        </p:txBody>
      </p:sp>
      <p:sp>
        <p:nvSpPr>
          <p:cNvPr id="41" name="Text 33"/>
          <p:cNvSpPr txBox="1"/>
          <p:nvPr/>
        </p:nvSpPr>
        <p:spPr>
          <a:xfrm>
            <a:off x="6547104" y="4709160"/>
            <a:ext cx="1993392" cy="438912"/>
          </a:xfrm>
          <a:prstGeom prst="roundRect">
            <a:avLst>
              <a:gd name="adj" fmla="val 50000"/>
            </a:avLst>
          </a:prstGeom>
          <a:solidFill>
            <a:schemeClr val="bg2"/>
          </a:solidFill>
          <a:ln/>
        </p:spPr>
        <p:txBody>
          <a:bodyPr wrap="square" lIns="0" tIns="0" rIns="0" bIns="0" rtlCol="0" anchor="ctr"/>
          <a:lstStyle/>
          <a:p>
            <a:pPr algn="ctr" indent="0" marL="0">
              <a:buNone/>
            </a:pPr>
            <a:r>
              <a:rPr lang="ja-JP" altLang="en-US" sz="1600" b="1" dirty="0">
                <a:solidFill>
                  <a:schemeClr val="accent4"/>
                </a:solidFill>
              </a:rPr>
              <a:t>…</a:t>
            </a:r>
            <a:endParaRPr lang="ja-JP" sz="1600" dirty="0"/>
          </a:p>
        </p:txBody>
      </p:sp>
      <p:pic>
        <p:nvPicPr>
          <p:cNvPr id="42" name="Image 5" descr="TbTelescope">    </p:cNvPr>
          <p:cNvPicPr>
            <a:picLocks noChangeAspect="1"/>
          </p:cNvPicPr>
          <p:nvPr/>
        </p:nvPicPr>
        <p:blipFill>
          <a:blip r:embed="rId6"/>
          <a:stretch>
            <a:fillRect/>
          </a:stretch>
        </p:blipFill>
        <p:spPr>
          <a:xfrm>
            <a:off x="9893808" y="2743200"/>
            <a:ext cx="1097280" cy="1097280"/>
          </a:xfrm>
          <a:prstGeom prst="rect">
            <a:avLst/>
          </a:prstGeom>
        </p:spPr>
      </p:pic>
      <p:sp>
        <p:nvSpPr>
          <p:cNvPr id="43" name="Text 34"/>
          <p:cNvSpPr txBox="1"/>
          <p:nvPr/>
        </p:nvSpPr>
        <p:spPr>
          <a:xfrm>
            <a:off x="9244584" y="3977640"/>
            <a:ext cx="2395728" cy="457200"/>
          </a:xfrm>
          <a:prstGeom prst="rect">
            <a:avLst/>
          </a:prstGeom>
          <a:noFill/>
          <a:ln/>
        </p:spPr>
        <p:txBody>
          <a:bodyPr wrap="square" lIns="0" tIns="0" rIns="0" bIns="0" rtlCol="0" anchor="t"/>
          <a:lstStyle/>
          <a:p>
            <a:pPr algn="ctr" indent="0" marL="0">
              <a:buNone/>
            </a:pPr>
            <a:r>
              <a:rPr lang="ja-JP" altLang="en-US" sz="2000" b="1" dirty="0">
                <a:solidFill>
                  <a:schemeClr val="tx2"/>
                </a:solidFill>
              </a:rPr>
              <a:t>新しい業界へ</a:t>
            </a:r>
            <a:endParaRPr lang="ja-JP" sz="2000" dirty="0"/>
          </a:p>
        </p:txBody>
      </p:sp>
      <p:sp>
        <p:nvSpPr>
          <p:cNvPr id="44" name="Text 35"/>
          <p:cNvSpPr txBox="1"/>
          <p:nvPr/>
        </p:nvSpPr>
        <p:spPr>
          <a:xfrm>
            <a:off x="9418320" y="4480560"/>
            <a:ext cx="2057400" cy="777240"/>
          </a:xfrm>
          <a:prstGeom prst="rect">
            <a:avLst/>
          </a:prstGeom>
          <a:noFill/>
          <a:ln/>
        </p:spPr>
        <p:txBody>
          <a:bodyPr wrap="square" lIns="0" tIns="0" rIns="0" bIns="0" rtlCol="0" anchor="t"/>
          <a:lstStyle/>
          <a:p>
            <a:pPr algn="ctr" indent="0" marL="0">
              <a:buNone/>
            </a:pPr>
            <a:r>
              <a:rPr lang="ja-JP" altLang="en-US" sz="1500" dirty="0">
                <a:solidFill>
                  <a:schemeClr val="tx2"/>
                </a:solidFill>
              </a:rPr>
              <a:t>知らなかった業界の</a:t>
            </a:r>
            <a:endParaRPr lang="ja-JP" sz="1500" dirty="0"/>
          </a:p>
          <a:p>
            <a:pPr algn="ctr" indent="0" marL="0">
              <a:buNone/>
            </a:pPr>
            <a:r>
              <a:rPr lang="ja-JP" altLang="en-US" sz="1500" dirty="0">
                <a:solidFill>
                  <a:schemeClr val="tx2"/>
                </a:solidFill>
              </a:rPr>
              <a:t>会社も選択肢に入る</a:t>
            </a:r>
            <a:endParaRPr lang="ja-JP" sz="1500" dirty="0"/>
          </a:p>
        </p:txBody>
      </p:sp>
      <p:sp>
        <p:nvSpPr>
          <p:cNvPr id="45" name="Text 36"/>
          <p:cNvSpPr txBox="1"/>
          <p:nvPr/>
        </p:nvSpPr>
        <p:spPr>
          <a:xfrm>
            <a:off x="548640" y="5577840"/>
            <a:ext cx="11091672" cy="411480"/>
          </a:xfrm>
          <a:prstGeom prst="rect">
            <a:avLst/>
          </a:prstGeom>
          <a:noFill/>
          <a:ln/>
        </p:spPr>
        <p:txBody>
          <a:bodyPr wrap="square" lIns="0" tIns="0" rIns="0" bIns="0" rtlCol="0" anchor="ctr"/>
          <a:lstStyle/>
          <a:p>
            <a:pPr indent="0" marL="0">
              <a:buNone/>
            </a:pPr>
            <a:r>
              <a:rPr lang="ja-JP" altLang="en-US" sz="1800" b="1" dirty="0">
                <a:solidFill>
                  <a:schemeClr val="accent1"/>
                </a:solidFill>
              </a:rPr>
              <a:t>今日はワークを行いません。別の日に、自分の企業研究で使ってみよう。</a:t>
            </a:r>
            <a:endParaRPr lang="ja-JP" sz="1800" dirty="0"/>
          </a:p>
        </p:txBody>
      </p:sp>
      <p:sp>
        <p:nvSpPr>
          <p:cNvPr id="25" name="Slide Number Placeholder 0"/>
          <p:cNvSpPr>
            <a:spLocks noGrp="1"/>
          </p:cNvSpPr>
          <p:nvPr>
            <p:ph type="sldNum" sz="quarter" idx="4294967295"/>
          </p:nvPr>
        </p:nvSpPr>
        <p:spPr>
          <a:xfrm>
            <a:off x="11091672"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6E7F8F"/>
                </a:solidFill>
                <a:latin typeface="Noto Sans CJK JP"/>
                <a:ea typeface="Noto Sans CJK JP"/>
                <a:cs typeface="Noto Sans CJK JP"/>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852160" cy="292608"/>
          </a:xfrm>
          <a:prstGeom prst="rect">
            <a:avLst/>
          </a:prstGeom>
          <a:noFill/>
          <a:ln/>
        </p:spPr>
        <p:txBody>
          <a:bodyPr wrap="square" lIns="0" tIns="0" rIns="0" bIns="0" rtlCol="0" anchor="ctr"/>
          <a:lstStyle/>
          <a:p>
            <a:pPr indent="0" marL="0">
              <a:buNone/>
            </a:pPr>
            <a:r>
              <a:rPr lang="en-US" sz="1400" b="1" dirty="0">
                <a:solidFill>
                  <a:schemeClr val="accent2"/>
                </a:solidFill>
              </a:rPr>
              <a:t>CHAPTER 07｜業界研究の活かし方・まとめ</a:t>
            </a:r>
            <a:endParaRPr lang="en-US" sz="1400" dirty="0"/>
          </a:p>
        </p:txBody>
      </p:sp>
      <p:sp>
        <p:nvSpPr>
          <p:cNvPr id="4" name="Text 0"/>
          <p:cNvSpPr/>
          <p:nvPr>
            <p:ph idx="101" type="title" hasCustomPrompt="1"/>
          </p:nvPr>
        </p:nvSpPr>
        <p:spPr>
          <a:xfrm>
            <a:off x="548640" y="1874520"/>
            <a:ext cx="6035040" cy="1737360"/>
          </a:xfrm>
          <a:prstGeom prst="rect">
            <a:avLst/>
          </a:prstGeom>
          <a:noFill/>
          <a:ln/>
        </p:spPr>
        <p:txBody>
          <a:bodyPr wrap="square" lIns="0" tIns="0" rIns="0" bIns="0" rtlCol="0" anchor="t"/>
          <a:lstStyle/>
          <a:p>
            <a:pPr algn="l" indent="0" marL="0">
              <a:buNone/>
            </a:pPr>
            <a:r>
              <a:rPr lang="en-US" sz="4600" b="1" dirty="0">
                <a:solidFill>
                  <a:schemeClr val="bg1"/>
                </a:solidFill>
              </a:rPr>
              <a:t>調べるから、</a:t>
            </a:r>
            <a:endParaRPr lang="en-US" sz="4600" dirty="0"/>
          </a:p>
          <a:p>
            <a:pPr algn="l" indent="0" marL="0">
              <a:buNone/>
            </a:pPr>
            <a:r>
              <a:rPr lang="en-US" sz="4600" b="1" dirty="0">
                <a:solidFill>
                  <a:schemeClr val="bg1"/>
                </a:solidFill>
              </a:rPr>
              <a:t>興味が生まれる。</a:t>
            </a:r>
            <a:endParaRPr lang="en-US" sz="4600" dirty="0"/>
          </a:p>
        </p:txBody>
      </p:sp>
      <p:pic>
        <p:nvPicPr>
          <p:cNvPr id="5" name="Image 0" descr="イメージ図（一般的なイラスト。実在企業の設備ではありません）">    </p:cNvPr>
          <p:cNvPicPr>
            <a:picLocks noChangeAspect="1"/>
          </p:cNvPicPr>
          <p:nvPr/>
        </p:nvPicPr>
        <p:blipFill>
          <a:blip r:embed="rId1"/>
          <a:stretch>
            <a:fillRect/>
          </a:stretch>
        </p:blipFill>
        <p:spPr>
          <a:xfrm>
            <a:off x="6949440" y="0"/>
            <a:ext cx="5239512" cy="6858000"/>
          </a:xfrm>
          <a:prstGeom prst="rect">
            <a:avLst/>
          </a:prstGeom>
        </p:spPr>
      </p:pic>
      <p:sp>
        <p:nvSpPr>
          <p:cNvPr id="6" name="Text 2"/>
          <p:cNvSpPr txBox="1"/>
          <p:nvPr/>
        </p:nvSpPr>
        <p:spPr>
          <a:xfrm>
            <a:off x="548640" y="822960"/>
            <a:ext cx="2743200" cy="411480"/>
          </a:xfrm>
          <a:prstGeom prst="rect">
            <a:avLst/>
          </a:prstGeom>
          <a:noFill/>
          <a:ln/>
        </p:spPr>
        <p:txBody>
          <a:bodyPr wrap="square" lIns="0" tIns="0" rIns="0" bIns="0" rtlCol="0" anchor="t"/>
          <a:lstStyle/>
          <a:p>
            <a:pPr indent="0" marL="0">
              <a:buNone/>
            </a:pPr>
            <a:r>
              <a:rPr lang="ja-JP" altLang="en-US" sz="2000" b="1" dirty="0">
                <a:solidFill>
                  <a:schemeClr val="accent3"/>
                </a:solidFill>
              </a:rPr>
              <a:t>まとめ</a:t>
            </a:r>
            <a:endParaRPr lang="ja-JP" sz="2000" dirty="0"/>
          </a:p>
        </p:txBody>
      </p:sp>
      <p:sp>
        <p:nvSpPr>
          <p:cNvPr id="7" name="Text 3"/>
          <p:cNvSpPr txBox="1"/>
          <p:nvPr/>
        </p:nvSpPr>
        <p:spPr>
          <a:xfrm>
            <a:off x="548640" y="1325880"/>
            <a:ext cx="6035040" cy="457200"/>
          </a:xfrm>
          <a:prstGeom prst="rect">
            <a:avLst/>
          </a:prstGeom>
          <a:noFill/>
          <a:ln/>
        </p:spPr>
        <p:txBody>
          <a:bodyPr wrap="square" lIns="0" tIns="0" rIns="0" bIns="0" rtlCol="0" anchor="t"/>
          <a:lstStyle/>
          <a:p>
            <a:pPr indent="0" marL="0">
              <a:buNone/>
            </a:pPr>
            <a:r>
              <a:rPr lang="ja-JP" altLang="en-US" sz="2400" dirty="0">
                <a:solidFill>
                  <a:schemeClr val="bg1"/>
                </a:solidFill>
              </a:rPr>
              <a:t>興味があるから調べるだけじゃない。</a:t>
            </a:r>
            <a:endParaRPr lang="ja-JP" sz="2400" dirty="0"/>
          </a:p>
        </p:txBody>
      </p:sp>
      <p:sp>
        <p:nvSpPr>
          <p:cNvPr id="8" name="Text 4"/>
          <p:cNvSpPr txBox="1"/>
          <p:nvPr/>
        </p:nvSpPr>
        <p:spPr>
          <a:xfrm>
            <a:off x="548640" y="3886200"/>
            <a:ext cx="420624" cy="420624"/>
          </a:xfrm>
          <a:prstGeom prst="ellipse">
            <a:avLst/>
          </a:prstGeom>
          <a:solidFill>
            <a:schemeClr val="accent2"/>
          </a:solidFill>
          <a:ln/>
        </p:spPr>
        <p:txBody>
          <a:bodyPr wrap="square" lIns="0" tIns="0" rIns="0" bIns="0" rtlCol="0" anchor="ctr"/>
          <a:lstStyle/>
          <a:p>
            <a:pPr algn="ctr" indent="0" marL="0">
              <a:buNone/>
            </a:pPr>
            <a:r>
              <a:rPr lang="ja-JP" altLang="en-US" sz="1600" b="1" dirty="0">
                <a:solidFill>
                  <a:schemeClr val="tx2"/>
                </a:solidFill>
              </a:rPr>
              <a:t>1</a:t>
            </a:r>
            <a:endParaRPr lang="ja-JP" sz="1600" dirty="0"/>
          </a:p>
        </p:txBody>
      </p:sp>
      <p:sp>
        <p:nvSpPr>
          <p:cNvPr id="9" name="Text 5"/>
          <p:cNvSpPr txBox="1"/>
          <p:nvPr/>
        </p:nvSpPr>
        <p:spPr>
          <a:xfrm>
            <a:off x="1097280" y="3886200"/>
            <a:ext cx="5029200" cy="420624"/>
          </a:xfrm>
          <a:prstGeom prst="rect">
            <a:avLst/>
          </a:prstGeom>
          <a:noFill/>
          <a:ln/>
        </p:spPr>
        <p:txBody>
          <a:bodyPr wrap="square" lIns="0" tIns="0" rIns="0" bIns="0" rtlCol="0" anchor="ctr"/>
          <a:lstStyle/>
          <a:p>
            <a:pPr indent="0" marL="0">
              <a:buNone/>
            </a:pPr>
            <a:r>
              <a:rPr lang="ja-JP" altLang="en-US" sz="2000" b="1" dirty="0">
                <a:solidFill>
                  <a:schemeClr val="bg1"/>
                </a:solidFill>
              </a:rPr>
              <a:t>業界の全体像を知る</a:t>
            </a:r>
            <a:endParaRPr lang="ja-JP" sz="2000" dirty="0"/>
          </a:p>
        </p:txBody>
      </p:sp>
      <p:sp>
        <p:nvSpPr>
          <p:cNvPr id="10" name="Text 6"/>
          <p:cNvSpPr txBox="1"/>
          <p:nvPr/>
        </p:nvSpPr>
        <p:spPr>
          <a:xfrm>
            <a:off x="548640" y="4279392"/>
            <a:ext cx="420624" cy="182880"/>
          </a:xfrm>
          <a:prstGeom prst="rect">
            <a:avLst/>
          </a:prstGeom>
          <a:noFill/>
          <a:ln/>
        </p:spPr>
        <p:txBody>
          <a:bodyPr wrap="square" lIns="0" tIns="0" rIns="0" bIns="0" rtlCol="0" anchor="ctr"/>
          <a:lstStyle/>
          <a:p>
            <a:pPr algn="ctr" indent="0" marL="0">
              <a:buNone/>
            </a:pPr>
            <a:r>
              <a:rPr lang="ja-JP" altLang="en-US" sz="1000" dirty="0">
                <a:solidFill>
                  <a:schemeClr val="accent2"/>
                </a:solidFill>
              </a:rPr>
              <a:t>↓</a:t>
            </a:r>
            <a:endParaRPr lang="ja-JP" sz="1000" dirty="0"/>
          </a:p>
        </p:txBody>
      </p:sp>
      <p:sp>
        <p:nvSpPr>
          <p:cNvPr id="11" name="Text 7"/>
          <p:cNvSpPr txBox="1"/>
          <p:nvPr/>
        </p:nvSpPr>
        <p:spPr>
          <a:xfrm>
            <a:off x="548640" y="4434840"/>
            <a:ext cx="420624" cy="420624"/>
          </a:xfrm>
          <a:prstGeom prst="ellipse">
            <a:avLst/>
          </a:prstGeom>
          <a:solidFill>
            <a:schemeClr val="accent2"/>
          </a:solidFill>
          <a:ln/>
        </p:spPr>
        <p:txBody>
          <a:bodyPr wrap="square" lIns="0" tIns="0" rIns="0" bIns="0" rtlCol="0" anchor="ctr"/>
          <a:lstStyle/>
          <a:p>
            <a:pPr algn="ctr" indent="0" marL="0">
              <a:buNone/>
            </a:pPr>
            <a:r>
              <a:rPr lang="ja-JP" altLang="en-US" sz="1600" b="1" dirty="0">
                <a:solidFill>
                  <a:schemeClr val="tx2"/>
                </a:solidFill>
              </a:rPr>
              <a:t>2</a:t>
            </a:r>
            <a:endParaRPr lang="ja-JP" sz="1600" dirty="0"/>
          </a:p>
        </p:txBody>
      </p:sp>
      <p:sp>
        <p:nvSpPr>
          <p:cNvPr id="12" name="Text 8"/>
          <p:cNvSpPr txBox="1"/>
          <p:nvPr/>
        </p:nvSpPr>
        <p:spPr>
          <a:xfrm>
            <a:off x="1097280" y="4434840"/>
            <a:ext cx="5029200" cy="420624"/>
          </a:xfrm>
          <a:prstGeom prst="rect">
            <a:avLst/>
          </a:prstGeom>
          <a:noFill/>
          <a:ln/>
        </p:spPr>
        <p:txBody>
          <a:bodyPr wrap="square" lIns="0" tIns="0" rIns="0" bIns="0" rtlCol="0" anchor="ctr"/>
          <a:lstStyle/>
          <a:p>
            <a:pPr indent="0" marL="0">
              <a:buNone/>
            </a:pPr>
            <a:r>
              <a:rPr lang="ja-JP" altLang="en-US" sz="2000" b="1" dirty="0">
                <a:solidFill>
                  <a:schemeClr val="bg1"/>
                </a:solidFill>
              </a:rPr>
              <a:t>企業を比較する</a:t>
            </a:r>
            <a:endParaRPr lang="ja-JP" sz="2000" dirty="0"/>
          </a:p>
        </p:txBody>
      </p:sp>
      <p:sp>
        <p:nvSpPr>
          <p:cNvPr id="13" name="Text 9"/>
          <p:cNvSpPr txBox="1"/>
          <p:nvPr/>
        </p:nvSpPr>
        <p:spPr>
          <a:xfrm>
            <a:off x="548640" y="4828032"/>
            <a:ext cx="420624" cy="182880"/>
          </a:xfrm>
          <a:prstGeom prst="rect">
            <a:avLst/>
          </a:prstGeom>
          <a:noFill/>
          <a:ln/>
        </p:spPr>
        <p:txBody>
          <a:bodyPr wrap="square" lIns="0" tIns="0" rIns="0" bIns="0" rtlCol="0" anchor="ctr"/>
          <a:lstStyle/>
          <a:p>
            <a:pPr algn="ctr" indent="0" marL="0">
              <a:buNone/>
            </a:pPr>
            <a:r>
              <a:rPr lang="ja-JP" altLang="en-US" sz="1000" dirty="0">
                <a:solidFill>
                  <a:schemeClr val="accent2"/>
                </a:solidFill>
              </a:rPr>
              <a:t>↓</a:t>
            </a:r>
            <a:endParaRPr lang="ja-JP" sz="1000" dirty="0"/>
          </a:p>
        </p:txBody>
      </p:sp>
      <p:sp>
        <p:nvSpPr>
          <p:cNvPr id="14" name="Text 10"/>
          <p:cNvSpPr txBox="1"/>
          <p:nvPr/>
        </p:nvSpPr>
        <p:spPr>
          <a:xfrm>
            <a:off x="548640" y="4983480"/>
            <a:ext cx="420624" cy="420624"/>
          </a:xfrm>
          <a:prstGeom prst="ellipse">
            <a:avLst/>
          </a:prstGeom>
          <a:solidFill>
            <a:schemeClr val="accent2"/>
          </a:solidFill>
          <a:ln/>
        </p:spPr>
        <p:txBody>
          <a:bodyPr wrap="square" lIns="0" tIns="0" rIns="0" bIns="0" rtlCol="0" anchor="ctr"/>
          <a:lstStyle/>
          <a:p>
            <a:pPr algn="ctr" indent="0" marL="0">
              <a:buNone/>
            </a:pPr>
            <a:r>
              <a:rPr lang="ja-JP" altLang="en-US" sz="1600" b="1" dirty="0">
                <a:solidFill>
                  <a:schemeClr val="tx2"/>
                </a:solidFill>
              </a:rPr>
              <a:t>3</a:t>
            </a:r>
            <a:endParaRPr lang="ja-JP" sz="1600" dirty="0"/>
          </a:p>
        </p:txBody>
      </p:sp>
      <p:sp>
        <p:nvSpPr>
          <p:cNvPr id="15" name="Text 11"/>
          <p:cNvSpPr txBox="1"/>
          <p:nvPr/>
        </p:nvSpPr>
        <p:spPr>
          <a:xfrm>
            <a:off x="1097280" y="4983480"/>
            <a:ext cx="5029200" cy="420624"/>
          </a:xfrm>
          <a:prstGeom prst="rect">
            <a:avLst/>
          </a:prstGeom>
          <a:noFill/>
          <a:ln/>
        </p:spPr>
        <p:txBody>
          <a:bodyPr wrap="square" lIns="0" tIns="0" rIns="0" bIns="0" rtlCol="0" anchor="ctr"/>
          <a:lstStyle/>
          <a:p>
            <a:pPr indent="0" marL="0">
              <a:buNone/>
            </a:pPr>
            <a:r>
              <a:rPr lang="ja-JP" altLang="en-US" sz="2000" b="1" dirty="0">
                <a:solidFill>
                  <a:schemeClr val="bg1"/>
                </a:solidFill>
              </a:rPr>
              <a:t>ニュースで未来を考える</a:t>
            </a:r>
            <a:endParaRPr lang="ja-JP" sz="2000" dirty="0"/>
          </a:p>
        </p:txBody>
      </p:sp>
      <p:sp>
        <p:nvSpPr>
          <p:cNvPr id="16" name="Text 12"/>
          <p:cNvSpPr txBox="1"/>
          <p:nvPr/>
        </p:nvSpPr>
        <p:spPr>
          <a:xfrm>
            <a:off x="548640" y="5623560"/>
            <a:ext cx="6217920" cy="502920"/>
          </a:xfrm>
          <a:prstGeom prst="rect">
            <a:avLst/>
          </a:prstGeom>
          <a:noFill/>
          <a:ln/>
        </p:spPr>
        <p:txBody>
          <a:bodyPr wrap="square" lIns="0" tIns="0" rIns="0" bIns="0" rtlCol="0" anchor="ctr"/>
          <a:lstStyle/>
          <a:p>
            <a:pPr indent="0" marL="0">
              <a:buNone/>
            </a:pPr>
            <a:r>
              <a:rPr lang="ja-JP" altLang="en-US" sz="2600" b="1" dirty="0">
                <a:solidFill>
                  <a:schemeClr val="accent2"/>
                </a:solidFill>
              </a:rPr>
              <a:t>次は、まだ知らない業界へ。</a:t>
            </a:r>
            <a:endParaRPr lang="ja-JP" sz="2600" dirty="0"/>
          </a:p>
        </p:txBody>
      </p:sp>
      <p:sp>
        <p:nvSpPr>
          <p:cNvPr id="25" name="Slide Number Placeholder 0"/>
          <p:cNvSpPr>
            <a:spLocks noGrp="1"/>
          </p:cNvSpPr>
          <p:nvPr>
            <p:ph type="sldNum" sz="quarter" idx="4294967295"/>
          </p:nvPr>
        </p:nvSpPr>
        <p:spPr>
          <a:xfrm>
            <a:off x="6035040" y="6382512"/>
            <a:ext cx="54864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A9C4CF"/>
                </a:solidFill>
                <a:latin typeface="Noto Sans CJK JP"/>
                <a:ea typeface="Noto Sans CJK JP"/>
                <a:cs typeface="Noto Sans CJK JP"/>
              </a:defRPr>
            </a:lvl1pPr>
          </a:lstStyle>
          <a:p>
            <a:pPr algn="r"/>
            <a:fld id="{F7021451-1387-4CA6-816F-3879F97B5CBC}" type="slidenum">
              <a:rPr b="0" lang="en-US"/>
              <a:t>41</a:t>
            </a:fld>
            <a:endParaRPr lang="en-US"/>
          </a:p>
        </p:txBody>
      </p:sp>
    </p:spTree>
  </p:cSld>
  <p:clrMapOvr>
    <a:masterClrMapping/>
  </p:clrMapOvr>
</p:sld>
</file>

<file path=ppt/theme/theme1.xml><?xml version="1.0" encoding="utf-8"?>
<a:theme xmlns:a="http://schemas.openxmlformats.org/drawingml/2006/main" name="MIRAKIN Metal">
  <a:themeElements>
    <a:clrScheme name="MIRAKIN Metal">
      <a:dk1>
        <a:srgbClr val="26384A"/>
      </a:dk1>
      <a:lt1>
        <a:srgbClr val="FFFFFF"/>
      </a:lt1>
      <a:dk2>
        <a:srgbClr val="12243A"/>
      </a:dk2>
      <a:lt2>
        <a:srgbClr val="EDF5F7"/>
      </a:lt2>
      <a:accent1>
        <a:srgbClr val="067F82"/>
      </a:accent1>
      <a:accent2>
        <a:srgbClr val="20A8BC"/>
      </a:accent2>
      <a:accent3>
        <a:srgbClr val="EEA348"/>
      </a:accent3>
      <a:accent4>
        <a:srgbClr val="5B6B7C"/>
      </a:accent4>
      <a:accent5>
        <a:srgbClr val="C9DDE2"/>
      </a:accent5>
      <a:accent6>
        <a:srgbClr val="C8483D"/>
      </a:accent6>
      <a:hlink>
        <a:srgbClr val="067F82"/>
      </a:hlink>
      <a:folHlink>
        <a:srgbClr val="1C3A57"/>
      </a:folHlink>
    </a:clrScheme>
    <a:fontScheme name="MIRAKIN Metal">
      <a:majorFont>
        <a:latin typeface="Noto Sans CJK JP"/>
        <a:ea typeface="Noto Sans CJK JP"/>
        <a:cs typeface=""/>
        <a:font script="Jpan" typeface="Noto Sans CJK JP"/>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Noto Sans CJK JP"/>
        <a:cs typeface=""/>
        <a:font script="Jpan" typeface="Noto Sans CJK JP"/>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第1回 ミラキン業界研究会「金属業界」</dc:title>
  <dc:subject>PptxGenJS Presentation</dc:subject>
  <dc:creator>ミラキン業界研究会</dc:creator>
  <cp:lastModifiedBy>ミラキン業界研究会</cp:lastModifiedBy>
  <cp:revision>1</cp:revision>
  <dcterms:created xsi:type="dcterms:W3CDTF">2026-10-22T09:02:23Z</dcterms:created>
  <dcterms:modified xsi:type="dcterms:W3CDTF">2026-10-22T09:02:23Z</dcterms:modified>
</cp:coreProperties>
</file>